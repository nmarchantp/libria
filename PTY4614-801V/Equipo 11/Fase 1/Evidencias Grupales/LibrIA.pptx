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mbria Bold" charset="1" panose="02040803050406030204"/>
      <p:regular r:id="rId26"/>
    </p:embeddedFont>
    <p:embeddedFont>
      <p:font typeface="Open Sans 1 Bold" charset="1" panose="020B0806030504020204"/>
      <p:regular r:id="rId27"/>
    </p:embeddedFont>
    <p:embeddedFont>
      <p:font typeface="Open Sans 1" charset="1" panose="020B0606030504020204"/>
      <p:regular r:id="rId28"/>
    </p:embeddedFont>
    <p:embeddedFont>
      <p:font typeface="Cambria" charset="1" panose="02040503050406030204"/>
      <p:regular r:id="rId29"/>
    </p:embeddedFont>
    <p:embeddedFont>
      <p:font typeface="Open Sans 2" charset="1" panose="00000000000000000000"/>
      <p:regular r:id="rId30"/>
    </p:embeddedFont>
    <p:embeddedFont>
      <p:font typeface="Open Sans 2 Bold" charset="1" panose="00000000000000000000"/>
      <p:regular r:id="rId31"/>
    </p:embeddedFont>
    <p:embeddedFont>
      <p:font typeface="Open Sans 2 Italics" charset="1" panose="00000000000000000000"/>
      <p:regular r:id="rId32"/>
    </p:embeddedFont>
    <p:embeddedFont>
      <p:font typeface="Open Sans 1 Bold Italics" charset="1" panose="020B0806030504020204"/>
      <p:regular r:id="rId33"/>
    </p:embeddedFont>
    <p:embeddedFont>
      <p:font typeface="Cambria Italics" charset="1" panose="020405030504060A0204"/>
      <p:regular r:id="rId34"/>
    </p:embeddedFont>
    <p:embeddedFont>
      <p:font typeface="Camping" charset="1" panose="00000400000000000000"/>
      <p:regular r:id="rId35"/>
    </p:embeddedFont>
    <p:embeddedFont>
      <p:font typeface="Open Sans 1 Italics" charset="1" panose="020B0606030504020204"/>
      <p:regular r:id="rId39"/>
    </p:embeddedFont>
    <p:embeddedFont>
      <p:font typeface="Cambria Bold Italics" charset="1" panose="020408030504060A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Durante el MVP utilizaremos PostgreSQL tanto para la persistencia operacional como para los datos derivados, separándolos mediante esquemas. Un pipeline implementado en Python generará las variables analíticas. FastAPI seleccionará únicamente la información necesaria para enviarla al modelo de IA. Si el volumen futuro lo requiere, la capa analítica podrá migrarse posteriormente a una infraestructura independiente.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15" Target="../media/image20.png" Type="http://schemas.openxmlformats.org/officeDocument/2006/relationships/image"/><Relationship Id="rId16" Target="../media/image21.svg" Type="http://schemas.openxmlformats.org/officeDocument/2006/relationships/image"/><Relationship Id="rId17" Target="../media/image22.png" Type="http://schemas.openxmlformats.org/officeDocument/2006/relationships/image"/><Relationship Id="rId18" Target="../media/image23.svg" Type="http://schemas.openxmlformats.org/officeDocument/2006/relationships/image"/><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png" Type="http://schemas.openxmlformats.org/officeDocument/2006/relationships/image"/><Relationship Id="rId2" Target="../media/image1.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15" Target="../media/image44.png" Type="http://schemas.openxmlformats.org/officeDocument/2006/relationships/image"/><Relationship Id="rId16" Target="../media/image45.svg" Type="http://schemas.openxmlformats.org/officeDocument/2006/relationships/image"/><Relationship Id="rId17" Target="../media/image12.png" Type="http://schemas.openxmlformats.org/officeDocument/2006/relationships/image"/><Relationship Id="rId18" Target="../media/image13.svg" Type="http://schemas.openxmlformats.org/officeDocument/2006/relationships/image"/><Relationship Id="rId19" Target="../media/image14.png" Type="http://schemas.openxmlformats.org/officeDocument/2006/relationships/image"/><Relationship Id="rId2" Target="../media/image1.png" Type="http://schemas.openxmlformats.org/officeDocument/2006/relationships/image"/><Relationship Id="rId20" Target="../media/image15.sv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 Id="rId9" Target="../media/image4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png" Type="http://schemas.openxmlformats.org/officeDocument/2006/relationships/image"/><Relationship Id="rId11" Target="../media/image55.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2.png" Type="http://schemas.openxmlformats.org/officeDocument/2006/relationships/image"/><Relationship Id="rId9" Target="../media/image5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svg" Type="http://schemas.openxmlformats.org/officeDocument/2006/relationships/image"/><Relationship Id="rId11" Target="../media/image61.png" Type="http://schemas.openxmlformats.org/officeDocument/2006/relationships/image"/><Relationship Id="rId12" Target="../media/image62.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 Id="rId9" Target="../media/image5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3.png" Type="http://schemas.openxmlformats.org/officeDocument/2006/relationships/image"/><Relationship Id="rId8" Target="../embeddings/oleObject1.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6.png" Type="http://schemas.openxmlformats.org/officeDocument/2006/relationships/image"/><Relationship Id="rId8" Target="../media/image6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8.png" Type="http://schemas.openxmlformats.org/officeDocument/2006/relationships/image"/><Relationship Id="rId8" Target="../media/image6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0" y="0"/>
            <a:ext cx="10458755" cy="10287000"/>
            <a:chOff x="0" y="0"/>
            <a:chExt cx="2754569" cy="2709333"/>
          </a:xfrm>
        </p:grpSpPr>
        <p:sp>
          <p:nvSpPr>
            <p:cNvPr name="Freeform 3" id="3"/>
            <p:cNvSpPr/>
            <p:nvPr/>
          </p:nvSpPr>
          <p:spPr>
            <a:xfrm flipH="false" flipV="false" rot="0">
              <a:off x="0" y="0"/>
              <a:ext cx="2754569" cy="2709333"/>
            </a:xfrm>
            <a:custGeom>
              <a:avLst/>
              <a:gdLst/>
              <a:ahLst/>
              <a:cxnLst/>
              <a:rect r="r" b="b" t="t" l="l"/>
              <a:pathLst>
                <a:path h="2709333" w="2754569">
                  <a:moveTo>
                    <a:pt x="0" y="0"/>
                  </a:moveTo>
                  <a:lnTo>
                    <a:pt x="2754569" y="0"/>
                  </a:lnTo>
                  <a:lnTo>
                    <a:pt x="2754569" y="2709333"/>
                  </a:lnTo>
                  <a:lnTo>
                    <a:pt x="0" y="2709333"/>
                  </a:lnTo>
                  <a:close/>
                </a:path>
              </a:pathLst>
            </a:custGeom>
            <a:solidFill>
              <a:srgbClr val="5C1F2E"/>
            </a:solidFill>
          </p:spPr>
        </p:sp>
        <p:sp>
          <p:nvSpPr>
            <p:cNvPr name="TextBox 4" id="4"/>
            <p:cNvSpPr txBox="true"/>
            <p:nvPr/>
          </p:nvSpPr>
          <p:spPr>
            <a:xfrm>
              <a:off x="0" y="-38100"/>
              <a:ext cx="275456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24669" y="-622962"/>
            <a:ext cx="4040332" cy="40403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5E3C"/>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411130" y="492589"/>
            <a:ext cx="1809230" cy="1809230"/>
          </a:xfrm>
          <a:custGeom>
            <a:avLst/>
            <a:gdLst/>
            <a:ahLst/>
            <a:cxnLst/>
            <a:rect r="r" b="b" t="t" l="l"/>
            <a:pathLst>
              <a:path h="1809230" w="1809230">
                <a:moveTo>
                  <a:pt x="0" y="0"/>
                </a:moveTo>
                <a:lnTo>
                  <a:pt x="1809231" y="0"/>
                </a:lnTo>
                <a:lnTo>
                  <a:pt x="1809231" y="1809231"/>
                </a:lnTo>
                <a:lnTo>
                  <a:pt x="0" y="1809231"/>
                </a:lnTo>
                <a:lnTo>
                  <a:pt x="0" y="0"/>
                </a:lnTo>
                <a:close/>
              </a:path>
            </a:pathLst>
          </a:custGeom>
          <a:blipFill>
            <a:blip r:embed="rId2">
              <a:alphaModFix amt="13000"/>
            </a:blip>
            <a:stretch>
              <a:fillRect l="0" t="0" r="0" b="0"/>
            </a:stretch>
          </a:blipFill>
        </p:spPr>
      </p:sp>
      <p:sp>
        <p:nvSpPr>
          <p:cNvPr name="AutoShape 9" id="9"/>
          <p:cNvSpPr/>
          <p:nvPr/>
        </p:nvSpPr>
        <p:spPr>
          <a:xfrm>
            <a:off x="966954" y="7123301"/>
            <a:ext cx="8524847" cy="0"/>
          </a:xfrm>
          <a:prstGeom prst="line">
            <a:avLst/>
          </a:prstGeom>
          <a:ln cap="flat" w="38100">
            <a:solidFill>
              <a:srgbClr val="FFFFFF">
                <a:alpha val="13725"/>
              </a:srgbClr>
            </a:solidFill>
            <a:prstDash val="solid"/>
            <a:headEnd type="none" len="sm" w="sm"/>
            <a:tailEnd type="none" len="sm" w="sm"/>
          </a:ln>
        </p:spPr>
      </p:sp>
      <p:grpSp>
        <p:nvGrpSpPr>
          <p:cNvPr name="Group 10" id="10"/>
          <p:cNvGrpSpPr/>
          <p:nvPr/>
        </p:nvGrpSpPr>
        <p:grpSpPr>
          <a:xfrm rot="0">
            <a:off x="11721676" y="1397204"/>
            <a:ext cx="5683976" cy="7861096"/>
            <a:chOff x="0" y="0"/>
            <a:chExt cx="1497014" cy="2070412"/>
          </a:xfrm>
        </p:grpSpPr>
        <p:sp>
          <p:nvSpPr>
            <p:cNvPr name="Freeform 11" id="11"/>
            <p:cNvSpPr/>
            <p:nvPr/>
          </p:nvSpPr>
          <p:spPr>
            <a:xfrm flipH="false" flipV="false" rot="0">
              <a:off x="0" y="0"/>
              <a:ext cx="1497014" cy="2070412"/>
            </a:xfrm>
            <a:custGeom>
              <a:avLst/>
              <a:gdLst/>
              <a:ahLst/>
              <a:cxnLst/>
              <a:rect r="r" b="b" t="t" l="l"/>
              <a:pathLst>
                <a:path h="2070412" w="1497014">
                  <a:moveTo>
                    <a:pt x="23155" y="0"/>
                  </a:moveTo>
                  <a:lnTo>
                    <a:pt x="1473859" y="0"/>
                  </a:lnTo>
                  <a:cubicBezTo>
                    <a:pt x="1480000" y="0"/>
                    <a:pt x="1485890" y="2440"/>
                    <a:pt x="1490232" y="6782"/>
                  </a:cubicBezTo>
                  <a:cubicBezTo>
                    <a:pt x="1494575" y="11124"/>
                    <a:pt x="1497014" y="17014"/>
                    <a:pt x="1497014" y="23155"/>
                  </a:cubicBezTo>
                  <a:lnTo>
                    <a:pt x="1497014" y="2047257"/>
                  </a:lnTo>
                  <a:cubicBezTo>
                    <a:pt x="1497014" y="2053398"/>
                    <a:pt x="1494575" y="2059288"/>
                    <a:pt x="1490232" y="2063630"/>
                  </a:cubicBezTo>
                  <a:cubicBezTo>
                    <a:pt x="1485890" y="2067972"/>
                    <a:pt x="1480000" y="2070412"/>
                    <a:pt x="1473859" y="2070412"/>
                  </a:cubicBezTo>
                  <a:lnTo>
                    <a:pt x="23155" y="2070412"/>
                  </a:lnTo>
                  <a:cubicBezTo>
                    <a:pt x="17014" y="2070412"/>
                    <a:pt x="11124" y="2067972"/>
                    <a:pt x="6782" y="2063630"/>
                  </a:cubicBezTo>
                  <a:cubicBezTo>
                    <a:pt x="2440" y="2059288"/>
                    <a:pt x="0" y="2053398"/>
                    <a:pt x="0" y="2047257"/>
                  </a:cubicBezTo>
                  <a:lnTo>
                    <a:pt x="0" y="23155"/>
                  </a:lnTo>
                  <a:cubicBezTo>
                    <a:pt x="0" y="17014"/>
                    <a:pt x="2440" y="11124"/>
                    <a:pt x="6782" y="6782"/>
                  </a:cubicBezTo>
                  <a:cubicBezTo>
                    <a:pt x="11124" y="2440"/>
                    <a:pt x="17014" y="0"/>
                    <a:pt x="23155" y="0"/>
                  </a:cubicBezTo>
                  <a:close/>
                </a:path>
              </a:pathLst>
            </a:custGeom>
            <a:solidFill>
              <a:srgbClr val="FFFFFF"/>
            </a:solidFill>
            <a:ln w="19050" cap="sq">
              <a:solidFill>
                <a:srgbClr val="A0611E"/>
              </a:solidFill>
              <a:prstDash val="solid"/>
              <a:miter/>
            </a:ln>
          </p:spPr>
        </p:sp>
        <p:sp>
          <p:nvSpPr>
            <p:cNvPr name="TextBox 12" id="12"/>
            <p:cNvSpPr txBox="true"/>
            <p:nvPr/>
          </p:nvSpPr>
          <p:spPr>
            <a:xfrm>
              <a:off x="0" y="-38100"/>
              <a:ext cx="1497014" cy="2108512"/>
            </a:xfrm>
            <a:prstGeom prst="rect">
              <a:avLst/>
            </a:prstGeom>
          </p:spPr>
          <p:txBody>
            <a:bodyPr anchor="ctr" rtlCol="false" tIns="50800" lIns="50800" bIns="50800" rIns="50800"/>
            <a:lstStyle/>
            <a:p>
              <a:pPr algn="ctr">
                <a:lnSpc>
                  <a:spcPts val="3079"/>
                </a:lnSpc>
              </a:pPr>
            </a:p>
          </p:txBody>
        </p:sp>
      </p:grpSp>
      <p:grpSp>
        <p:nvGrpSpPr>
          <p:cNvPr name="Group 13" id="13"/>
          <p:cNvGrpSpPr/>
          <p:nvPr/>
        </p:nvGrpSpPr>
        <p:grpSpPr>
          <a:xfrm rot="0">
            <a:off x="12126123" y="4960259"/>
            <a:ext cx="4875083" cy="734986"/>
            <a:chOff x="0" y="0"/>
            <a:chExt cx="1283973" cy="193577"/>
          </a:xfrm>
        </p:grpSpPr>
        <p:sp>
          <p:nvSpPr>
            <p:cNvPr name="Freeform 14" id="14"/>
            <p:cNvSpPr/>
            <p:nvPr/>
          </p:nvSpPr>
          <p:spPr>
            <a:xfrm flipH="false" flipV="false" rot="0">
              <a:off x="0" y="0"/>
              <a:ext cx="1283972" cy="193577"/>
            </a:xfrm>
            <a:custGeom>
              <a:avLst/>
              <a:gdLst/>
              <a:ahLst/>
              <a:cxnLst/>
              <a:rect r="r" b="b" t="t" l="l"/>
              <a:pathLst>
                <a:path h="193577" w="1283972">
                  <a:moveTo>
                    <a:pt x="80991" y="0"/>
                  </a:moveTo>
                  <a:lnTo>
                    <a:pt x="1202982" y="0"/>
                  </a:lnTo>
                  <a:cubicBezTo>
                    <a:pt x="1224462" y="0"/>
                    <a:pt x="1245062" y="8533"/>
                    <a:pt x="1260251" y="23722"/>
                  </a:cubicBezTo>
                  <a:cubicBezTo>
                    <a:pt x="1275440" y="38910"/>
                    <a:pt x="1283972" y="59511"/>
                    <a:pt x="1283972" y="80991"/>
                  </a:cubicBezTo>
                  <a:lnTo>
                    <a:pt x="1283972" y="112586"/>
                  </a:lnTo>
                  <a:cubicBezTo>
                    <a:pt x="1283972" y="157316"/>
                    <a:pt x="1247712" y="193577"/>
                    <a:pt x="1202982" y="193577"/>
                  </a:cubicBezTo>
                  <a:lnTo>
                    <a:pt x="80991" y="193577"/>
                  </a:lnTo>
                  <a:cubicBezTo>
                    <a:pt x="59511" y="193577"/>
                    <a:pt x="38910" y="185044"/>
                    <a:pt x="23722" y="169855"/>
                  </a:cubicBezTo>
                  <a:cubicBezTo>
                    <a:pt x="8533" y="154666"/>
                    <a:pt x="0" y="134066"/>
                    <a:pt x="0" y="112586"/>
                  </a:cubicBezTo>
                  <a:lnTo>
                    <a:pt x="0" y="80991"/>
                  </a:lnTo>
                  <a:cubicBezTo>
                    <a:pt x="0" y="59511"/>
                    <a:pt x="8533" y="38910"/>
                    <a:pt x="23722" y="23722"/>
                  </a:cubicBezTo>
                  <a:cubicBezTo>
                    <a:pt x="38910" y="8533"/>
                    <a:pt x="59511" y="0"/>
                    <a:pt x="80991" y="0"/>
                  </a:cubicBezTo>
                  <a:close/>
                </a:path>
              </a:pathLst>
            </a:custGeom>
            <a:solidFill>
              <a:srgbClr val="FFFFFF"/>
            </a:solidFill>
            <a:ln w="19050" cap="rnd">
              <a:solidFill>
                <a:srgbClr val="A0611E"/>
              </a:solidFill>
              <a:prstDash val="solid"/>
              <a:round/>
            </a:ln>
          </p:spPr>
        </p:sp>
        <p:sp>
          <p:nvSpPr>
            <p:cNvPr name="TextBox 15" id="15"/>
            <p:cNvSpPr txBox="true"/>
            <p:nvPr/>
          </p:nvSpPr>
          <p:spPr>
            <a:xfrm>
              <a:off x="0" y="-38100"/>
              <a:ext cx="1283973" cy="231677"/>
            </a:xfrm>
            <a:prstGeom prst="rect">
              <a:avLst/>
            </a:prstGeom>
          </p:spPr>
          <p:txBody>
            <a:bodyPr anchor="ctr" rtlCol="false" tIns="50800" lIns="50800" bIns="50800" rIns="50800"/>
            <a:lstStyle/>
            <a:p>
              <a:pPr algn="ctr">
                <a:lnSpc>
                  <a:spcPts val="3079"/>
                </a:lnSpc>
              </a:pPr>
            </a:p>
          </p:txBody>
        </p:sp>
      </p:grpSp>
      <p:grpSp>
        <p:nvGrpSpPr>
          <p:cNvPr name="Group 16" id="16"/>
          <p:cNvGrpSpPr/>
          <p:nvPr/>
        </p:nvGrpSpPr>
        <p:grpSpPr>
          <a:xfrm rot="0">
            <a:off x="12126123" y="5977254"/>
            <a:ext cx="4875083" cy="734986"/>
            <a:chOff x="0" y="0"/>
            <a:chExt cx="1283973" cy="193577"/>
          </a:xfrm>
        </p:grpSpPr>
        <p:sp>
          <p:nvSpPr>
            <p:cNvPr name="Freeform 17" id="17"/>
            <p:cNvSpPr/>
            <p:nvPr/>
          </p:nvSpPr>
          <p:spPr>
            <a:xfrm flipH="false" flipV="false" rot="0">
              <a:off x="0" y="0"/>
              <a:ext cx="1283972" cy="193577"/>
            </a:xfrm>
            <a:custGeom>
              <a:avLst/>
              <a:gdLst/>
              <a:ahLst/>
              <a:cxnLst/>
              <a:rect r="r" b="b" t="t" l="l"/>
              <a:pathLst>
                <a:path h="193577" w="1283972">
                  <a:moveTo>
                    <a:pt x="80991" y="0"/>
                  </a:moveTo>
                  <a:lnTo>
                    <a:pt x="1202982" y="0"/>
                  </a:lnTo>
                  <a:cubicBezTo>
                    <a:pt x="1224462" y="0"/>
                    <a:pt x="1245062" y="8533"/>
                    <a:pt x="1260251" y="23722"/>
                  </a:cubicBezTo>
                  <a:cubicBezTo>
                    <a:pt x="1275440" y="38910"/>
                    <a:pt x="1283972" y="59511"/>
                    <a:pt x="1283972" y="80991"/>
                  </a:cubicBezTo>
                  <a:lnTo>
                    <a:pt x="1283972" y="112586"/>
                  </a:lnTo>
                  <a:cubicBezTo>
                    <a:pt x="1283972" y="157316"/>
                    <a:pt x="1247712" y="193577"/>
                    <a:pt x="1202982" y="193577"/>
                  </a:cubicBezTo>
                  <a:lnTo>
                    <a:pt x="80991" y="193577"/>
                  </a:lnTo>
                  <a:cubicBezTo>
                    <a:pt x="59511" y="193577"/>
                    <a:pt x="38910" y="185044"/>
                    <a:pt x="23722" y="169855"/>
                  </a:cubicBezTo>
                  <a:cubicBezTo>
                    <a:pt x="8533" y="154666"/>
                    <a:pt x="0" y="134066"/>
                    <a:pt x="0" y="112586"/>
                  </a:cubicBezTo>
                  <a:lnTo>
                    <a:pt x="0" y="80991"/>
                  </a:lnTo>
                  <a:cubicBezTo>
                    <a:pt x="0" y="59511"/>
                    <a:pt x="8533" y="38910"/>
                    <a:pt x="23722" y="23722"/>
                  </a:cubicBezTo>
                  <a:cubicBezTo>
                    <a:pt x="38910" y="8533"/>
                    <a:pt x="59511" y="0"/>
                    <a:pt x="80991" y="0"/>
                  </a:cubicBezTo>
                  <a:close/>
                </a:path>
              </a:pathLst>
            </a:custGeom>
            <a:solidFill>
              <a:srgbClr val="FFFFFF"/>
            </a:solidFill>
            <a:ln w="19050" cap="rnd">
              <a:solidFill>
                <a:srgbClr val="D1D1D1"/>
              </a:solidFill>
              <a:prstDash val="solid"/>
              <a:round/>
            </a:ln>
          </p:spPr>
        </p:sp>
        <p:sp>
          <p:nvSpPr>
            <p:cNvPr name="TextBox 18" id="18"/>
            <p:cNvSpPr txBox="true"/>
            <p:nvPr/>
          </p:nvSpPr>
          <p:spPr>
            <a:xfrm>
              <a:off x="0" y="-38100"/>
              <a:ext cx="1283973" cy="231677"/>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2886405" y="6997990"/>
            <a:ext cx="3214874" cy="734986"/>
            <a:chOff x="0" y="0"/>
            <a:chExt cx="846716" cy="193577"/>
          </a:xfrm>
        </p:grpSpPr>
        <p:sp>
          <p:nvSpPr>
            <p:cNvPr name="Freeform 20" id="20"/>
            <p:cNvSpPr/>
            <p:nvPr/>
          </p:nvSpPr>
          <p:spPr>
            <a:xfrm flipH="false" flipV="false" rot="0">
              <a:off x="0" y="0"/>
              <a:ext cx="846716" cy="193577"/>
            </a:xfrm>
            <a:custGeom>
              <a:avLst/>
              <a:gdLst/>
              <a:ahLst/>
              <a:cxnLst/>
              <a:rect r="r" b="b" t="t" l="l"/>
              <a:pathLst>
                <a:path h="193577" w="846716">
                  <a:moveTo>
                    <a:pt x="96788" y="0"/>
                  </a:moveTo>
                  <a:lnTo>
                    <a:pt x="749927" y="0"/>
                  </a:lnTo>
                  <a:cubicBezTo>
                    <a:pt x="775597" y="0"/>
                    <a:pt x="800216" y="10197"/>
                    <a:pt x="818367" y="28349"/>
                  </a:cubicBezTo>
                  <a:cubicBezTo>
                    <a:pt x="836518" y="46500"/>
                    <a:pt x="846716" y="71118"/>
                    <a:pt x="846716" y="96788"/>
                  </a:cubicBezTo>
                  <a:lnTo>
                    <a:pt x="846716" y="96788"/>
                  </a:lnTo>
                  <a:cubicBezTo>
                    <a:pt x="846716" y="122458"/>
                    <a:pt x="836518" y="147077"/>
                    <a:pt x="818367" y="165228"/>
                  </a:cubicBezTo>
                  <a:cubicBezTo>
                    <a:pt x="800216" y="183379"/>
                    <a:pt x="775597" y="193577"/>
                    <a:pt x="749927" y="193577"/>
                  </a:cubicBezTo>
                  <a:lnTo>
                    <a:pt x="96788" y="193577"/>
                  </a:lnTo>
                  <a:cubicBezTo>
                    <a:pt x="71118" y="193577"/>
                    <a:pt x="46500" y="183379"/>
                    <a:pt x="28349" y="165228"/>
                  </a:cubicBezTo>
                  <a:cubicBezTo>
                    <a:pt x="10197" y="147077"/>
                    <a:pt x="0" y="122458"/>
                    <a:pt x="0" y="96788"/>
                  </a:cubicBezTo>
                  <a:lnTo>
                    <a:pt x="0" y="96788"/>
                  </a:lnTo>
                  <a:cubicBezTo>
                    <a:pt x="0" y="71118"/>
                    <a:pt x="10197" y="46500"/>
                    <a:pt x="28349" y="28349"/>
                  </a:cubicBezTo>
                  <a:cubicBezTo>
                    <a:pt x="46500" y="10197"/>
                    <a:pt x="71118" y="0"/>
                    <a:pt x="96788" y="0"/>
                  </a:cubicBezTo>
                  <a:close/>
                </a:path>
              </a:pathLst>
            </a:custGeom>
            <a:solidFill>
              <a:srgbClr val="BB913C"/>
            </a:solidFill>
            <a:ln cap="rnd">
              <a:noFill/>
              <a:prstDash val="solid"/>
              <a:round/>
            </a:ln>
          </p:spPr>
        </p:sp>
        <p:sp>
          <p:nvSpPr>
            <p:cNvPr name="TextBox 21" id="21"/>
            <p:cNvSpPr txBox="true"/>
            <p:nvPr/>
          </p:nvSpPr>
          <p:spPr>
            <a:xfrm>
              <a:off x="0" y="-38100"/>
              <a:ext cx="846716" cy="231677"/>
            </a:xfrm>
            <a:prstGeom prst="rect">
              <a:avLst/>
            </a:prstGeom>
          </p:spPr>
          <p:txBody>
            <a:bodyPr anchor="ctr" rtlCol="false" tIns="50800" lIns="50800" bIns="50800" rIns="50800"/>
            <a:lstStyle/>
            <a:p>
              <a:pPr algn="ctr">
                <a:lnSpc>
                  <a:spcPts val="3079"/>
                </a:lnSpc>
              </a:pPr>
            </a:p>
          </p:txBody>
        </p:sp>
      </p:grpSp>
      <p:sp>
        <p:nvSpPr>
          <p:cNvPr name="Freeform 22" id="22"/>
          <p:cNvSpPr/>
          <p:nvPr/>
        </p:nvSpPr>
        <p:spPr>
          <a:xfrm flipH="false" flipV="false" rot="0">
            <a:off x="12367495" y="5194916"/>
            <a:ext cx="215194" cy="265672"/>
          </a:xfrm>
          <a:custGeom>
            <a:avLst/>
            <a:gdLst/>
            <a:ahLst/>
            <a:cxnLst/>
            <a:rect r="r" b="b" t="t" l="l"/>
            <a:pathLst>
              <a:path h="265672" w="215194">
                <a:moveTo>
                  <a:pt x="0" y="0"/>
                </a:moveTo>
                <a:lnTo>
                  <a:pt x="215194" y="0"/>
                </a:lnTo>
                <a:lnTo>
                  <a:pt x="215194" y="265672"/>
                </a:lnTo>
                <a:lnTo>
                  <a:pt x="0" y="2656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12367495" y="6181025"/>
            <a:ext cx="229211" cy="327444"/>
          </a:xfrm>
          <a:custGeom>
            <a:avLst/>
            <a:gdLst/>
            <a:ahLst/>
            <a:cxnLst/>
            <a:rect r="r" b="b" t="t" l="l"/>
            <a:pathLst>
              <a:path h="327444" w="229211">
                <a:moveTo>
                  <a:pt x="0" y="0"/>
                </a:moveTo>
                <a:lnTo>
                  <a:pt x="229211" y="0"/>
                </a:lnTo>
                <a:lnTo>
                  <a:pt x="229211" y="327444"/>
                </a:lnTo>
                <a:lnTo>
                  <a:pt x="0" y="3274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5566840" y="4066878"/>
            <a:ext cx="946262" cy="516143"/>
          </a:xfrm>
          <a:custGeom>
            <a:avLst/>
            <a:gdLst/>
            <a:ahLst/>
            <a:cxnLst/>
            <a:rect r="r" b="b" t="t" l="l"/>
            <a:pathLst>
              <a:path h="516143" w="946262">
                <a:moveTo>
                  <a:pt x="0" y="0"/>
                </a:moveTo>
                <a:lnTo>
                  <a:pt x="946263" y="0"/>
                </a:lnTo>
                <a:lnTo>
                  <a:pt x="946263" y="516143"/>
                </a:lnTo>
                <a:lnTo>
                  <a:pt x="0" y="516143"/>
                </a:lnTo>
                <a:lnTo>
                  <a:pt x="0" y="0"/>
                </a:lnTo>
                <a:close/>
              </a:path>
            </a:pathLst>
          </a:custGeom>
          <a:blipFill>
            <a:blip r:embed="rId7"/>
            <a:stretch>
              <a:fillRect l="0" t="0" r="0" b="0"/>
            </a:stretch>
          </a:blipFill>
        </p:spPr>
      </p:sp>
      <p:sp>
        <p:nvSpPr>
          <p:cNvPr name="TextBox 25" id="25"/>
          <p:cNvSpPr txBox="true"/>
          <p:nvPr/>
        </p:nvSpPr>
        <p:spPr>
          <a:xfrm rot="0">
            <a:off x="1028700" y="2255272"/>
            <a:ext cx="5039245" cy="2327749"/>
          </a:xfrm>
          <a:prstGeom prst="rect">
            <a:avLst/>
          </a:prstGeom>
        </p:spPr>
        <p:txBody>
          <a:bodyPr anchor="t" rtlCol="false" tIns="0" lIns="0" bIns="0" rIns="0">
            <a:spAutoFit/>
          </a:bodyPr>
          <a:lstStyle/>
          <a:p>
            <a:pPr algn="ctr">
              <a:lnSpc>
                <a:spcPts val="19028"/>
              </a:lnSpc>
            </a:pPr>
            <a:r>
              <a:rPr lang="en-US" sz="13591" b="true">
                <a:solidFill>
                  <a:srgbClr val="FFFFFF"/>
                </a:solidFill>
                <a:latin typeface="Cambria Bold"/>
                <a:ea typeface="Cambria Bold"/>
                <a:cs typeface="Cambria Bold"/>
                <a:sym typeface="Cambria Bold"/>
              </a:rPr>
              <a:t>Libr</a:t>
            </a:r>
            <a:r>
              <a:rPr lang="en-US" sz="13591" b="true">
                <a:solidFill>
                  <a:srgbClr val="A0611E"/>
                </a:solidFill>
                <a:latin typeface="Cambria Bold"/>
                <a:ea typeface="Cambria Bold"/>
                <a:cs typeface="Cambria Bold"/>
                <a:sym typeface="Cambria Bold"/>
              </a:rPr>
              <a:t>IA</a:t>
            </a:r>
          </a:p>
        </p:txBody>
      </p:sp>
      <p:sp>
        <p:nvSpPr>
          <p:cNvPr name="TextBox 26" id="26"/>
          <p:cNvSpPr txBox="true"/>
          <p:nvPr/>
        </p:nvSpPr>
        <p:spPr>
          <a:xfrm rot="0">
            <a:off x="1028700" y="4689157"/>
            <a:ext cx="8811795" cy="1153795"/>
          </a:xfrm>
          <a:prstGeom prst="rect">
            <a:avLst/>
          </a:prstGeom>
        </p:spPr>
        <p:txBody>
          <a:bodyPr anchor="t" rtlCol="false" tIns="0" lIns="0" bIns="0" rIns="0">
            <a:spAutoFit/>
          </a:bodyPr>
          <a:lstStyle/>
          <a:p>
            <a:pPr algn="l">
              <a:lnSpc>
                <a:spcPts val="3079"/>
              </a:lnSpc>
            </a:pPr>
            <a:r>
              <a:rPr lang="en-US" sz="2199" b="true">
                <a:solidFill>
                  <a:srgbClr val="EDE0CE"/>
                </a:solidFill>
                <a:latin typeface="Open Sans 1 Bold"/>
                <a:ea typeface="Open Sans 1 Bold"/>
                <a:cs typeface="Open Sans 1 Bold"/>
                <a:sym typeface="Open Sans 1 Bold"/>
              </a:rPr>
              <a:t>Platafo</a:t>
            </a:r>
            <a:r>
              <a:rPr lang="en-US" b="true" sz="2199">
                <a:solidFill>
                  <a:srgbClr val="EDE0CE"/>
                </a:solidFill>
                <a:latin typeface="Open Sans 1 Bold"/>
                <a:ea typeface="Open Sans 1 Bold"/>
                <a:cs typeface="Open Sans 1 Bold"/>
                <a:sym typeface="Open Sans 1 Bold"/>
              </a:rPr>
              <a:t>rma web literaria con analítica de datos e inteligencia artificial</a:t>
            </a:r>
          </a:p>
          <a:p>
            <a:pPr algn="ctr">
              <a:lnSpc>
                <a:spcPts val="3079"/>
              </a:lnSpc>
            </a:pPr>
          </a:p>
        </p:txBody>
      </p:sp>
      <p:sp>
        <p:nvSpPr>
          <p:cNvPr name="TextBox 27" id="27"/>
          <p:cNvSpPr txBox="true"/>
          <p:nvPr/>
        </p:nvSpPr>
        <p:spPr>
          <a:xfrm rot="0">
            <a:off x="8215480" y="177311"/>
            <a:ext cx="4018806" cy="563881"/>
          </a:xfrm>
          <a:prstGeom prst="rect">
            <a:avLst/>
          </a:prstGeom>
        </p:spPr>
        <p:txBody>
          <a:bodyPr anchor="t" rtlCol="false" tIns="0" lIns="0" bIns="0" rIns="0">
            <a:spAutoFit/>
          </a:bodyPr>
          <a:lstStyle/>
          <a:p>
            <a:pPr algn="ctr">
              <a:lnSpc>
                <a:spcPts val="4619"/>
              </a:lnSpc>
            </a:pPr>
            <a:r>
              <a:rPr lang="en-US" sz="3299" b="true">
                <a:solidFill>
                  <a:srgbClr val="F6EFDF"/>
                </a:solidFill>
                <a:latin typeface="Open Sans 1 Bold"/>
                <a:ea typeface="Open Sans 1 Bold"/>
                <a:cs typeface="Open Sans 1 Bold"/>
                <a:sym typeface="Open Sans 1 Bold"/>
              </a:rPr>
              <a:t>P</a:t>
            </a:r>
            <a:r>
              <a:rPr lang="en-US" b="true" sz="3299">
                <a:solidFill>
                  <a:srgbClr val="F6EFDF"/>
                </a:solidFill>
                <a:latin typeface="Open Sans 1 Bold"/>
                <a:ea typeface="Open Sans 1 Bold"/>
                <a:cs typeface="Open Sans 1 Bold"/>
                <a:sym typeface="Open Sans 1 Bold"/>
              </a:rPr>
              <a:t>royecto </a:t>
            </a:r>
            <a:r>
              <a:rPr lang="en-US" b="true" sz="3299">
                <a:solidFill>
                  <a:srgbClr val="EDE0CE"/>
                </a:solidFill>
                <a:latin typeface="Open Sans 1 Bold"/>
                <a:ea typeface="Open Sans 1 Bold"/>
                <a:cs typeface="Open Sans 1 Bold"/>
                <a:sym typeface="Open Sans 1 Bold"/>
              </a:rPr>
              <a:t>d</a:t>
            </a:r>
            <a:r>
              <a:rPr lang="en-US" b="true" sz="3299">
                <a:solidFill>
                  <a:srgbClr val="5C1F2E"/>
                </a:solidFill>
                <a:latin typeface="Open Sans 1 Bold"/>
                <a:ea typeface="Open Sans 1 Bold"/>
                <a:cs typeface="Open Sans 1 Bold"/>
                <a:sym typeface="Open Sans 1 Bold"/>
              </a:rPr>
              <a:t>e Título  </a:t>
            </a:r>
          </a:p>
        </p:txBody>
      </p:sp>
      <p:sp>
        <p:nvSpPr>
          <p:cNvPr name="TextBox 28" id="28"/>
          <p:cNvSpPr txBox="true"/>
          <p:nvPr/>
        </p:nvSpPr>
        <p:spPr>
          <a:xfrm rot="0">
            <a:off x="1028700" y="5814377"/>
            <a:ext cx="4021336" cy="297179"/>
          </a:xfrm>
          <a:prstGeom prst="rect">
            <a:avLst/>
          </a:prstGeom>
        </p:spPr>
        <p:txBody>
          <a:bodyPr anchor="t" rtlCol="false" tIns="0" lIns="0" bIns="0" rIns="0">
            <a:spAutoFit/>
          </a:bodyPr>
          <a:lstStyle/>
          <a:p>
            <a:pPr algn="ctr">
              <a:lnSpc>
                <a:spcPts val="2520"/>
              </a:lnSpc>
            </a:pPr>
            <a:r>
              <a:rPr lang="en-US" sz="1800" b="true">
                <a:solidFill>
                  <a:srgbClr val="A0611E"/>
                </a:solidFill>
                <a:latin typeface="Open Sans 1 Bold"/>
                <a:ea typeface="Open Sans 1 Bold"/>
                <a:cs typeface="Open Sans 1 Bold"/>
                <a:sym typeface="Open Sans 1 Bold"/>
              </a:rPr>
              <a:t>F</a:t>
            </a:r>
            <a:r>
              <a:rPr lang="en-US" b="true" sz="1800">
                <a:solidFill>
                  <a:srgbClr val="A0611E"/>
                </a:solidFill>
                <a:latin typeface="Open Sans 1 Bold"/>
                <a:ea typeface="Open Sans 1 Bold"/>
                <a:cs typeface="Open Sans 1 Bold"/>
                <a:sym typeface="Open Sans 1 Bold"/>
              </a:rPr>
              <a:t>ase 1 · Definición del Proyecto APT</a:t>
            </a:r>
          </a:p>
        </p:txBody>
      </p:sp>
      <p:sp>
        <p:nvSpPr>
          <p:cNvPr name="TextBox 29" id="29"/>
          <p:cNvSpPr txBox="true"/>
          <p:nvPr/>
        </p:nvSpPr>
        <p:spPr>
          <a:xfrm rot="0">
            <a:off x="1161979" y="7634813"/>
            <a:ext cx="8134796" cy="372744"/>
          </a:xfrm>
          <a:prstGeom prst="rect">
            <a:avLst/>
          </a:prstGeom>
        </p:spPr>
        <p:txBody>
          <a:bodyPr anchor="t" rtlCol="false" tIns="0" lIns="0" bIns="0" rIns="0">
            <a:spAutoFit/>
          </a:bodyPr>
          <a:lstStyle/>
          <a:p>
            <a:pPr algn="ctr">
              <a:lnSpc>
                <a:spcPts val="3080"/>
              </a:lnSpc>
            </a:pPr>
            <a:r>
              <a:rPr lang="en-US" b="true" sz="2200">
                <a:solidFill>
                  <a:srgbClr val="FFFFFF">
                    <a:alpha val="62745"/>
                  </a:srgbClr>
                </a:solidFill>
                <a:latin typeface="Open Sans 1 Bold"/>
                <a:ea typeface="Open Sans 1 Bold"/>
                <a:cs typeface="Open Sans 1 Bold"/>
                <a:sym typeface="Open Sans 1 Bold"/>
              </a:rPr>
              <a:t>Josy</a:t>
            </a:r>
            <a:r>
              <a:rPr lang="en-US" b="true" sz="2200">
                <a:solidFill>
                  <a:srgbClr val="FFFFFF">
                    <a:alpha val="62745"/>
                  </a:srgbClr>
                </a:solidFill>
                <a:latin typeface="Open Sans 1 Bold"/>
                <a:ea typeface="Open Sans 1 Bold"/>
                <a:cs typeface="Open Sans 1 Bold"/>
                <a:sym typeface="Open Sans 1 Bold"/>
              </a:rPr>
              <a:t>an Bonnemaison · Nicole Marchant · Katherine Rubilar</a:t>
            </a:r>
          </a:p>
        </p:txBody>
      </p:sp>
      <p:sp>
        <p:nvSpPr>
          <p:cNvPr name="TextBox 30" id="30"/>
          <p:cNvSpPr txBox="true"/>
          <p:nvPr/>
        </p:nvSpPr>
        <p:spPr>
          <a:xfrm rot="0">
            <a:off x="2535808" y="9808944"/>
            <a:ext cx="5028456" cy="257175"/>
          </a:xfrm>
          <a:prstGeom prst="rect">
            <a:avLst/>
          </a:prstGeom>
        </p:spPr>
        <p:txBody>
          <a:bodyPr anchor="t" rtlCol="false" tIns="0" lIns="0" bIns="0" rIns="0">
            <a:spAutoFit/>
          </a:bodyPr>
          <a:lstStyle/>
          <a:p>
            <a:pPr algn="ctr">
              <a:lnSpc>
                <a:spcPts val="2100"/>
              </a:lnSpc>
            </a:pPr>
            <a:r>
              <a:rPr lang="en-US" sz="1500">
                <a:solidFill>
                  <a:srgbClr val="EDE0CE"/>
                </a:solidFill>
                <a:latin typeface="Open Sans 1"/>
                <a:ea typeface="Open Sans 1"/>
                <a:cs typeface="Open Sans 1"/>
                <a:sym typeface="Open Sans 1"/>
              </a:rPr>
              <a:t>In</a:t>
            </a:r>
            <a:r>
              <a:rPr lang="en-US" sz="1500">
                <a:solidFill>
                  <a:srgbClr val="EDE0CE"/>
                </a:solidFill>
                <a:latin typeface="Open Sans 1"/>
                <a:ea typeface="Open Sans 1"/>
                <a:cs typeface="Open Sans 1"/>
                <a:sym typeface="Open Sans 1"/>
              </a:rPr>
              <a:t>geniería en Informática · Duoc UC Antonio Varas · 2026</a:t>
            </a:r>
          </a:p>
        </p:txBody>
      </p:sp>
      <p:sp>
        <p:nvSpPr>
          <p:cNvPr name="TextBox 31" id="31"/>
          <p:cNvSpPr txBox="true"/>
          <p:nvPr/>
        </p:nvSpPr>
        <p:spPr>
          <a:xfrm rot="0">
            <a:off x="13335981" y="1591554"/>
            <a:ext cx="2297311" cy="1071344"/>
          </a:xfrm>
          <a:prstGeom prst="rect">
            <a:avLst/>
          </a:prstGeom>
        </p:spPr>
        <p:txBody>
          <a:bodyPr anchor="t" rtlCol="false" tIns="0" lIns="0" bIns="0" rIns="0">
            <a:spAutoFit/>
          </a:bodyPr>
          <a:lstStyle/>
          <a:p>
            <a:pPr algn="ctr">
              <a:lnSpc>
                <a:spcPts val="8674"/>
              </a:lnSpc>
            </a:pPr>
            <a:r>
              <a:rPr lang="en-US" sz="6196" b="true">
                <a:solidFill>
                  <a:srgbClr val="BB913C"/>
                </a:solidFill>
                <a:latin typeface="Cambria Bold"/>
                <a:ea typeface="Cambria Bold"/>
                <a:cs typeface="Cambria Bold"/>
                <a:sym typeface="Cambria Bold"/>
              </a:rPr>
              <a:t>LibrIA</a:t>
            </a:r>
          </a:p>
        </p:txBody>
      </p:sp>
      <p:sp>
        <p:nvSpPr>
          <p:cNvPr name="TextBox 32" id="32"/>
          <p:cNvSpPr txBox="true"/>
          <p:nvPr/>
        </p:nvSpPr>
        <p:spPr>
          <a:xfrm rot="0">
            <a:off x="12126123" y="2863916"/>
            <a:ext cx="4875083" cy="688581"/>
          </a:xfrm>
          <a:prstGeom prst="rect">
            <a:avLst/>
          </a:prstGeom>
        </p:spPr>
        <p:txBody>
          <a:bodyPr anchor="t" rtlCol="false" tIns="0" lIns="0" bIns="0" rIns="0">
            <a:spAutoFit/>
          </a:bodyPr>
          <a:lstStyle/>
          <a:p>
            <a:pPr algn="ctr">
              <a:lnSpc>
                <a:spcPts val="2732"/>
              </a:lnSpc>
            </a:pPr>
            <a:r>
              <a:rPr lang="en-US" sz="1951">
                <a:solidFill>
                  <a:srgbClr val="000000"/>
                </a:solidFill>
                <a:latin typeface="Cambria"/>
                <a:ea typeface="Cambria"/>
                <a:cs typeface="Cambria"/>
                <a:sym typeface="Cambria"/>
              </a:rPr>
              <a:t>Bi</a:t>
            </a:r>
            <a:r>
              <a:rPr lang="en-US" sz="1951">
                <a:solidFill>
                  <a:srgbClr val="000000"/>
                </a:solidFill>
                <a:latin typeface="Cambria"/>
                <a:ea typeface="Cambria"/>
                <a:cs typeface="Cambria"/>
                <a:sym typeface="Cambria"/>
              </a:rPr>
              <a:t>envenido a LibrIA. </a:t>
            </a:r>
          </a:p>
          <a:p>
            <a:pPr algn="ctr">
              <a:lnSpc>
                <a:spcPts val="2732"/>
              </a:lnSpc>
            </a:pPr>
            <a:r>
              <a:rPr lang="en-US" sz="1951">
                <a:solidFill>
                  <a:srgbClr val="000000"/>
                </a:solidFill>
                <a:latin typeface="Cambria"/>
                <a:ea typeface="Cambria"/>
                <a:cs typeface="Cambria"/>
                <a:sym typeface="Cambria"/>
              </a:rPr>
              <a:t>Descubre la huella que cada historia deja en ti</a:t>
            </a:r>
            <a:r>
              <a:rPr lang="en-US" sz="1951">
                <a:solidFill>
                  <a:srgbClr val="000000"/>
                </a:solidFill>
                <a:latin typeface="Cambria"/>
                <a:ea typeface="Cambria"/>
                <a:cs typeface="Cambria"/>
                <a:sym typeface="Cambria"/>
              </a:rPr>
              <a:t>.</a:t>
            </a:r>
          </a:p>
        </p:txBody>
      </p:sp>
      <p:sp>
        <p:nvSpPr>
          <p:cNvPr name="TextBox 33" id="33"/>
          <p:cNvSpPr txBox="true"/>
          <p:nvPr/>
        </p:nvSpPr>
        <p:spPr>
          <a:xfrm rot="0">
            <a:off x="13175247" y="4134726"/>
            <a:ext cx="2527995" cy="448295"/>
          </a:xfrm>
          <a:prstGeom prst="rect">
            <a:avLst/>
          </a:prstGeom>
        </p:spPr>
        <p:txBody>
          <a:bodyPr anchor="t" rtlCol="false" tIns="0" lIns="0" bIns="0" rIns="0">
            <a:spAutoFit/>
          </a:bodyPr>
          <a:lstStyle/>
          <a:p>
            <a:pPr algn="ctr">
              <a:lnSpc>
                <a:spcPts val="3640"/>
              </a:lnSpc>
            </a:pPr>
            <a:r>
              <a:rPr lang="en-US" sz="2600" b="true">
                <a:solidFill>
                  <a:srgbClr val="000000"/>
                </a:solidFill>
                <a:latin typeface="Open Sans 1 Bold"/>
                <a:ea typeface="Open Sans 1 Bold"/>
                <a:cs typeface="Open Sans 1 Bold"/>
                <a:sym typeface="Open Sans 1 Bold"/>
              </a:rPr>
              <a:t>INICIAR SESIÓN</a:t>
            </a:r>
          </a:p>
        </p:txBody>
      </p:sp>
      <p:sp>
        <p:nvSpPr>
          <p:cNvPr name="TextBox 34" id="34"/>
          <p:cNvSpPr txBox="true"/>
          <p:nvPr/>
        </p:nvSpPr>
        <p:spPr>
          <a:xfrm rot="0">
            <a:off x="13560488" y="7990151"/>
            <a:ext cx="2006352" cy="264160"/>
          </a:xfrm>
          <a:prstGeom prst="rect">
            <a:avLst/>
          </a:prstGeom>
        </p:spPr>
        <p:txBody>
          <a:bodyPr anchor="t" rtlCol="false" tIns="0" lIns="0" bIns="0" rIns="0">
            <a:spAutoFit/>
          </a:bodyPr>
          <a:lstStyle/>
          <a:p>
            <a:pPr algn="ctr">
              <a:lnSpc>
                <a:spcPts val="2239"/>
              </a:lnSpc>
            </a:pPr>
            <a:r>
              <a:rPr lang="en-US" sz="1599" u="sng">
                <a:solidFill>
                  <a:srgbClr val="000000"/>
                </a:solidFill>
                <a:latin typeface="Open Sans 2"/>
                <a:ea typeface="Open Sans 2"/>
                <a:cs typeface="Open Sans 2"/>
                <a:sym typeface="Open Sans 2"/>
              </a:rPr>
              <a:t>Olvidé mi contraseña</a:t>
            </a:r>
          </a:p>
        </p:txBody>
      </p:sp>
      <p:sp>
        <p:nvSpPr>
          <p:cNvPr name="TextBox 35" id="35"/>
          <p:cNvSpPr txBox="true"/>
          <p:nvPr/>
        </p:nvSpPr>
        <p:spPr>
          <a:xfrm rot="0">
            <a:off x="13175247" y="8606736"/>
            <a:ext cx="2871788" cy="264160"/>
          </a:xfrm>
          <a:prstGeom prst="rect">
            <a:avLst/>
          </a:prstGeom>
        </p:spPr>
        <p:txBody>
          <a:bodyPr anchor="t" rtlCol="false" tIns="0" lIns="0" bIns="0" rIns="0">
            <a:spAutoFit/>
          </a:bodyPr>
          <a:lstStyle/>
          <a:p>
            <a:pPr algn="ctr">
              <a:lnSpc>
                <a:spcPts val="2239"/>
              </a:lnSpc>
            </a:pPr>
            <a:r>
              <a:rPr lang="en-US" sz="1599" u="sng">
                <a:solidFill>
                  <a:srgbClr val="000000"/>
                </a:solidFill>
                <a:latin typeface="Open Sans 2"/>
                <a:ea typeface="Open Sans 2"/>
                <a:cs typeface="Open Sans 2"/>
                <a:sym typeface="Open Sans 2"/>
              </a:rPr>
              <a:t>¿</a:t>
            </a:r>
            <a:r>
              <a:rPr lang="en-US" sz="1599">
                <a:solidFill>
                  <a:srgbClr val="000000"/>
                </a:solidFill>
                <a:latin typeface="Open Sans 2"/>
                <a:ea typeface="Open Sans 2"/>
                <a:cs typeface="Open Sans 2"/>
                <a:sym typeface="Open Sans 2"/>
              </a:rPr>
              <a:t>No tienes cuenta? </a:t>
            </a:r>
            <a:r>
              <a:rPr lang="en-US" b="true" sz="1599" u="sng">
                <a:solidFill>
                  <a:srgbClr val="A0611E"/>
                </a:solidFill>
                <a:latin typeface="Open Sans 2 Bold"/>
                <a:ea typeface="Open Sans 2 Bold"/>
                <a:cs typeface="Open Sans 2 Bold"/>
                <a:sym typeface="Open Sans 2 Bold"/>
              </a:rPr>
              <a:t>Regístrate</a:t>
            </a:r>
          </a:p>
        </p:txBody>
      </p:sp>
      <p:sp>
        <p:nvSpPr>
          <p:cNvPr name="TextBox 36" id="36"/>
          <p:cNvSpPr txBox="true"/>
          <p:nvPr/>
        </p:nvSpPr>
        <p:spPr>
          <a:xfrm rot="0">
            <a:off x="12886405" y="5122329"/>
            <a:ext cx="1016198" cy="372745"/>
          </a:xfrm>
          <a:prstGeom prst="rect">
            <a:avLst/>
          </a:prstGeom>
        </p:spPr>
        <p:txBody>
          <a:bodyPr anchor="t" rtlCol="false" tIns="0" lIns="0" bIns="0" rIns="0">
            <a:spAutoFit/>
          </a:bodyPr>
          <a:lstStyle/>
          <a:p>
            <a:pPr algn="ctr">
              <a:lnSpc>
                <a:spcPts val="3079"/>
              </a:lnSpc>
            </a:pPr>
            <a:r>
              <a:rPr lang="en-US" sz="2199">
                <a:solidFill>
                  <a:srgbClr val="D1D1D1"/>
                </a:solidFill>
                <a:latin typeface="Open Sans 2"/>
                <a:ea typeface="Open Sans 2"/>
                <a:cs typeface="Open Sans 2"/>
                <a:sym typeface="Open Sans 2"/>
              </a:rPr>
              <a:t>Usuario</a:t>
            </a:r>
          </a:p>
        </p:txBody>
      </p:sp>
      <p:sp>
        <p:nvSpPr>
          <p:cNvPr name="TextBox 37" id="37"/>
          <p:cNvSpPr txBox="true"/>
          <p:nvPr/>
        </p:nvSpPr>
        <p:spPr>
          <a:xfrm rot="0">
            <a:off x="12886405" y="6142925"/>
            <a:ext cx="1500932" cy="372745"/>
          </a:xfrm>
          <a:prstGeom prst="rect">
            <a:avLst/>
          </a:prstGeom>
        </p:spPr>
        <p:txBody>
          <a:bodyPr anchor="t" rtlCol="false" tIns="0" lIns="0" bIns="0" rIns="0">
            <a:spAutoFit/>
          </a:bodyPr>
          <a:lstStyle/>
          <a:p>
            <a:pPr algn="ctr">
              <a:lnSpc>
                <a:spcPts val="3079"/>
              </a:lnSpc>
            </a:pPr>
            <a:r>
              <a:rPr lang="en-US" sz="2199">
                <a:solidFill>
                  <a:srgbClr val="D1D1D1"/>
                </a:solidFill>
                <a:latin typeface="Open Sans 2"/>
                <a:ea typeface="Open Sans 2"/>
                <a:cs typeface="Open Sans 2"/>
                <a:sym typeface="Open Sans 2"/>
              </a:rPr>
              <a:t>Contraseña</a:t>
            </a:r>
          </a:p>
        </p:txBody>
      </p:sp>
      <p:sp>
        <p:nvSpPr>
          <p:cNvPr name="TextBox 38" id="38"/>
          <p:cNvSpPr txBox="true"/>
          <p:nvPr/>
        </p:nvSpPr>
        <p:spPr>
          <a:xfrm rot="0">
            <a:off x="13880543" y="7103236"/>
            <a:ext cx="1290042" cy="457820"/>
          </a:xfrm>
          <a:prstGeom prst="rect">
            <a:avLst/>
          </a:prstGeom>
        </p:spPr>
        <p:txBody>
          <a:bodyPr anchor="t" rtlCol="false" tIns="0" lIns="0" bIns="0" rIns="0">
            <a:spAutoFit/>
          </a:bodyPr>
          <a:lstStyle/>
          <a:p>
            <a:pPr algn="ctr">
              <a:lnSpc>
                <a:spcPts val="3640"/>
              </a:lnSpc>
            </a:pPr>
            <a:r>
              <a:rPr lang="en-US" sz="2600" b="true">
                <a:solidFill>
                  <a:srgbClr val="FDFEFD"/>
                </a:solidFill>
                <a:latin typeface="Cambria Bold"/>
                <a:ea typeface="Cambria Bold"/>
                <a:cs typeface="Cambria Bold"/>
                <a:sym typeface="Cambria Bold"/>
              </a:rPr>
              <a:t>Ingresar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D796">
                <a:alpha val="100000"/>
              </a:srgbClr>
            </a:gs>
            <a:gs pos="100000">
              <a:srgbClr val="CAA76D">
                <a:alpha val="100000"/>
              </a:srgbClr>
            </a:gs>
          </a:gsLst>
          <a:lin ang="0"/>
        </a:gra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420476" y="-1236904"/>
            <a:ext cx="17674073" cy="12996744"/>
          </a:xfrm>
          <a:prstGeom prst="rect">
            <a:avLst/>
          </a:prstGeom>
        </p:spPr>
      </p:pic>
      <p:sp>
        <p:nvSpPr>
          <p:cNvPr name="Freeform 3" id="3"/>
          <p:cNvSpPr/>
          <p:nvPr/>
        </p:nvSpPr>
        <p:spPr>
          <a:xfrm flipH="false" flipV="false" rot="0">
            <a:off x="2662576" y="1028700"/>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2143014" y="1636890"/>
            <a:ext cx="14235929" cy="0"/>
          </a:xfrm>
          <a:prstGeom prst="line">
            <a:avLst/>
          </a:prstGeom>
          <a:ln cap="flat" w="19050">
            <a:solidFill>
              <a:srgbClr val="8B5E3C">
                <a:alpha val="19608"/>
              </a:srgbClr>
            </a:solidFill>
            <a:prstDash val="solid"/>
            <a:headEnd type="none" len="sm" w="sm"/>
            <a:tailEnd type="none" len="sm" w="sm"/>
          </a:ln>
        </p:spPr>
      </p:sp>
      <p:sp>
        <p:nvSpPr>
          <p:cNvPr name="Freeform 5" id="5"/>
          <p:cNvSpPr/>
          <p:nvPr/>
        </p:nvSpPr>
        <p:spPr>
          <a:xfrm flipH="true" flipV="false" rot="0">
            <a:off x="14986801" y="953972"/>
            <a:ext cx="215402" cy="384647"/>
          </a:xfrm>
          <a:custGeom>
            <a:avLst/>
            <a:gdLst/>
            <a:ahLst/>
            <a:cxnLst/>
            <a:rect r="r" b="b" t="t" l="l"/>
            <a:pathLst>
              <a:path h="384647" w="215402">
                <a:moveTo>
                  <a:pt x="215402" y="0"/>
                </a:moveTo>
                <a:lnTo>
                  <a:pt x="0" y="0"/>
                </a:lnTo>
                <a:lnTo>
                  <a:pt x="0" y="384646"/>
                </a:lnTo>
                <a:lnTo>
                  <a:pt x="215402" y="384646"/>
                </a:lnTo>
                <a:lnTo>
                  <a:pt x="215402"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837419" y="953972"/>
            <a:ext cx="215402" cy="384647"/>
          </a:xfrm>
          <a:custGeom>
            <a:avLst/>
            <a:gdLst/>
            <a:ahLst/>
            <a:cxnLst/>
            <a:rect r="r" b="b" t="t" l="l"/>
            <a:pathLst>
              <a:path h="384647" w="215402">
                <a:moveTo>
                  <a:pt x="0" y="0"/>
                </a:moveTo>
                <a:lnTo>
                  <a:pt x="215403" y="0"/>
                </a:lnTo>
                <a:lnTo>
                  <a:pt x="215403" y="384646"/>
                </a:lnTo>
                <a:lnTo>
                  <a:pt x="0" y="384646"/>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2550701" y="4065948"/>
            <a:ext cx="2997482" cy="4309436"/>
            <a:chOff x="0" y="0"/>
            <a:chExt cx="3996642" cy="5745915"/>
          </a:xfrm>
        </p:grpSpPr>
        <p:grpSp>
          <p:nvGrpSpPr>
            <p:cNvPr name="Group 8" id="8"/>
            <p:cNvGrpSpPr/>
            <p:nvPr/>
          </p:nvGrpSpPr>
          <p:grpSpPr>
            <a:xfrm rot="0">
              <a:off x="0" y="0"/>
              <a:ext cx="3996642" cy="5745915"/>
              <a:chOff x="0" y="0"/>
              <a:chExt cx="980347" cy="1409431"/>
            </a:xfrm>
          </p:grpSpPr>
          <p:sp>
            <p:nvSpPr>
              <p:cNvPr name="Freeform 9" id="9"/>
              <p:cNvSpPr/>
              <p:nvPr/>
            </p:nvSpPr>
            <p:spPr>
              <a:xfrm flipH="false" flipV="false" rot="0">
                <a:off x="0" y="0"/>
                <a:ext cx="980347" cy="1409431"/>
              </a:xfrm>
              <a:custGeom>
                <a:avLst/>
                <a:gdLst/>
                <a:ahLst/>
                <a:cxnLst/>
                <a:rect r="r" b="b" t="t" l="l"/>
                <a:pathLst>
                  <a:path h="1409431" w="980347">
                    <a:moveTo>
                      <a:pt x="0" y="0"/>
                    </a:moveTo>
                    <a:lnTo>
                      <a:pt x="980347" y="0"/>
                    </a:lnTo>
                    <a:lnTo>
                      <a:pt x="980347" y="1409431"/>
                    </a:lnTo>
                    <a:lnTo>
                      <a:pt x="0" y="1409431"/>
                    </a:lnTo>
                    <a:close/>
                  </a:path>
                </a:pathLst>
              </a:custGeom>
              <a:solidFill>
                <a:srgbClr val="FFFFFF"/>
              </a:solidFill>
            </p:spPr>
          </p:sp>
          <p:sp>
            <p:nvSpPr>
              <p:cNvPr name="TextBox 10" id="10"/>
              <p:cNvSpPr txBox="true"/>
              <p:nvPr/>
            </p:nvSpPr>
            <p:spPr>
              <a:xfrm>
                <a:off x="0" y="-38100"/>
                <a:ext cx="980347" cy="1447531"/>
              </a:xfrm>
              <a:prstGeom prst="rect">
                <a:avLst/>
              </a:prstGeom>
            </p:spPr>
            <p:txBody>
              <a:bodyPr anchor="ctr" rtlCol="false" tIns="50800" lIns="50800" bIns="50800" rIns="50800"/>
              <a:lstStyle/>
              <a:p>
                <a:pPr algn="ctr">
                  <a:lnSpc>
                    <a:spcPts val="3079"/>
                  </a:lnSpc>
                </a:pPr>
              </a:p>
            </p:txBody>
          </p:sp>
        </p:grpSp>
        <p:sp>
          <p:nvSpPr>
            <p:cNvPr name="Freeform 11" id="11"/>
            <p:cNvSpPr/>
            <p:nvPr/>
          </p:nvSpPr>
          <p:spPr>
            <a:xfrm flipH="false" flipV="false" rot="0">
              <a:off x="3029880" y="0"/>
              <a:ext cx="617878" cy="1144219"/>
            </a:xfrm>
            <a:custGeom>
              <a:avLst/>
              <a:gdLst/>
              <a:ahLst/>
              <a:cxnLst/>
              <a:rect r="r" b="b" t="t" l="l"/>
              <a:pathLst>
                <a:path h="1144219" w="617878">
                  <a:moveTo>
                    <a:pt x="0" y="0"/>
                  </a:moveTo>
                  <a:lnTo>
                    <a:pt x="617878" y="0"/>
                  </a:lnTo>
                  <a:lnTo>
                    <a:pt x="617878" y="1144219"/>
                  </a:lnTo>
                  <a:lnTo>
                    <a:pt x="0" y="11442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2" id="12"/>
          <p:cNvGrpSpPr/>
          <p:nvPr/>
        </p:nvGrpSpPr>
        <p:grpSpPr>
          <a:xfrm rot="0">
            <a:off x="6034300" y="4065948"/>
            <a:ext cx="2997482" cy="4309436"/>
            <a:chOff x="0" y="0"/>
            <a:chExt cx="3996642" cy="5745915"/>
          </a:xfrm>
        </p:grpSpPr>
        <p:grpSp>
          <p:nvGrpSpPr>
            <p:cNvPr name="Group 13" id="13"/>
            <p:cNvGrpSpPr/>
            <p:nvPr/>
          </p:nvGrpSpPr>
          <p:grpSpPr>
            <a:xfrm rot="0">
              <a:off x="0" y="0"/>
              <a:ext cx="3996642" cy="5745915"/>
              <a:chOff x="0" y="0"/>
              <a:chExt cx="980347" cy="1409431"/>
            </a:xfrm>
          </p:grpSpPr>
          <p:sp>
            <p:nvSpPr>
              <p:cNvPr name="Freeform 14" id="14"/>
              <p:cNvSpPr/>
              <p:nvPr/>
            </p:nvSpPr>
            <p:spPr>
              <a:xfrm flipH="false" flipV="false" rot="0">
                <a:off x="0" y="0"/>
                <a:ext cx="980347" cy="1409431"/>
              </a:xfrm>
              <a:custGeom>
                <a:avLst/>
                <a:gdLst/>
                <a:ahLst/>
                <a:cxnLst/>
                <a:rect r="r" b="b" t="t" l="l"/>
                <a:pathLst>
                  <a:path h="1409431" w="980347">
                    <a:moveTo>
                      <a:pt x="0" y="0"/>
                    </a:moveTo>
                    <a:lnTo>
                      <a:pt x="980347" y="0"/>
                    </a:lnTo>
                    <a:lnTo>
                      <a:pt x="980347" y="1409431"/>
                    </a:lnTo>
                    <a:lnTo>
                      <a:pt x="0" y="1409431"/>
                    </a:lnTo>
                    <a:close/>
                  </a:path>
                </a:pathLst>
              </a:custGeom>
              <a:solidFill>
                <a:srgbClr val="FFFFFF"/>
              </a:solidFill>
            </p:spPr>
          </p:sp>
          <p:sp>
            <p:nvSpPr>
              <p:cNvPr name="TextBox 15" id="15"/>
              <p:cNvSpPr txBox="true"/>
              <p:nvPr/>
            </p:nvSpPr>
            <p:spPr>
              <a:xfrm>
                <a:off x="0" y="-38100"/>
                <a:ext cx="980347" cy="1447531"/>
              </a:xfrm>
              <a:prstGeom prst="rect">
                <a:avLst/>
              </a:prstGeom>
            </p:spPr>
            <p:txBody>
              <a:bodyPr anchor="ctr" rtlCol="false" tIns="50800" lIns="50800" bIns="50800" rIns="50800"/>
              <a:lstStyle/>
              <a:p>
                <a:pPr algn="ctr">
                  <a:lnSpc>
                    <a:spcPts val="3079"/>
                  </a:lnSpc>
                </a:pPr>
              </a:p>
            </p:txBody>
          </p:sp>
        </p:grpSp>
        <p:sp>
          <p:nvSpPr>
            <p:cNvPr name="Freeform 16" id="16"/>
            <p:cNvSpPr/>
            <p:nvPr/>
          </p:nvSpPr>
          <p:spPr>
            <a:xfrm flipH="false" flipV="false" rot="0">
              <a:off x="3029880" y="0"/>
              <a:ext cx="617878" cy="1144219"/>
            </a:xfrm>
            <a:custGeom>
              <a:avLst/>
              <a:gdLst/>
              <a:ahLst/>
              <a:cxnLst/>
              <a:rect r="r" b="b" t="t" l="l"/>
              <a:pathLst>
                <a:path h="1144219" w="617878">
                  <a:moveTo>
                    <a:pt x="0" y="0"/>
                  </a:moveTo>
                  <a:lnTo>
                    <a:pt x="617878" y="0"/>
                  </a:lnTo>
                  <a:lnTo>
                    <a:pt x="617878" y="1144219"/>
                  </a:lnTo>
                  <a:lnTo>
                    <a:pt x="0" y="11442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17" id="17"/>
          <p:cNvGrpSpPr/>
          <p:nvPr/>
        </p:nvGrpSpPr>
        <p:grpSpPr>
          <a:xfrm rot="0">
            <a:off x="9517900" y="4065948"/>
            <a:ext cx="2997482" cy="4309436"/>
            <a:chOff x="0" y="0"/>
            <a:chExt cx="3996642" cy="5745915"/>
          </a:xfrm>
        </p:grpSpPr>
        <p:grpSp>
          <p:nvGrpSpPr>
            <p:cNvPr name="Group 18" id="18"/>
            <p:cNvGrpSpPr/>
            <p:nvPr/>
          </p:nvGrpSpPr>
          <p:grpSpPr>
            <a:xfrm rot="0">
              <a:off x="0" y="0"/>
              <a:ext cx="3996642" cy="5745915"/>
              <a:chOff x="0" y="0"/>
              <a:chExt cx="980347" cy="1409431"/>
            </a:xfrm>
          </p:grpSpPr>
          <p:sp>
            <p:nvSpPr>
              <p:cNvPr name="Freeform 19" id="19"/>
              <p:cNvSpPr/>
              <p:nvPr/>
            </p:nvSpPr>
            <p:spPr>
              <a:xfrm flipH="false" flipV="false" rot="0">
                <a:off x="0" y="0"/>
                <a:ext cx="980347" cy="1409431"/>
              </a:xfrm>
              <a:custGeom>
                <a:avLst/>
                <a:gdLst/>
                <a:ahLst/>
                <a:cxnLst/>
                <a:rect r="r" b="b" t="t" l="l"/>
                <a:pathLst>
                  <a:path h="1409431" w="980347">
                    <a:moveTo>
                      <a:pt x="0" y="0"/>
                    </a:moveTo>
                    <a:lnTo>
                      <a:pt x="980347" y="0"/>
                    </a:lnTo>
                    <a:lnTo>
                      <a:pt x="980347" y="1409431"/>
                    </a:lnTo>
                    <a:lnTo>
                      <a:pt x="0" y="1409431"/>
                    </a:lnTo>
                    <a:close/>
                  </a:path>
                </a:pathLst>
              </a:custGeom>
              <a:solidFill>
                <a:srgbClr val="FFFFFF"/>
              </a:solidFill>
            </p:spPr>
          </p:sp>
          <p:sp>
            <p:nvSpPr>
              <p:cNvPr name="TextBox 20" id="20"/>
              <p:cNvSpPr txBox="true"/>
              <p:nvPr/>
            </p:nvSpPr>
            <p:spPr>
              <a:xfrm>
                <a:off x="0" y="-38100"/>
                <a:ext cx="980347" cy="1447531"/>
              </a:xfrm>
              <a:prstGeom prst="rect">
                <a:avLst/>
              </a:prstGeom>
            </p:spPr>
            <p:txBody>
              <a:bodyPr anchor="ctr" rtlCol="false" tIns="50800" lIns="50800" bIns="50800" rIns="50800"/>
              <a:lstStyle/>
              <a:p>
                <a:pPr algn="ctr">
                  <a:lnSpc>
                    <a:spcPts val="3079"/>
                  </a:lnSpc>
                </a:pPr>
              </a:p>
            </p:txBody>
          </p:sp>
        </p:grpSp>
        <p:sp>
          <p:nvSpPr>
            <p:cNvPr name="Freeform 21" id="21"/>
            <p:cNvSpPr/>
            <p:nvPr/>
          </p:nvSpPr>
          <p:spPr>
            <a:xfrm flipH="false" flipV="false" rot="0">
              <a:off x="3029880" y="0"/>
              <a:ext cx="617878" cy="1144219"/>
            </a:xfrm>
            <a:custGeom>
              <a:avLst/>
              <a:gdLst/>
              <a:ahLst/>
              <a:cxnLst/>
              <a:rect r="r" b="b" t="t" l="l"/>
              <a:pathLst>
                <a:path h="1144219" w="617878">
                  <a:moveTo>
                    <a:pt x="0" y="0"/>
                  </a:moveTo>
                  <a:lnTo>
                    <a:pt x="617878" y="0"/>
                  </a:lnTo>
                  <a:lnTo>
                    <a:pt x="617878" y="1144219"/>
                  </a:lnTo>
                  <a:lnTo>
                    <a:pt x="0" y="11442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22" id="22"/>
          <p:cNvGrpSpPr/>
          <p:nvPr/>
        </p:nvGrpSpPr>
        <p:grpSpPr>
          <a:xfrm rot="0">
            <a:off x="13001156" y="4065948"/>
            <a:ext cx="2997482" cy="4309436"/>
            <a:chOff x="0" y="0"/>
            <a:chExt cx="3996642" cy="5745915"/>
          </a:xfrm>
        </p:grpSpPr>
        <p:grpSp>
          <p:nvGrpSpPr>
            <p:cNvPr name="Group 23" id="23"/>
            <p:cNvGrpSpPr/>
            <p:nvPr/>
          </p:nvGrpSpPr>
          <p:grpSpPr>
            <a:xfrm rot="0">
              <a:off x="0" y="0"/>
              <a:ext cx="3996642" cy="5745915"/>
              <a:chOff x="0" y="0"/>
              <a:chExt cx="980347" cy="1409431"/>
            </a:xfrm>
          </p:grpSpPr>
          <p:sp>
            <p:nvSpPr>
              <p:cNvPr name="Freeform 24" id="24"/>
              <p:cNvSpPr/>
              <p:nvPr/>
            </p:nvSpPr>
            <p:spPr>
              <a:xfrm flipH="false" flipV="false" rot="0">
                <a:off x="0" y="0"/>
                <a:ext cx="980347" cy="1409431"/>
              </a:xfrm>
              <a:custGeom>
                <a:avLst/>
                <a:gdLst/>
                <a:ahLst/>
                <a:cxnLst/>
                <a:rect r="r" b="b" t="t" l="l"/>
                <a:pathLst>
                  <a:path h="1409431" w="980347">
                    <a:moveTo>
                      <a:pt x="0" y="0"/>
                    </a:moveTo>
                    <a:lnTo>
                      <a:pt x="980347" y="0"/>
                    </a:lnTo>
                    <a:lnTo>
                      <a:pt x="980347" y="1409431"/>
                    </a:lnTo>
                    <a:lnTo>
                      <a:pt x="0" y="1409431"/>
                    </a:lnTo>
                    <a:close/>
                  </a:path>
                </a:pathLst>
              </a:custGeom>
              <a:solidFill>
                <a:srgbClr val="FFFFFF"/>
              </a:solidFill>
            </p:spPr>
          </p:sp>
          <p:sp>
            <p:nvSpPr>
              <p:cNvPr name="TextBox 25" id="25"/>
              <p:cNvSpPr txBox="true"/>
              <p:nvPr/>
            </p:nvSpPr>
            <p:spPr>
              <a:xfrm>
                <a:off x="0" y="-38100"/>
                <a:ext cx="980347" cy="1447531"/>
              </a:xfrm>
              <a:prstGeom prst="rect">
                <a:avLst/>
              </a:prstGeom>
            </p:spPr>
            <p:txBody>
              <a:bodyPr anchor="ctr" rtlCol="false" tIns="50800" lIns="50800" bIns="50800" rIns="50800"/>
              <a:lstStyle/>
              <a:p>
                <a:pPr algn="ctr">
                  <a:lnSpc>
                    <a:spcPts val="3079"/>
                  </a:lnSpc>
                </a:pPr>
              </a:p>
            </p:txBody>
          </p:sp>
        </p:grpSp>
        <p:sp>
          <p:nvSpPr>
            <p:cNvPr name="Freeform 26" id="26"/>
            <p:cNvSpPr/>
            <p:nvPr/>
          </p:nvSpPr>
          <p:spPr>
            <a:xfrm flipH="false" flipV="false" rot="0">
              <a:off x="3029880" y="0"/>
              <a:ext cx="617878" cy="1144219"/>
            </a:xfrm>
            <a:custGeom>
              <a:avLst/>
              <a:gdLst/>
              <a:ahLst/>
              <a:cxnLst/>
              <a:rect r="r" b="b" t="t" l="l"/>
              <a:pathLst>
                <a:path h="1144219" w="617878">
                  <a:moveTo>
                    <a:pt x="0" y="0"/>
                  </a:moveTo>
                  <a:lnTo>
                    <a:pt x="617878" y="0"/>
                  </a:lnTo>
                  <a:lnTo>
                    <a:pt x="617878" y="1144219"/>
                  </a:lnTo>
                  <a:lnTo>
                    <a:pt x="0" y="11442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27" id="27"/>
          <p:cNvGrpSpPr/>
          <p:nvPr/>
        </p:nvGrpSpPr>
        <p:grpSpPr>
          <a:xfrm rot="0">
            <a:off x="2550701" y="8140220"/>
            <a:ext cx="2997482" cy="235164"/>
            <a:chOff x="0" y="0"/>
            <a:chExt cx="789460" cy="61936"/>
          </a:xfrm>
        </p:grpSpPr>
        <p:sp>
          <p:nvSpPr>
            <p:cNvPr name="Freeform 28" id="28"/>
            <p:cNvSpPr/>
            <p:nvPr/>
          </p:nvSpPr>
          <p:spPr>
            <a:xfrm flipH="false" flipV="false" rot="0">
              <a:off x="0" y="0"/>
              <a:ext cx="789460" cy="61936"/>
            </a:xfrm>
            <a:custGeom>
              <a:avLst/>
              <a:gdLst/>
              <a:ahLst/>
              <a:cxnLst/>
              <a:rect r="r" b="b" t="t" l="l"/>
              <a:pathLst>
                <a:path h="61936" w="789460">
                  <a:moveTo>
                    <a:pt x="0" y="0"/>
                  </a:moveTo>
                  <a:lnTo>
                    <a:pt x="789460" y="0"/>
                  </a:lnTo>
                  <a:lnTo>
                    <a:pt x="789460" y="61936"/>
                  </a:lnTo>
                  <a:lnTo>
                    <a:pt x="0" y="61936"/>
                  </a:lnTo>
                  <a:close/>
                </a:path>
              </a:pathLst>
            </a:custGeom>
            <a:solidFill>
              <a:srgbClr val="BB913C"/>
            </a:solidFill>
          </p:spPr>
        </p:sp>
        <p:sp>
          <p:nvSpPr>
            <p:cNvPr name="TextBox 29" id="29"/>
            <p:cNvSpPr txBox="true"/>
            <p:nvPr/>
          </p:nvSpPr>
          <p:spPr>
            <a:xfrm>
              <a:off x="0" y="-38100"/>
              <a:ext cx="789460" cy="100036"/>
            </a:xfrm>
            <a:prstGeom prst="rect">
              <a:avLst/>
            </a:prstGeom>
          </p:spPr>
          <p:txBody>
            <a:bodyPr anchor="ctr" rtlCol="false" tIns="50800" lIns="50800" bIns="50800" rIns="50800"/>
            <a:lstStyle/>
            <a:p>
              <a:pPr algn="ctr">
                <a:lnSpc>
                  <a:spcPts val="3079"/>
                </a:lnSpc>
              </a:pPr>
            </a:p>
          </p:txBody>
        </p:sp>
      </p:grpSp>
      <p:grpSp>
        <p:nvGrpSpPr>
          <p:cNvPr name="Group 30" id="30"/>
          <p:cNvGrpSpPr/>
          <p:nvPr/>
        </p:nvGrpSpPr>
        <p:grpSpPr>
          <a:xfrm rot="0">
            <a:off x="9517900" y="8140220"/>
            <a:ext cx="2997482" cy="235164"/>
            <a:chOff x="0" y="0"/>
            <a:chExt cx="789460" cy="61936"/>
          </a:xfrm>
        </p:grpSpPr>
        <p:sp>
          <p:nvSpPr>
            <p:cNvPr name="Freeform 31" id="31"/>
            <p:cNvSpPr/>
            <p:nvPr/>
          </p:nvSpPr>
          <p:spPr>
            <a:xfrm flipH="false" flipV="false" rot="0">
              <a:off x="0" y="0"/>
              <a:ext cx="789460" cy="61936"/>
            </a:xfrm>
            <a:custGeom>
              <a:avLst/>
              <a:gdLst/>
              <a:ahLst/>
              <a:cxnLst/>
              <a:rect r="r" b="b" t="t" l="l"/>
              <a:pathLst>
                <a:path h="61936" w="789460">
                  <a:moveTo>
                    <a:pt x="0" y="0"/>
                  </a:moveTo>
                  <a:lnTo>
                    <a:pt x="789460" y="0"/>
                  </a:lnTo>
                  <a:lnTo>
                    <a:pt x="789460" y="61936"/>
                  </a:lnTo>
                  <a:lnTo>
                    <a:pt x="0" y="61936"/>
                  </a:lnTo>
                  <a:close/>
                </a:path>
              </a:pathLst>
            </a:custGeom>
            <a:solidFill>
              <a:srgbClr val="BB913C"/>
            </a:solidFill>
          </p:spPr>
        </p:sp>
        <p:sp>
          <p:nvSpPr>
            <p:cNvPr name="TextBox 32" id="32"/>
            <p:cNvSpPr txBox="true"/>
            <p:nvPr/>
          </p:nvSpPr>
          <p:spPr>
            <a:xfrm>
              <a:off x="0" y="-38100"/>
              <a:ext cx="789460" cy="100036"/>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6034300" y="8140220"/>
            <a:ext cx="2997482" cy="235164"/>
            <a:chOff x="0" y="0"/>
            <a:chExt cx="789460" cy="61936"/>
          </a:xfrm>
        </p:grpSpPr>
        <p:sp>
          <p:nvSpPr>
            <p:cNvPr name="Freeform 34" id="34"/>
            <p:cNvSpPr/>
            <p:nvPr/>
          </p:nvSpPr>
          <p:spPr>
            <a:xfrm flipH="false" flipV="false" rot="0">
              <a:off x="0" y="0"/>
              <a:ext cx="789460" cy="61936"/>
            </a:xfrm>
            <a:custGeom>
              <a:avLst/>
              <a:gdLst/>
              <a:ahLst/>
              <a:cxnLst/>
              <a:rect r="r" b="b" t="t" l="l"/>
              <a:pathLst>
                <a:path h="61936" w="789460">
                  <a:moveTo>
                    <a:pt x="0" y="0"/>
                  </a:moveTo>
                  <a:lnTo>
                    <a:pt x="789460" y="0"/>
                  </a:lnTo>
                  <a:lnTo>
                    <a:pt x="789460" y="61936"/>
                  </a:lnTo>
                  <a:lnTo>
                    <a:pt x="0" y="61936"/>
                  </a:lnTo>
                  <a:close/>
                </a:path>
              </a:pathLst>
            </a:custGeom>
            <a:solidFill>
              <a:srgbClr val="5C1F2E"/>
            </a:solidFill>
          </p:spPr>
        </p:sp>
        <p:sp>
          <p:nvSpPr>
            <p:cNvPr name="TextBox 35" id="35"/>
            <p:cNvSpPr txBox="true"/>
            <p:nvPr/>
          </p:nvSpPr>
          <p:spPr>
            <a:xfrm>
              <a:off x="0" y="-38100"/>
              <a:ext cx="789460" cy="100036"/>
            </a:xfrm>
            <a:prstGeom prst="rect">
              <a:avLst/>
            </a:prstGeom>
          </p:spPr>
          <p:txBody>
            <a:bodyPr anchor="ctr" rtlCol="false" tIns="50800" lIns="50800" bIns="50800" rIns="50800"/>
            <a:lstStyle/>
            <a:p>
              <a:pPr algn="ctr">
                <a:lnSpc>
                  <a:spcPts val="3079"/>
                </a:lnSpc>
              </a:pPr>
            </a:p>
          </p:txBody>
        </p:sp>
      </p:grpSp>
      <p:grpSp>
        <p:nvGrpSpPr>
          <p:cNvPr name="Group 36" id="36"/>
          <p:cNvGrpSpPr/>
          <p:nvPr/>
        </p:nvGrpSpPr>
        <p:grpSpPr>
          <a:xfrm rot="0">
            <a:off x="12993372" y="8140220"/>
            <a:ext cx="2997482" cy="235164"/>
            <a:chOff x="0" y="0"/>
            <a:chExt cx="789460" cy="61936"/>
          </a:xfrm>
        </p:grpSpPr>
        <p:sp>
          <p:nvSpPr>
            <p:cNvPr name="Freeform 37" id="37"/>
            <p:cNvSpPr/>
            <p:nvPr/>
          </p:nvSpPr>
          <p:spPr>
            <a:xfrm flipH="false" flipV="false" rot="0">
              <a:off x="0" y="0"/>
              <a:ext cx="789460" cy="61936"/>
            </a:xfrm>
            <a:custGeom>
              <a:avLst/>
              <a:gdLst/>
              <a:ahLst/>
              <a:cxnLst/>
              <a:rect r="r" b="b" t="t" l="l"/>
              <a:pathLst>
                <a:path h="61936" w="789460">
                  <a:moveTo>
                    <a:pt x="0" y="0"/>
                  </a:moveTo>
                  <a:lnTo>
                    <a:pt x="789460" y="0"/>
                  </a:lnTo>
                  <a:lnTo>
                    <a:pt x="789460" y="61936"/>
                  </a:lnTo>
                  <a:lnTo>
                    <a:pt x="0" y="61936"/>
                  </a:lnTo>
                  <a:close/>
                </a:path>
              </a:pathLst>
            </a:custGeom>
            <a:solidFill>
              <a:srgbClr val="5C1F2E"/>
            </a:solidFill>
          </p:spPr>
        </p:sp>
        <p:sp>
          <p:nvSpPr>
            <p:cNvPr name="TextBox 38" id="38"/>
            <p:cNvSpPr txBox="true"/>
            <p:nvPr/>
          </p:nvSpPr>
          <p:spPr>
            <a:xfrm>
              <a:off x="0" y="-38100"/>
              <a:ext cx="789460" cy="100036"/>
            </a:xfrm>
            <a:prstGeom prst="rect">
              <a:avLst/>
            </a:prstGeom>
          </p:spPr>
          <p:txBody>
            <a:bodyPr anchor="ctr" rtlCol="false" tIns="50800" lIns="50800" bIns="50800" rIns="50800"/>
            <a:lstStyle/>
            <a:p>
              <a:pPr algn="ctr">
                <a:lnSpc>
                  <a:spcPts val="3079"/>
                </a:lnSpc>
              </a:pPr>
            </a:p>
          </p:txBody>
        </p:sp>
      </p:grpSp>
      <p:sp>
        <p:nvSpPr>
          <p:cNvPr name="TextBox 39" id="39"/>
          <p:cNvSpPr txBox="true"/>
          <p:nvPr/>
        </p:nvSpPr>
        <p:spPr>
          <a:xfrm rot="0">
            <a:off x="8164890" y="2300661"/>
            <a:ext cx="2185243" cy="946137"/>
          </a:xfrm>
          <a:prstGeom prst="rect">
            <a:avLst/>
          </a:prstGeom>
        </p:spPr>
        <p:txBody>
          <a:bodyPr anchor="t" rtlCol="false" tIns="0" lIns="0" bIns="0" rIns="0">
            <a:spAutoFit/>
          </a:bodyPr>
          <a:lstStyle/>
          <a:p>
            <a:pPr algn="ctr">
              <a:lnSpc>
                <a:spcPts val="7700"/>
              </a:lnSpc>
            </a:pPr>
            <a:r>
              <a:rPr lang="en-US" sz="5500">
                <a:solidFill>
                  <a:srgbClr val="000000"/>
                </a:solidFill>
                <a:latin typeface="Cambria"/>
                <a:ea typeface="Cambria"/>
                <a:cs typeface="Cambria"/>
                <a:sym typeface="Cambria"/>
              </a:rPr>
              <a:t>ÍNDICE</a:t>
            </a:r>
          </a:p>
        </p:txBody>
      </p:sp>
      <p:sp>
        <p:nvSpPr>
          <p:cNvPr name="TextBox 40" id="40"/>
          <p:cNvSpPr txBox="true"/>
          <p:nvPr/>
        </p:nvSpPr>
        <p:spPr>
          <a:xfrm rot="0">
            <a:off x="3904895" y="4268090"/>
            <a:ext cx="164306" cy="629919"/>
          </a:xfrm>
          <a:prstGeom prst="rect">
            <a:avLst/>
          </a:prstGeom>
        </p:spPr>
        <p:txBody>
          <a:bodyPr anchor="t" rtlCol="false" tIns="0" lIns="0" bIns="0" rIns="0">
            <a:spAutoFit/>
          </a:bodyPr>
          <a:lstStyle/>
          <a:p>
            <a:pPr algn="ctr">
              <a:lnSpc>
                <a:spcPts val="5180"/>
              </a:lnSpc>
            </a:pPr>
            <a:r>
              <a:rPr lang="en-US" sz="3700" b="true">
                <a:solidFill>
                  <a:srgbClr val="000000"/>
                </a:solidFill>
                <a:latin typeface="Cambria Bold"/>
                <a:ea typeface="Cambria Bold"/>
                <a:cs typeface="Cambria Bold"/>
                <a:sym typeface="Cambria Bold"/>
              </a:rPr>
              <a:t>I</a:t>
            </a:r>
          </a:p>
        </p:txBody>
      </p:sp>
      <p:sp>
        <p:nvSpPr>
          <p:cNvPr name="TextBox 41" id="41"/>
          <p:cNvSpPr txBox="true"/>
          <p:nvPr/>
        </p:nvSpPr>
        <p:spPr>
          <a:xfrm rot="0">
            <a:off x="7368735" y="4268090"/>
            <a:ext cx="328612" cy="629919"/>
          </a:xfrm>
          <a:prstGeom prst="rect">
            <a:avLst/>
          </a:prstGeom>
        </p:spPr>
        <p:txBody>
          <a:bodyPr anchor="t" rtlCol="false" tIns="0" lIns="0" bIns="0" rIns="0">
            <a:spAutoFit/>
          </a:bodyPr>
          <a:lstStyle/>
          <a:p>
            <a:pPr algn="ctr">
              <a:lnSpc>
                <a:spcPts val="5180"/>
              </a:lnSpc>
            </a:pPr>
            <a:r>
              <a:rPr lang="en-US" sz="3700" b="true">
                <a:solidFill>
                  <a:srgbClr val="000000"/>
                </a:solidFill>
                <a:latin typeface="Cambria Bold"/>
                <a:ea typeface="Cambria Bold"/>
                <a:cs typeface="Cambria Bold"/>
                <a:sym typeface="Cambria Bold"/>
              </a:rPr>
              <a:t>II</a:t>
            </a:r>
          </a:p>
        </p:txBody>
      </p:sp>
      <p:sp>
        <p:nvSpPr>
          <p:cNvPr name="TextBox 42" id="42"/>
          <p:cNvSpPr txBox="true"/>
          <p:nvPr/>
        </p:nvSpPr>
        <p:spPr>
          <a:xfrm rot="0">
            <a:off x="10770181" y="4268090"/>
            <a:ext cx="492919" cy="629919"/>
          </a:xfrm>
          <a:prstGeom prst="rect">
            <a:avLst/>
          </a:prstGeom>
        </p:spPr>
        <p:txBody>
          <a:bodyPr anchor="t" rtlCol="false" tIns="0" lIns="0" bIns="0" rIns="0">
            <a:spAutoFit/>
          </a:bodyPr>
          <a:lstStyle/>
          <a:p>
            <a:pPr algn="ctr">
              <a:lnSpc>
                <a:spcPts val="5180"/>
              </a:lnSpc>
            </a:pPr>
            <a:r>
              <a:rPr lang="en-US" sz="3700" b="true">
                <a:solidFill>
                  <a:srgbClr val="000000"/>
                </a:solidFill>
                <a:latin typeface="Cambria Bold"/>
                <a:ea typeface="Cambria Bold"/>
                <a:cs typeface="Cambria Bold"/>
                <a:sym typeface="Cambria Bold"/>
              </a:rPr>
              <a:t>III</a:t>
            </a:r>
          </a:p>
        </p:txBody>
      </p:sp>
      <p:sp>
        <p:nvSpPr>
          <p:cNvPr name="TextBox 43" id="43"/>
          <p:cNvSpPr txBox="true"/>
          <p:nvPr/>
        </p:nvSpPr>
        <p:spPr>
          <a:xfrm rot="0">
            <a:off x="14284224" y="4268090"/>
            <a:ext cx="462409" cy="629919"/>
          </a:xfrm>
          <a:prstGeom prst="rect">
            <a:avLst/>
          </a:prstGeom>
        </p:spPr>
        <p:txBody>
          <a:bodyPr anchor="t" rtlCol="false" tIns="0" lIns="0" bIns="0" rIns="0">
            <a:spAutoFit/>
          </a:bodyPr>
          <a:lstStyle/>
          <a:p>
            <a:pPr algn="ctr">
              <a:lnSpc>
                <a:spcPts val="5180"/>
              </a:lnSpc>
            </a:pPr>
            <a:r>
              <a:rPr lang="en-US" sz="3700" b="true">
                <a:solidFill>
                  <a:srgbClr val="000000"/>
                </a:solidFill>
                <a:latin typeface="Cambria Bold"/>
                <a:ea typeface="Cambria Bold"/>
                <a:cs typeface="Cambria Bold"/>
                <a:sym typeface="Cambria Bold"/>
              </a:rPr>
              <a:t>IV</a:t>
            </a:r>
          </a:p>
        </p:txBody>
      </p:sp>
      <p:sp>
        <p:nvSpPr>
          <p:cNvPr name="TextBox 44" id="44"/>
          <p:cNvSpPr txBox="true"/>
          <p:nvPr/>
        </p:nvSpPr>
        <p:spPr>
          <a:xfrm rot="0">
            <a:off x="2768186" y="5738701"/>
            <a:ext cx="2602030" cy="481965"/>
          </a:xfrm>
          <a:prstGeom prst="rect">
            <a:avLst/>
          </a:prstGeom>
        </p:spPr>
        <p:txBody>
          <a:bodyPr anchor="t" rtlCol="false" tIns="0" lIns="0" bIns="0" rIns="0">
            <a:spAutoFit/>
          </a:bodyPr>
          <a:lstStyle/>
          <a:p>
            <a:pPr algn="l">
              <a:lnSpc>
                <a:spcPts val="4200"/>
              </a:lnSpc>
            </a:pPr>
            <a:r>
              <a:rPr lang="en-US" sz="2100" i="true">
                <a:solidFill>
                  <a:srgbClr val="A0611E"/>
                </a:solidFill>
                <a:latin typeface="Open Sans 2 Italics"/>
                <a:ea typeface="Open Sans 2 Italics"/>
                <a:cs typeface="Open Sans 2 Italics"/>
                <a:sym typeface="Open Sans 2 Italics"/>
              </a:rPr>
              <a:t>¿Por qué nace LibrIA?</a:t>
            </a:r>
          </a:p>
        </p:txBody>
      </p:sp>
      <p:sp>
        <p:nvSpPr>
          <p:cNvPr name="TextBox 45" id="45"/>
          <p:cNvSpPr txBox="true"/>
          <p:nvPr/>
        </p:nvSpPr>
        <p:spPr>
          <a:xfrm rot="0">
            <a:off x="3226694" y="5162703"/>
            <a:ext cx="1426518" cy="43180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El Origen</a:t>
            </a:r>
          </a:p>
        </p:txBody>
      </p:sp>
      <p:sp>
        <p:nvSpPr>
          <p:cNvPr name="TextBox 46" id="46"/>
          <p:cNvSpPr txBox="true"/>
          <p:nvPr/>
        </p:nvSpPr>
        <p:spPr>
          <a:xfrm rot="0">
            <a:off x="6635087" y="5162703"/>
            <a:ext cx="1795909" cy="43180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La Solución</a:t>
            </a:r>
          </a:p>
        </p:txBody>
      </p:sp>
      <p:sp>
        <p:nvSpPr>
          <p:cNvPr name="TextBox 47" id="47"/>
          <p:cNvSpPr txBox="true"/>
          <p:nvPr/>
        </p:nvSpPr>
        <p:spPr>
          <a:xfrm rot="0">
            <a:off x="9883675" y="5124603"/>
            <a:ext cx="2145778" cy="43180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El Análisis</a:t>
            </a:r>
          </a:p>
        </p:txBody>
      </p:sp>
      <p:sp>
        <p:nvSpPr>
          <p:cNvPr name="TextBox 48" id="48"/>
          <p:cNvSpPr txBox="true"/>
          <p:nvPr/>
        </p:nvSpPr>
        <p:spPr>
          <a:xfrm rot="0">
            <a:off x="13147704" y="5124603"/>
            <a:ext cx="2735448" cy="43180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Demostración</a:t>
            </a:r>
          </a:p>
        </p:txBody>
      </p:sp>
      <p:sp>
        <p:nvSpPr>
          <p:cNvPr name="TextBox 49" id="49"/>
          <p:cNvSpPr txBox="true"/>
          <p:nvPr/>
        </p:nvSpPr>
        <p:spPr>
          <a:xfrm rot="0">
            <a:off x="2708310" y="6487366"/>
            <a:ext cx="2602030" cy="55244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Introducción, contexto y problematica</a:t>
            </a:r>
          </a:p>
        </p:txBody>
      </p:sp>
      <p:sp>
        <p:nvSpPr>
          <p:cNvPr name="TextBox 50" id="50"/>
          <p:cNvSpPr txBox="true"/>
          <p:nvPr/>
        </p:nvSpPr>
        <p:spPr>
          <a:xfrm rot="0">
            <a:off x="6352809" y="5738701"/>
            <a:ext cx="2602030" cy="481965"/>
          </a:xfrm>
          <a:prstGeom prst="rect">
            <a:avLst/>
          </a:prstGeom>
        </p:spPr>
        <p:txBody>
          <a:bodyPr anchor="t" rtlCol="false" tIns="0" lIns="0" bIns="0" rIns="0">
            <a:spAutoFit/>
          </a:bodyPr>
          <a:lstStyle/>
          <a:p>
            <a:pPr algn="l">
              <a:lnSpc>
                <a:spcPts val="4200"/>
              </a:lnSpc>
            </a:pPr>
            <a:r>
              <a:rPr lang="en-US" sz="2100" i="true">
                <a:solidFill>
                  <a:srgbClr val="A0611E"/>
                </a:solidFill>
                <a:latin typeface="Open Sans 2 Italics"/>
                <a:ea typeface="Open Sans 2 Italics"/>
                <a:cs typeface="Open Sans 2 Italics"/>
                <a:sym typeface="Open Sans 2 Italics"/>
              </a:rPr>
              <a:t>¿Cómo cobra vida?</a:t>
            </a:r>
          </a:p>
        </p:txBody>
      </p:sp>
      <p:sp>
        <p:nvSpPr>
          <p:cNvPr name="TextBox 51" id="51"/>
          <p:cNvSpPr txBox="true"/>
          <p:nvPr/>
        </p:nvSpPr>
        <p:spPr>
          <a:xfrm rot="0">
            <a:off x="6239595" y="6487366"/>
            <a:ext cx="2602030" cy="55244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Solución, metodología, roles y arquitectura</a:t>
            </a:r>
          </a:p>
        </p:txBody>
      </p:sp>
      <p:sp>
        <p:nvSpPr>
          <p:cNvPr name="TextBox 52" id="52"/>
          <p:cNvSpPr txBox="true"/>
          <p:nvPr/>
        </p:nvSpPr>
        <p:spPr>
          <a:xfrm rot="0">
            <a:off x="9758857" y="5738701"/>
            <a:ext cx="2602030" cy="481965"/>
          </a:xfrm>
          <a:prstGeom prst="rect">
            <a:avLst/>
          </a:prstGeom>
        </p:spPr>
        <p:txBody>
          <a:bodyPr anchor="t" rtlCol="false" tIns="0" lIns="0" bIns="0" rIns="0">
            <a:spAutoFit/>
          </a:bodyPr>
          <a:lstStyle/>
          <a:p>
            <a:pPr algn="l">
              <a:lnSpc>
                <a:spcPts val="4200"/>
              </a:lnSpc>
            </a:pPr>
            <a:r>
              <a:rPr lang="en-US" sz="2100" i="true">
                <a:solidFill>
                  <a:srgbClr val="A0611E"/>
                </a:solidFill>
                <a:latin typeface="Open Sans 2 Italics"/>
                <a:ea typeface="Open Sans 2 Italics"/>
                <a:cs typeface="Open Sans 2 Italics"/>
                <a:sym typeface="Open Sans 2 Italics"/>
              </a:rPr>
              <a:t>¿Es factible y segura?</a:t>
            </a:r>
          </a:p>
        </p:txBody>
      </p:sp>
      <p:sp>
        <p:nvSpPr>
          <p:cNvPr name="TextBox 53" id="53"/>
          <p:cNvSpPr txBox="true"/>
          <p:nvPr/>
        </p:nvSpPr>
        <p:spPr>
          <a:xfrm rot="0">
            <a:off x="9708800" y="6487366"/>
            <a:ext cx="2615339" cy="55244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Factibilidad, riesgos, </a:t>
            </a:r>
          </a:p>
          <a:p>
            <a:pPr algn="ctr">
              <a:lnSpc>
                <a:spcPts val="2250"/>
              </a:lnSpc>
            </a:pPr>
            <a:r>
              <a:rPr lang="en-US" sz="1500" i="true">
                <a:solidFill>
                  <a:srgbClr val="000000"/>
                </a:solidFill>
                <a:latin typeface="Open Sans 2 Italics"/>
                <a:ea typeface="Open Sans 2 Italics"/>
                <a:cs typeface="Open Sans 2 Italics"/>
                <a:sym typeface="Open Sans 2 Italics"/>
              </a:rPr>
              <a:t>seguridad y negocio</a:t>
            </a:r>
          </a:p>
        </p:txBody>
      </p:sp>
      <p:sp>
        <p:nvSpPr>
          <p:cNvPr name="TextBox 54" id="54"/>
          <p:cNvSpPr txBox="true"/>
          <p:nvPr/>
        </p:nvSpPr>
        <p:spPr>
          <a:xfrm rot="0">
            <a:off x="13572553" y="5742643"/>
            <a:ext cx="1992255" cy="481965"/>
          </a:xfrm>
          <a:prstGeom prst="rect">
            <a:avLst/>
          </a:prstGeom>
        </p:spPr>
        <p:txBody>
          <a:bodyPr anchor="t" rtlCol="false" tIns="0" lIns="0" bIns="0" rIns="0">
            <a:spAutoFit/>
          </a:bodyPr>
          <a:lstStyle/>
          <a:p>
            <a:pPr algn="l">
              <a:lnSpc>
                <a:spcPts val="4200"/>
              </a:lnSpc>
            </a:pPr>
            <a:r>
              <a:rPr lang="en-US" sz="2100" i="true">
                <a:solidFill>
                  <a:srgbClr val="A0611E"/>
                </a:solidFill>
                <a:latin typeface="Open Sans 2 Italics"/>
                <a:ea typeface="Open Sans 2 Italics"/>
                <a:cs typeface="Open Sans 2 Italics"/>
                <a:sym typeface="Open Sans 2 Italics"/>
              </a:rPr>
              <a:t>¿Como se verá?</a:t>
            </a:r>
          </a:p>
        </p:txBody>
      </p:sp>
      <p:sp>
        <p:nvSpPr>
          <p:cNvPr name="TextBox 55" id="55"/>
          <p:cNvSpPr txBox="true"/>
          <p:nvPr/>
        </p:nvSpPr>
        <p:spPr>
          <a:xfrm rot="0">
            <a:off x="13210706" y="6538933"/>
            <a:ext cx="2602030" cy="83819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Mockup (demo), relevancia, competencias y </a:t>
            </a:r>
          </a:p>
          <a:p>
            <a:pPr algn="ctr">
              <a:lnSpc>
                <a:spcPts val="2250"/>
              </a:lnSpc>
            </a:pPr>
            <a:r>
              <a:rPr lang="en-US" sz="1500" i="true">
                <a:solidFill>
                  <a:srgbClr val="000000"/>
                </a:solidFill>
                <a:latin typeface="Open Sans 2 Italics"/>
                <a:ea typeface="Open Sans 2 Italics"/>
                <a:cs typeface="Open Sans 2 Italics"/>
                <a:sym typeface="Open Sans 2 Italics"/>
              </a:rPr>
              <a:t>conclusión</a:t>
            </a:r>
          </a:p>
        </p:txBody>
      </p:sp>
      <p:sp>
        <p:nvSpPr>
          <p:cNvPr name="AutoShape 56" id="56"/>
          <p:cNvSpPr/>
          <p:nvPr/>
        </p:nvSpPr>
        <p:spPr>
          <a:xfrm>
            <a:off x="2792743" y="7633539"/>
            <a:ext cx="2565282" cy="0"/>
          </a:xfrm>
          <a:prstGeom prst="line">
            <a:avLst/>
          </a:prstGeom>
          <a:ln cap="flat" w="38100">
            <a:solidFill>
              <a:srgbClr val="8B5E3C">
                <a:alpha val="33725"/>
              </a:srgbClr>
            </a:solidFill>
            <a:prstDash val="solid"/>
            <a:headEnd type="none" len="sm" w="sm"/>
            <a:tailEnd type="none" len="sm" w="sm"/>
          </a:ln>
        </p:spPr>
      </p:sp>
      <p:sp>
        <p:nvSpPr>
          <p:cNvPr name="Freeform 57" id="57"/>
          <p:cNvSpPr/>
          <p:nvPr/>
        </p:nvSpPr>
        <p:spPr>
          <a:xfrm flipH="false" flipV="false" rot="0">
            <a:off x="2768186" y="7775174"/>
            <a:ext cx="244576" cy="244576"/>
          </a:xfrm>
          <a:custGeom>
            <a:avLst/>
            <a:gdLst/>
            <a:ahLst/>
            <a:cxnLst/>
            <a:rect r="r" b="b" t="t" l="l"/>
            <a:pathLst>
              <a:path h="244576" w="244576">
                <a:moveTo>
                  <a:pt x="0" y="0"/>
                </a:moveTo>
                <a:lnTo>
                  <a:pt x="244575" y="0"/>
                </a:lnTo>
                <a:lnTo>
                  <a:pt x="244575" y="244576"/>
                </a:lnTo>
                <a:lnTo>
                  <a:pt x="0" y="2445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8" id="58"/>
          <p:cNvSpPr/>
          <p:nvPr/>
        </p:nvSpPr>
        <p:spPr>
          <a:xfrm flipH="false" flipV="false" rot="0">
            <a:off x="4118505" y="7814514"/>
            <a:ext cx="205236" cy="205236"/>
          </a:xfrm>
          <a:custGeom>
            <a:avLst/>
            <a:gdLst/>
            <a:ahLst/>
            <a:cxnLst/>
            <a:rect r="r" b="b" t="t" l="l"/>
            <a:pathLst>
              <a:path h="205236" w="205236">
                <a:moveTo>
                  <a:pt x="0" y="0"/>
                </a:moveTo>
                <a:lnTo>
                  <a:pt x="205236" y="0"/>
                </a:lnTo>
                <a:lnTo>
                  <a:pt x="205236" y="205236"/>
                </a:lnTo>
                <a:lnTo>
                  <a:pt x="0" y="2052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9" id="59"/>
          <p:cNvSpPr txBox="true"/>
          <p:nvPr/>
        </p:nvSpPr>
        <p:spPr>
          <a:xfrm rot="0">
            <a:off x="3070081" y="7834566"/>
            <a:ext cx="532457"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Páginas: 3</a:t>
            </a:r>
          </a:p>
        </p:txBody>
      </p:sp>
      <p:sp>
        <p:nvSpPr>
          <p:cNvPr name="TextBox 60" id="60"/>
          <p:cNvSpPr txBox="true"/>
          <p:nvPr/>
        </p:nvSpPr>
        <p:spPr>
          <a:xfrm rot="0">
            <a:off x="4371366" y="7834566"/>
            <a:ext cx="986660"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Tiempo: 2 minutos</a:t>
            </a:r>
          </a:p>
        </p:txBody>
      </p:sp>
      <p:sp>
        <p:nvSpPr>
          <p:cNvPr name="AutoShape 61" id="61"/>
          <p:cNvSpPr/>
          <p:nvPr/>
        </p:nvSpPr>
        <p:spPr>
          <a:xfrm>
            <a:off x="6295392" y="7652589"/>
            <a:ext cx="2565282" cy="0"/>
          </a:xfrm>
          <a:prstGeom prst="line">
            <a:avLst/>
          </a:prstGeom>
          <a:ln cap="flat" w="38100">
            <a:solidFill>
              <a:srgbClr val="8B5E3C">
                <a:alpha val="33725"/>
              </a:srgbClr>
            </a:solidFill>
            <a:prstDash val="solid"/>
            <a:headEnd type="none" len="sm" w="sm"/>
            <a:tailEnd type="none" len="sm" w="sm"/>
          </a:ln>
        </p:spPr>
      </p:sp>
      <p:sp>
        <p:nvSpPr>
          <p:cNvPr name="Freeform 62" id="62"/>
          <p:cNvSpPr/>
          <p:nvPr/>
        </p:nvSpPr>
        <p:spPr>
          <a:xfrm flipH="false" flipV="false" rot="0">
            <a:off x="6295392" y="7814514"/>
            <a:ext cx="244576" cy="244576"/>
          </a:xfrm>
          <a:custGeom>
            <a:avLst/>
            <a:gdLst/>
            <a:ahLst/>
            <a:cxnLst/>
            <a:rect r="r" b="b" t="t" l="l"/>
            <a:pathLst>
              <a:path h="244576" w="244576">
                <a:moveTo>
                  <a:pt x="0" y="0"/>
                </a:moveTo>
                <a:lnTo>
                  <a:pt x="244576" y="0"/>
                </a:lnTo>
                <a:lnTo>
                  <a:pt x="244576" y="244576"/>
                </a:lnTo>
                <a:lnTo>
                  <a:pt x="0" y="24457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3" id="63"/>
          <p:cNvSpPr txBox="true"/>
          <p:nvPr/>
        </p:nvSpPr>
        <p:spPr>
          <a:xfrm rot="0">
            <a:off x="6561915" y="7853616"/>
            <a:ext cx="971127"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Páginas: 6 páginas</a:t>
            </a:r>
          </a:p>
        </p:txBody>
      </p:sp>
      <p:sp>
        <p:nvSpPr>
          <p:cNvPr name="AutoShape 64" id="64"/>
          <p:cNvSpPr/>
          <p:nvPr/>
        </p:nvSpPr>
        <p:spPr>
          <a:xfrm>
            <a:off x="9758857" y="7640459"/>
            <a:ext cx="2565282" cy="0"/>
          </a:xfrm>
          <a:prstGeom prst="line">
            <a:avLst/>
          </a:prstGeom>
          <a:ln cap="flat" w="38100">
            <a:solidFill>
              <a:srgbClr val="8B5E3C">
                <a:alpha val="33725"/>
              </a:srgbClr>
            </a:solidFill>
            <a:prstDash val="solid"/>
            <a:headEnd type="none" len="sm" w="sm"/>
            <a:tailEnd type="none" len="sm" w="sm"/>
          </a:ln>
        </p:spPr>
      </p:sp>
      <p:sp>
        <p:nvSpPr>
          <p:cNvPr name="Freeform 65" id="65"/>
          <p:cNvSpPr/>
          <p:nvPr/>
        </p:nvSpPr>
        <p:spPr>
          <a:xfrm flipH="false" flipV="false" rot="0">
            <a:off x="9758857" y="7802384"/>
            <a:ext cx="244576" cy="244576"/>
          </a:xfrm>
          <a:custGeom>
            <a:avLst/>
            <a:gdLst/>
            <a:ahLst/>
            <a:cxnLst/>
            <a:rect r="r" b="b" t="t" l="l"/>
            <a:pathLst>
              <a:path h="244576" w="244576">
                <a:moveTo>
                  <a:pt x="0" y="0"/>
                </a:moveTo>
                <a:lnTo>
                  <a:pt x="244575" y="0"/>
                </a:lnTo>
                <a:lnTo>
                  <a:pt x="244575" y="244576"/>
                </a:lnTo>
                <a:lnTo>
                  <a:pt x="0" y="2445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66" id="66"/>
          <p:cNvSpPr txBox="true"/>
          <p:nvPr/>
        </p:nvSpPr>
        <p:spPr>
          <a:xfrm rot="0">
            <a:off x="10032007" y="7841485"/>
            <a:ext cx="971127"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Páginas: 4 páginas</a:t>
            </a:r>
          </a:p>
        </p:txBody>
      </p:sp>
      <p:sp>
        <p:nvSpPr>
          <p:cNvPr name="TextBox 67" id="67"/>
          <p:cNvSpPr txBox="true"/>
          <p:nvPr/>
        </p:nvSpPr>
        <p:spPr>
          <a:xfrm rot="0">
            <a:off x="11337479" y="7842105"/>
            <a:ext cx="986660"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Tiempo: 3 minutos</a:t>
            </a:r>
          </a:p>
        </p:txBody>
      </p:sp>
      <p:sp>
        <p:nvSpPr>
          <p:cNvPr name="AutoShape 68" id="68"/>
          <p:cNvSpPr/>
          <p:nvPr/>
        </p:nvSpPr>
        <p:spPr>
          <a:xfrm>
            <a:off x="13248130" y="7652589"/>
            <a:ext cx="2565282" cy="0"/>
          </a:xfrm>
          <a:prstGeom prst="line">
            <a:avLst/>
          </a:prstGeom>
          <a:ln cap="flat" w="38100">
            <a:solidFill>
              <a:srgbClr val="8B5E3C">
                <a:alpha val="33725"/>
              </a:srgbClr>
            </a:solidFill>
            <a:prstDash val="solid"/>
            <a:headEnd type="none" len="sm" w="sm"/>
            <a:tailEnd type="none" len="sm" w="sm"/>
          </a:ln>
        </p:spPr>
      </p:sp>
      <p:sp>
        <p:nvSpPr>
          <p:cNvPr name="Freeform 69" id="69"/>
          <p:cNvSpPr/>
          <p:nvPr/>
        </p:nvSpPr>
        <p:spPr>
          <a:xfrm flipH="false" flipV="false" rot="0">
            <a:off x="13248130" y="7814514"/>
            <a:ext cx="244576" cy="244576"/>
          </a:xfrm>
          <a:custGeom>
            <a:avLst/>
            <a:gdLst/>
            <a:ahLst/>
            <a:cxnLst/>
            <a:rect r="r" b="b" t="t" l="l"/>
            <a:pathLst>
              <a:path h="244576" w="244576">
                <a:moveTo>
                  <a:pt x="0" y="0"/>
                </a:moveTo>
                <a:lnTo>
                  <a:pt x="244576" y="0"/>
                </a:lnTo>
                <a:lnTo>
                  <a:pt x="244576" y="244576"/>
                </a:lnTo>
                <a:lnTo>
                  <a:pt x="0" y="24457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70" id="70"/>
          <p:cNvSpPr txBox="true"/>
          <p:nvPr/>
        </p:nvSpPr>
        <p:spPr>
          <a:xfrm rot="0">
            <a:off x="13511756" y="7853616"/>
            <a:ext cx="971127"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Páginas: 4 páginas</a:t>
            </a:r>
          </a:p>
        </p:txBody>
      </p:sp>
      <p:sp>
        <p:nvSpPr>
          <p:cNvPr name="Freeform 71" id="71"/>
          <p:cNvSpPr/>
          <p:nvPr/>
        </p:nvSpPr>
        <p:spPr>
          <a:xfrm flipH="false" flipV="false" rot="0">
            <a:off x="7620077" y="7834184"/>
            <a:ext cx="205236" cy="205236"/>
          </a:xfrm>
          <a:custGeom>
            <a:avLst/>
            <a:gdLst/>
            <a:ahLst/>
            <a:cxnLst/>
            <a:rect r="r" b="b" t="t" l="l"/>
            <a:pathLst>
              <a:path h="205236" w="205236">
                <a:moveTo>
                  <a:pt x="0" y="0"/>
                </a:moveTo>
                <a:lnTo>
                  <a:pt x="205235" y="0"/>
                </a:lnTo>
                <a:lnTo>
                  <a:pt x="205235" y="205236"/>
                </a:lnTo>
                <a:lnTo>
                  <a:pt x="0" y="20523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72" id="72"/>
          <p:cNvSpPr txBox="true"/>
          <p:nvPr/>
        </p:nvSpPr>
        <p:spPr>
          <a:xfrm rot="0">
            <a:off x="7872937" y="7854235"/>
            <a:ext cx="986660"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Tiempo: 3 minutos</a:t>
            </a:r>
          </a:p>
        </p:txBody>
      </p:sp>
      <p:sp>
        <p:nvSpPr>
          <p:cNvPr name="Freeform 73" id="73"/>
          <p:cNvSpPr/>
          <p:nvPr/>
        </p:nvSpPr>
        <p:spPr>
          <a:xfrm flipH="false" flipV="false" rot="0">
            <a:off x="11084618" y="7822054"/>
            <a:ext cx="205236" cy="205236"/>
          </a:xfrm>
          <a:custGeom>
            <a:avLst/>
            <a:gdLst/>
            <a:ahLst/>
            <a:cxnLst/>
            <a:rect r="r" b="b" t="t" l="l"/>
            <a:pathLst>
              <a:path h="205236" w="205236">
                <a:moveTo>
                  <a:pt x="0" y="0"/>
                </a:moveTo>
                <a:lnTo>
                  <a:pt x="205236" y="0"/>
                </a:lnTo>
                <a:lnTo>
                  <a:pt x="205236" y="205236"/>
                </a:lnTo>
                <a:lnTo>
                  <a:pt x="0" y="2052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74" id="74"/>
          <p:cNvSpPr/>
          <p:nvPr/>
        </p:nvSpPr>
        <p:spPr>
          <a:xfrm flipH="false" flipV="false" rot="0">
            <a:off x="14573892" y="7822054"/>
            <a:ext cx="205236" cy="205236"/>
          </a:xfrm>
          <a:custGeom>
            <a:avLst/>
            <a:gdLst/>
            <a:ahLst/>
            <a:cxnLst/>
            <a:rect r="r" b="b" t="t" l="l"/>
            <a:pathLst>
              <a:path h="205236" w="205236">
                <a:moveTo>
                  <a:pt x="0" y="0"/>
                </a:moveTo>
                <a:lnTo>
                  <a:pt x="205236" y="0"/>
                </a:lnTo>
                <a:lnTo>
                  <a:pt x="205236" y="205236"/>
                </a:lnTo>
                <a:lnTo>
                  <a:pt x="0" y="20523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75" id="75"/>
          <p:cNvSpPr txBox="true"/>
          <p:nvPr/>
        </p:nvSpPr>
        <p:spPr>
          <a:xfrm rot="0">
            <a:off x="14826753" y="7842105"/>
            <a:ext cx="986660" cy="147323"/>
          </a:xfrm>
          <a:prstGeom prst="rect">
            <a:avLst/>
          </a:prstGeom>
        </p:spPr>
        <p:txBody>
          <a:bodyPr anchor="t" rtlCol="false" tIns="0" lIns="0" bIns="0" rIns="0">
            <a:spAutoFit/>
          </a:bodyPr>
          <a:lstStyle/>
          <a:p>
            <a:pPr algn="ctr">
              <a:lnSpc>
                <a:spcPts val="1247"/>
              </a:lnSpc>
            </a:pPr>
            <a:r>
              <a:rPr lang="en-US" sz="891">
                <a:solidFill>
                  <a:srgbClr val="000000"/>
                </a:solidFill>
                <a:latin typeface="Open Sans 1"/>
                <a:ea typeface="Open Sans 1"/>
                <a:cs typeface="Open Sans 1"/>
                <a:sym typeface="Open Sans 1"/>
              </a:rPr>
              <a:t>Tiempo: 2 minutos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sp>
        <p:nvSpPr>
          <p:cNvPr name="AutoShape 2" id="2"/>
          <p:cNvSpPr/>
          <p:nvPr/>
        </p:nvSpPr>
        <p:spPr>
          <a:xfrm flipV="true">
            <a:off x="9144000" y="2647780"/>
            <a:ext cx="0" cy="7206380"/>
          </a:xfrm>
          <a:prstGeom prst="line">
            <a:avLst/>
          </a:prstGeom>
          <a:ln cap="flat" w="38100">
            <a:solidFill>
              <a:srgbClr val="EDE0CE"/>
            </a:solidFill>
            <a:prstDash val="solid"/>
            <a:headEnd type="none" len="sm" w="sm"/>
            <a:tailEnd type="none" len="sm" w="sm"/>
          </a:ln>
        </p:spPr>
      </p:sp>
      <p:grpSp>
        <p:nvGrpSpPr>
          <p:cNvPr name="Group 3" id="3"/>
          <p:cNvGrpSpPr/>
          <p:nvPr/>
        </p:nvGrpSpPr>
        <p:grpSpPr>
          <a:xfrm rot="0">
            <a:off x="6507715" y="1002829"/>
            <a:ext cx="528290" cy="590668"/>
            <a:chOff x="0" y="0"/>
            <a:chExt cx="704386" cy="787557"/>
          </a:xfrm>
        </p:grpSpPr>
        <p:grpSp>
          <p:nvGrpSpPr>
            <p:cNvPr name="Group 4" id="4"/>
            <p:cNvGrpSpPr/>
            <p:nvPr/>
          </p:nvGrpSpPr>
          <p:grpSpPr>
            <a:xfrm rot="0">
              <a:off x="0" y="0"/>
              <a:ext cx="704386" cy="787557"/>
              <a:chOff x="0" y="0"/>
              <a:chExt cx="389591" cy="435592"/>
            </a:xfrm>
          </p:grpSpPr>
          <p:sp>
            <p:nvSpPr>
              <p:cNvPr name="Freeform 5" id="5"/>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6" id="6"/>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8" id="8"/>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0706405" y="3598693"/>
            <a:ext cx="5814380" cy="6130369"/>
            <a:chOff x="0" y="0"/>
            <a:chExt cx="7752507" cy="8173826"/>
          </a:xfrm>
        </p:grpSpPr>
        <p:sp>
          <p:nvSpPr>
            <p:cNvPr name="Freeform 12" id="12"/>
            <p:cNvSpPr/>
            <p:nvPr/>
          </p:nvSpPr>
          <p:spPr>
            <a:xfrm flipH="false" flipV="false" rot="0">
              <a:off x="0" y="0"/>
              <a:ext cx="7752507" cy="4008271"/>
            </a:xfrm>
            <a:custGeom>
              <a:avLst/>
              <a:gdLst/>
              <a:ahLst/>
              <a:cxnLst/>
              <a:rect r="r" b="b" t="t" l="l"/>
              <a:pathLst>
                <a:path h="4008271" w="7752507">
                  <a:moveTo>
                    <a:pt x="0" y="0"/>
                  </a:moveTo>
                  <a:lnTo>
                    <a:pt x="7752507" y="0"/>
                  </a:lnTo>
                  <a:lnTo>
                    <a:pt x="7752507" y="4008271"/>
                  </a:lnTo>
                  <a:lnTo>
                    <a:pt x="0" y="4008271"/>
                  </a:lnTo>
                  <a:lnTo>
                    <a:pt x="0" y="0"/>
                  </a:lnTo>
                  <a:close/>
                </a:path>
              </a:pathLst>
            </a:custGeom>
            <a:blipFill>
              <a:blip r:embed="rId7"/>
              <a:stretch>
                <a:fillRect l="0" t="0" r="-50354" b="0"/>
              </a:stretch>
            </a:blipFill>
          </p:spPr>
        </p:sp>
        <p:sp>
          <p:nvSpPr>
            <p:cNvPr name="Freeform 13" id="13"/>
            <p:cNvSpPr/>
            <p:nvPr/>
          </p:nvSpPr>
          <p:spPr>
            <a:xfrm flipH="false" flipV="false" rot="0">
              <a:off x="1979275" y="4008271"/>
              <a:ext cx="4160393" cy="4165555"/>
            </a:xfrm>
            <a:custGeom>
              <a:avLst/>
              <a:gdLst/>
              <a:ahLst/>
              <a:cxnLst/>
              <a:rect r="r" b="b" t="t" l="l"/>
              <a:pathLst>
                <a:path h="4165555" w="4160393">
                  <a:moveTo>
                    <a:pt x="0" y="0"/>
                  </a:moveTo>
                  <a:lnTo>
                    <a:pt x="4160393" y="0"/>
                  </a:lnTo>
                  <a:lnTo>
                    <a:pt x="4160393" y="4165555"/>
                  </a:lnTo>
                  <a:lnTo>
                    <a:pt x="0" y="4165555"/>
                  </a:lnTo>
                  <a:lnTo>
                    <a:pt x="0" y="0"/>
                  </a:lnTo>
                  <a:close/>
                </a:path>
              </a:pathLst>
            </a:custGeom>
            <a:blipFill>
              <a:blip r:embed="rId7"/>
              <a:stretch>
                <a:fillRect l="-191165" t="0" r="0" b="0"/>
              </a:stretch>
            </a:blipFill>
          </p:spPr>
        </p:sp>
      </p:grpSp>
      <p:sp>
        <p:nvSpPr>
          <p:cNvPr name="Freeform 14" id="14"/>
          <p:cNvSpPr/>
          <p:nvPr/>
        </p:nvSpPr>
        <p:spPr>
          <a:xfrm flipH="false" flipV="false" rot="0">
            <a:off x="1210376" y="6766406"/>
            <a:ext cx="7315200" cy="2962656"/>
          </a:xfrm>
          <a:custGeom>
            <a:avLst/>
            <a:gdLst/>
            <a:ahLst/>
            <a:cxnLst/>
            <a:rect r="r" b="b" t="t" l="l"/>
            <a:pathLst>
              <a:path h="2962656" w="7315200">
                <a:moveTo>
                  <a:pt x="0" y="0"/>
                </a:moveTo>
                <a:lnTo>
                  <a:pt x="7315200" y="0"/>
                </a:lnTo>
                <a:lnTo>
                  <a:pt x="7315200" y="2962656"/>
                </a:lnTo>
                <a:lnTo>
                  <a:pt x="0" y="29626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210376" y="2708818"/>
            <a:ext cx="6918415" cy="3527314"/>
          </a:xfrm>
          <a:prstGeom prst="rect">
            <a:avLst/>
          </a:prstGeom>
        </p:spPr>
        <p:txBody>
          <a:bodyPr anchor="t" rtlCol="false" tIns="0" lIns="0" bIns="0" rIns="0">
            <a:spAutoFit/>
          </a:bodyPr>
          <a:lstStyle/>
          <a:p>
            <a:pPr algn="just">
              <a:lnSpc>
                <a:spcPts val="4031"/>
              </a:lnSpc>
            </a:pPr>
            <a:r>
              <a:rPr lang="en-US" b="true" sz="2879">
                <a:solidFill>
                  <a:srgbClr val="493323"/>
                </a:solidFill>
                <a:latin typeface="Cambria Bold"/>
                <a:ea typeface="Cambria Bold"/>
                <a:cs typeface="Cambria Bold"/>
                <a:sym typeface="Cambria Bold"/>
              </a:rPr>
              <a:t>LibrIA</a:t>
            </a:r>
            <a:r>
              <a:rPr lang="en-US" sz="2879">
                <a:solidFill>
                  <a:srgbClr val="493323"/>
                </a:solidFill>
                <a:latin typeface="Cambria"/>
                <a:ea typeface="Cambria"/>
                <a:cs typeface="Cambria"/>
                <a:sym typeface="Cambria"/>
              </a:rPr>
              <a:t> es una plataforma web literaria que transforma las experiencias de lectura de sus usuarios como: estados, valoraciones, reseñas y emociones asociadas a una obra, en información estructurada, procesada mediante un flujo ETL e interpretada por inteligencia artificial.</a:t>
            </a:r>
          </a:p>
        </p:txBody>
      </p:sp>
      <p:sp>
        <p:nvSpPr>
          <p:cNvPr name="TextBox 16" id="16"/>
          <p:cNvSpPr txBox="true"/>
          <p:nvPr/>
        </p:nvSpPr>
        <p:spPr>
          <a:xfrm rot="0">
            <a:off x="7214963" y="776199"/>
            <a:ext cx="4078635"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Introducción</a:t>
            </a:r>
          </a:p>
        </p:txBody>
      </p:sp>
      <p:sp>
        <p:nvSpPr>
          <p:cNvPr name="TextBox 17" id="17"/>
          <p:cNvSpPr txBox="true"/>
          <p:nvPr/>
        </p:nvSpPr>
        <p:spPr>
          <a:xfrm rot="0">
            <a:off x="1794246" y="7379131"/>
            <a:ext cx="6147460" cy="1653540"/>
          </a:xfrm>
          <a:prstGeom prst="rect">
            <a:avLst/>
          </a:prstGeom>
        </p:spPr>
        <p:txBody>
          <a:bodyPr anchor="t" rtlCol="false" tIns="0" lIns="0" bIns="0" rIns="0">
            <a:spAutoFit/>
          </a:bodyPr>
          <a:lstStyle/>
          <a:p>
            <a:pPr algn="ctr">
              <a:lnSpc>
                <a:spcPts val="3359"/>
              </a:lnSpc>
              <a:spcBef>
                <a:spcPct val="0"/>
              </a:spcBef>
            </a:pPr>
            <a:r>
              <a:rPr lang="en-US" b="true" sz="2399" i="true">
                <a:solidFill>
                  <a:srgbClr val="000000">
                    <a:alpha val="77647"/>
                  </a:srgbClr>
                </a:solidFill>
                <a:latin typeface="Open Sans 1 Bold Italics"/>
                <a:ea typeface="Open Sans 1 Bold Italics"/>
                <a:cs typeface="Open Sans 1 Bold Italics"/>
                <a:sym typeface="Open Sans 1 Bold Italics"/>
              </a:rPr>
              <a:t>El objetivo no es diagnosticar el estado psicológico del lector, sino analizar respuestas emocionales declaradas en relación con su experiencia de lectura.</a:t>
            </a:r>
          </a:p>
        </p:txBody>
      </p:sp>
      <p:sp>
        <p:nvSpPr>
          <p:cNvPr name="TextBox 18" id="18"/>
          <p:cNvSpPr txBox="true"/>
          <p:nvPr/>
        </p:nvSpPr>
        <p:spPr>
          <a:xfrm rot="0">
            <a:off x="10154388" y="2708818"/>
            <a:ext cx="6918415" cy="498364"/>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El proyecto</a:t>
            </a:r>
            <a:r>
              <a:rPr lang="en-US" sz="2879" b="true">
                <a:solidFill>
                  <a:srgbClr val="493323"/>
                </a:solidFill>
                <a:latin typeface="Cambria Bold"/>
                <a:ea typeface="Cambria Bold"/>
                <a:cs typeface="Cambria Bold"/>
                <a:sym typeface="Cambria Bold"/>
              </a:rPr>
              <a:t> </a:t>
            </a:r>
            <a:r>
              <a:rPr lang="en-US" b="true" sz="2879">
                <a:solidFill>
                  <a:srgbClr val="493323"/>
                </a:solidFill>
                <a:latin typeface="Cambria Bold"/>
                <a:ea typeface="Cambria Bold"/>
                <a:cs typeface="Cambria Bold"/>
                <a:sym typeface="Cambria Bold"/>
              </a:rPr>
              <a:t>LibrIA</a:t>
            </a:r>
            <a:r>
              <a:rPr lang="en-US" sz="2879">
                <a:solidFill>
                  <a:srgbClr val="493323"/>
                </a:solidFill>
                <a:latin typeface="Cambria"/>
                <a:ea typeface="Cambria"/>
                <a:cs typeface="Cambria"/>
                <a:sym typeface="Cambria"/>
              </a:rPr>
              <a:t> consta de: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sp>
        <p:nvSpPr>
          <p:cNvPr name="AutoShape 2" id="2"/>
          <p:cNvSpPr/>
          <p:nvPr/>
        </p:nvSpPr>
        <p:spPr>
          <a:xfrm flipV="true">
            <a:off x="9144000" y="3970082"/>
            <a:ext cx="0" cy="5884078"/>
          </a:xfrm>
          <a:prstGeom prst="line">
            <a:avLst/>
          </a:prstGeom>
          <a:ln cap="flat" w="38100">
            <a:solidFill>
              <a:srgbClr val="EDE0CE"/>
            </a:solidFill>
            <a:prstDash val="solid"/>
            <a:headEnd type="none" len="sm" w="sm"/>
            <a:tailEnd type="none" len="sm" w="sm"/>
          </a:ln>
        </p:spPr>
      </p:sp>
      <p:grpSp>
        <p:nvGrpSpPr>
          <p:cNvPr name="Group 3" id="3"/>
          <p:cNvGrpSpPr/>
          <p:nvPr/>
        </p:nvGrpSpPr>
        <p:grpSpPr>
          <a:xfrm rot="0">
            <a:off x="6507715" y="1002829"/>
            <a:ext cx="528290" cy="590668"/>
            <a:chOff x="0" y="0"/>
            <a:chExt cx="704386" cy="787557"/>
          </a:xfrm>
        </p:grpSpPr>
        <p:grpSp>
          <p:nvGrpSpPr>
            <p:cNvPr name="Group 4" id="4"/>
            <p:cNvGrpSpPr/>
            <p:nvPr/>
          </p:nvGrpSpPr>
          <p:grpSpPr>
            <a:xfrm rot="0">
              <a:off x="0" y="0"/>
              <a:ext cx="704386" cy="787557"/>
              <a:chOff x="0" y="0"/>
              <a:chExt cx="389591" cy="435592"/>
            </a:xfrm>
          </p:grpSpPr>
          <p:sp>
            <p:nvSpPr>
              <p:cNvPr name="Freeform 5" id="5"/>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6" id="6"/>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8" id="8"/>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022546" y="3701933"/>
            <a:ext cx="7249202" cy="6585067"/>
          </a:xfrm>
          <a:custGeom>
            <a:avLst/>
            <a:gdLst/>
            <a:ahLst/>
            <a:cxnLst/>
            <a:rect r="r" b="b" t="t" l="l"/>
            <a:pathLst>
              <a:path h="6585067" w="7249202">
                <a:moveTo>
                  <a:pt x="0" y="0"/>
                </a:moveTo>
                <a:lnTo>
                  <a:pt x="7249202" y="0"/>
                </a:lnTo>
                <a:lnTo>
                  <a:pt x="7249202" y="6585067"/>
                </a:lnTo>
                <a:lnTo>
                  <a:pt x="0" y="6585067"/>
                </a:lnTo>
                <a:lnTo>
                  <a:pt x="0" y="0"/>
                </a:lnTo>
                <a:close/>
              </a:path>
            </a:pathLst>
          </a:custGeom>
          <a:blipFill>
            <a:blip r:embed="rId7"/>
            <a:stretch>
              <a:fillRect l="0" t="0" r="0" b="0"/>
            </a:stretch>
          </a:blipFill>
        </p:spPr>
      </p:sp>
      <p:sp>
        <p:nvSpPr>
          <p:cNvPr name="Freeform 12" id="12"/>
          <p:cNvSpPr/>
          <p:nvPr/>
        </p:nvSpPr>
        <p:spPr>
          <a:xfrm flipH="false" flipV="false" rot="0">
            <a:off x="11697204" y="4275078"/>
            <a:ext cx="4341127" cy="4262973"/>
          </a:xfrm>
          <a:custGeom>
            <a:avLst/>
            <a:gdLst/>
            <a:ahLst/>
            <a:cxnLst/>
            <a:rect r="r" b="b" t="t" l="l"/>
            <a:pathLst>
              <a:path h="4262973" w="4341127">
                <a:moveTo>
                  <a:pt x="0" y="0"/>
                </a:moveTo>
                <a:lnTo>
                  <a:pt x="4341128" y="0"/>
                </a:lnTo>
                <a:lnTo>
                  <a:pt x="4341128" y="4262972"/>
                </a:lnTo>
                <a:lnTo>
                  <a:pt x="0" y="4262972"/>
                </a:lnTo>
                <a:lnTo>
                  <a:pt x="0" y="0"/>
                </a:lnTo>
                <a:close/>
              </a:path>
            </a:pathLst>
          </a:custGeom>
          <a:blipFill>
            <a:blip r:embed="rId8"/>
            <a:stretch>
              <a:fillRect l="0" t="0" r="0" b="0"/>
            </a:stretch>
          </a:blipFill>
        </p:spPr>
      </p:sp>
      <p:grpSp>
        <p:nvGrpSpPr>
          <p:cNvPr name="Group 13" id="13"/>
          <p:cNvGrpSpPr/>
          <p:nvPr/>
        </p:nvGrpSpPr>
        <p:grpSpPr>
          <a:xfrm rot="0">
            <a:off x="4964665" y="7304890"/>
            <a:ext cx="3668144" cy="835530"/>
            <a:chOff x="0" y="0"/>
            <a:chExt cx="966096" cy="220057"/>
          </a:xfrm>
        </p:grpSpPr>
        <p:sp>
          <p:nvSpPr>
            <p:cNvPr name="Freeform 14" id="14"/>
            <p:cNvSpPr/>
            <p:nvPr/>
          </p:nvSpPr>
          <p:spPr>
            <a:xfrm flipH="false" flipV="false" rot="0">
              <a:off x="0" y="0"/>
              <a:ext cx="966095" cy="220057"/>
            </a:xfrm>
            <a:custGeom>
              <a:avLst/>
              <a:gdLst/>
              <a:ahLst/>
              <a:cxnLst/>
              <a:rect r="r" b="b" t="t" l="l"/>
              <a:pathLst>
                <a:path h="220057" w="966095">
                  <a:moveTo>
                    <a:pt x="33769" y="0"/>
                  </a:moveTo>
                  <a:lnTo>
                    <a:pt x="932326" y="0"/>
                  </a:lnTo>
                  <a:cubicBezTo>
                    <a:pt x="950976" y="0"/>
                    <a:pt x="966095" y="15119"/>
                    <a:pt x="966095" y="33769"/>
                  </a:cubicBezTo>
                  <a:lnTo>
                    <a:pt x="966095" y="186288"/>
                  </a:lnTo>
                  <a:cubicBezTo>
                    <a:pt x="966095" y="195244"/>
                    <a:pt x="962538" y="203834"/>
                    <a:pt x="956205" y="210167"/>
                  </a:cubicBezTo>
                  <a:cubicBezTo>
                    <a:pt x="949872" y="216500"/>
                    <a:pt x="941282" y="220057"/>
                    <a:pt x="932326" y="220057"/>
                  </a:cubicBezTo>
                  <a:lnTo>
                    <a:pt x="33769" y="220057"/>
                  </a:lnTo>
                  <a:cubicBezTo>
                    <a:pt x="24813" y="220057"/>
                    <a:pt x="16224" y="216500"/>
                    <a:pt x="9891" y="210167"/>
                  </a:cubicBezTo>
                  <a:cubicBezTo>
                    <a:pt x="3558" y="203834"/>
                    <a:pt x="0" y="195244"/>
                    <a:pt x="0" y="186288"/>
                  </a:cubicBezTo>
                  <a:lnTo>
                    <a:pt x="0" y="33769"/>
                  </a:lnTo>
                  <a:cubicBezTo>
                    <a:pt x="0" y="24813"/>
                    <a:pt x="3558" y="16224"/>
                    <a:pt x="9891" y="9891"/>
                  </a:cubicBezTo>
                  <a:cubicBezTo>
                    <a:pt x="16224" y="3558"/>
                    <a:pt x="24813" y="0"/>
                    <a:pt x="33769" y="0"/>
                  </a:cubicBezTo>
                  <a:close/>
                </a:path>
              </a:pathLst>
            </a:custGeom>
            <a:solidFill>
              <a:srgbClr val="FDFEFD"/>
            </a:solidFill>
            <a:ln w="38100" cap="sq">
              <a:solidFill>
                <a:srgbClr val="C29F64"/>
              </a:solidFill>
              <a:prstDash val="solid"/>
              <a:miter/>
            </a:ln>
          </p:spPr>
        </p:sp>
        <p:sp>
          <p:nvSpPr>
            <p:cNvPr name="TextBox 15" id="15"/>
            <p:cNvSpPr txBox="true"/>
            <p:nvPr/>
          </p:nvSpPr>
          <p:spPr>
            <a:xfrm>
              <a:off x="0" y="-19050"/>
              <a:ext cx="966096" cy="239107"/>
            </a:xfrm>
            <a:prstGeom prst="rect">
              <a:avLst/>
            </a:prstGeom>
          </p:spPr>
          <p:txBody>
            <a:bodyPr anchor="ctr" rtlCol="false" tIns="50800" lIns="50800" bIns="50800" rIns="50800"/>
            <a:lstStyle/>
            <a:p>
              <a:pPr algn="just">
                <a:lnSpc>
                  <a:spcPts val="1680"/>
                </a:lnSpc>
              </a:pPr>
            </a:p>
          </p:txBody>
        </p:sp>
      </p:grpSp>
      <p:sp>
        <p:nvSpPr>
          <p:cNvPr name="TextBox 16" id="16"/>
          <p:cNvSpPr txBox="true"/>
          <p:nvPr/>
        </p:nvSpPr>
        <p:spPr>
          <a:xfrm rot="0">
            <a:off x="7392960" y="732341"/>
            <a:ext cx="2776389"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Contexto</a:t>
            </a:r>
          </a:p>
        </p:txBody>
      </p:sp>
      <p:sp>
        <p:nvSpPr>
          <p:cNvPr name="TextBox 17" id="17"/>
          <p:cNvSpPr txBox="true"/>
          <p:nvPr/>
        </p:nvSpPr>
        <p:spPr>
          <a:xfrm rot="0">
            <a:off x="11329890" y="8785896"/>
            <a:ext cx="5541391" cy="887659"/>
          </a:xfrm>
          <a:prstGeom prst="rect">
            <a:avLst/>
          </a:prstGeom>
        </p:spPr>
        <p:txBody>
          <a:bodyPr anchor="t" rtlCol="false" tIns="0" lIns="0" bIns="0" rIns="0">
            <a:spAutoFit/>
          </a:bodyPr>
          <a:lstStyle/>
          <a:p>
            <a:pPr algn="ctr">
              <a:lnSpc>
                <a:spcPts val="3573"/>
              </a:lnSpc>
              <a:spcBef>
                <a:spcPct val="0"/>
              </a:spcBef>
            </a:pPr>
            <a:r>
              <a:rPr lang="en-US" sz="2552" i="true">
                <a:solidFill>
                  <a:srgbClr val="000000">
                    <a:alpha val="77647"/>
                  </a:srgbClr>
                </a:solidFill>
                <a:latin typeface="Cambria Italics"/>
                <a:ea typeface="Cambria Italics"/>
                <a:cs typeface="Cambria Italics"/>
                <a:sym typeface="Cambria Italics"/>
              </a:rPr>
              <a:t>La</a:t>
            </a:r>
            <a:r>
              <a:rPr lang="en-US" sz="2552" i="true">
                <a:solidFill>
                  <a:srgbClr val="000000">
                    <a:alpha val="77647"/>
                  </a:srgbClr>
                </a:solidFill>
                <a:latin typeface="Cambria Italics"/>
                <a:ea typeface="Cambria Italics"/>
                <a:cs typeface="Cambria Italics"/>
                <a:sym typeface="Cambria Italics"/>
              </a:rPr>
              <a:t> exigencia de integrar disciplinas en una solución aplicada y práctica.</a:t>
            </a:r>
          </a:p>
        </p:txBody>
      </p:sp>
      <p:sp>
        <p:nvSpPr>
          <p:cNvPr name="TextBox 18" id="18"/>
          <p:cNvSpPr txBox="true"/>
          <p:nvPr/>
        </p:nvSpPr>
        <p:spPr>
          <a:xfrm rot="0">
            <a:off x="1082926" y="1957244"/>
            <a:ext cx="16122148" cy="2012839"/>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Hoy</a:t>
            </a:r>
            <a:r>
              <a:rPr lang="en-US" sz="2879">
                <a:solidFill>
                  <a:srgbClr val="493323"/>
                </a:solidFill>
                <a:latin typeface="Cambria"/>
                <a:ea typeface="Cambria"/>
                <a:cs typeface="Cambria"/>
                <a:sym typeface="Cambria"/>
              </a:rPr>
              <a:t> en día, la experiencia de lectura va más allá de acumular páginas leídas. Sin embargo, las herramientas actuales registran datos cuantitativos pero no capturan la respuesta emocional ni los patrones del lector. </a:t>
            </a:r>
            <a:r>
              <a:rPr lang="en-US" b="true" sz="2879">
                <a:solidFill>
                  <a:srgbClr val="493323"/>
                </a:solidFill>
                <a:latin typeface="Cambria Bold"/>
                <a:ea typeface="Cambria Bold"/>
                <a:cs typeface="Cambria Bold"/>
                <a:sym typeface="Cambria Bold"/>
              </a:rPr>
              <a:t>LibrIA</a:t>
            </a:r>
            <a:r>
              <a:rPr lang="en-US" sz="2879">
                <a:solidFill>
                  <a:srgbClr val="493323"/>
                </a:solidFill>
                <a:latin typeface="Cambria"/>
                <a:ea typeface="Cambria"/>
                <a:cs typeface="Cambria"/>
                <a:sym typeface="Cambria"/>
              </a:rPr>
              <a:t> nace en la intersección entre el hábito de leer, la ingeniería de datos y la inteligencia artificial.</a:t>
            </a:r>
          </a:p>
        </p:txBody>
      </p:sp>
      <p:grpSp>
        <p:nvGrpSpPr>
          <p:cNvPr name="Group 19" id="19"/>
          <p:cNvGrpSpPr/>
          <p:nvPr/>
        </p:nvGrpSpPr>
        <p:grpSpPr>
          <a:xfrm rot="0">
            <a:off x="4964665" y="8237477"/>
            <a:ext cx="3668144" cy="835530"/>
            <a:chOff x="0" y="0"/>
            <a:chExt cx="966096" cy="220057"/>
          </a:xfrm>
        </p:grpSpPr>
        <p:sp>
          <p:nvSpPr>
            <p:cNvPr name="Freeform 20" id="20"/>
            <p:cNvSpPr/>
            <p:nvPr/>
          </p:nvSpPr>
          <p:spPr>
            <a:xfrm flipH="false" flipV="false" rot="0">
              <a:off x="0" y="0"/>
              <a:ext cx="966095" cy="220057"/>
            </a:xfrm>
            <a:custGeom>
              <a:avLst/>
              <a:gdLst/>
              <a:ahLst/>
              <a:cxnLst/>
              <a:rect r="r" b="b" t="t" l="l"/>
              <a:pathLst>
                <a:path h="220057" w="966095">
                  <a:moveTo>
                    <a:pt x="33769" y="0"/>
                  </a:moveTo>
                  <a:lnTo>
                    <a:pt x="932326" y="0"/>
                  </a:lnTo>
                  <a:cubicBezTo>
                    <a:pt x="950976" y="0"/>
                    <a:pt x="966095" y="15119"/>
                    <a:pt x="966095" y="33769"/>
                  </a:cubicBezTo>
                  <a:lnTo>
                    <a:pt x="966095" y="186288"/>
                  </a:lnTo>
                  <a:cubicBezTo>
                    <a:pt x="966095" y="195244"/>
                    <a:pt x="962538" y="203834"/>
                    <a:pt x="956205" y="210167"/>
                  </a:cubicBezTo>
                  <a:cubicBezTo>
                    <a:pt x="949872" y="216500"/>
                    <a:pt x="941282" y="220057"/>
                    <a:pt x="932326" y="220057"/>
                  </a:cubicBezTo>
                  <a:lnTo>
                    <a:pt x="33769" y="220057"/>
                  </a:lnTo>
                  <a:cubicBezTo>
                    <a:pt x="24813" y="220057"/>
                    <a:pt x="16224" y="216500"/>
                    <a:pt x="9891" y="210167"/>
                  </a:cubicBezTo>
                  <a:cubicBezTo>
                    <a:pt x="3558" y="203834"/>
                    <a:pt x="0" y="195244"/>
                    <a:pt x="0" y="186288"/>
                  </a:cubicBezTo>
                  <a:lnTo>
                    <a:pt x="0" y="33769"/>
                  </a:lnTo>
                  <a:cubicBezTo>
                    <a:pt x="0" y="24813"/>
                    <a:pt x="3558" y="16224"/>
                    <a:pt x="9891" y="9891"/>
                  </a:cubicBezTo>
                  <a:cubicBezTo>
                    <a:pt x="16224" y="3558"/>
                    <a:pt x="24813" y="0"/>
                    <a:pt x="33769" y="0"/>
                  </a:cubicBezTo>
                  <a:close/>
                </a:path>
              </a:pathLst>
            </a:custGeom>
            <a:solidFill>
              <a:srgbClr val="FDFEFD"/>
            </a:solidFill>
            <a:ln w="38100" cap="sq">
              <a:solidFill>
                <a:srgbClr val="C29F64"/>
              </a:solidFill>
              <a:prstDash val="solid"/>
              <a:miter/>
            </a:ln>
          </p:spPr>
        </p:sp>
        <p:sp>
          <p:nvSpPr>
            <p:cNvPr name="TextBox 21" id="21"/>
            <p:cNvSpPr txBox="true"/>
            <p:nvPr/>
          </p:nvSpPr>
          <p:spPr>
            <a:xfrm>
              <a:off x="0" y="-38100"/>
              <a:ext cx="966096" cy="258157"/>
            </a:xfrm>
            <a:prstGeom prst="rect">
              <a:avLst/>
            </a:prstGeom>
          </p:spPr>
          <p:txBody>
            <a:bodyPr anchor="ctr" rtlCol="false" tIns="50800" lIns="50800" bIns="50800" rIns="50800"/>
            <a:lstStyle/>
            <a:p>
              <a:pPr algn="ctr">
                <a:lnSpc>
                  <a:spcPts val="3079"/>
                </a:lnSpc>
              </a:pPr>
            </a:p>
          </p:txBody>
        </p:sp>
      </p:grpSp>
      <p:grpSp>
        <p:nvGrpSpPr>
          <p:cNvPr name="Group 22" id="22"/>
          <p:cNvGrpSpPr/>
          <p:nvPr/>
        </p:nvGrpSpPr>
        <p:grpSpPr>
          <a:xfrm rot="0">
            <a:off x="4964665" y="9189114"/>
            <a:ext cx="3668144" cy="835530"/>
            <a:chOff x="0" y="0"/>
            <a:chExt cx="966096" cy="220057"/>
          </a:xfrm>
        </p:grpSpPr>
        <p:sp>
          <p:nvSpPr>
            <p:cNvPr name="Freeform 23" id="23"/>
            <p:cNvSpPr/>
            <p:nvPr/>
          </p:nvSpPr>
          <p:spPr>
            <a:xfrm flipH="false" flipV="false" rot="0">
              <a:off x="0" y="0"/>
              <a:ext cx="966095" cy="220057"/>
            </a:xfrm>
            <a:custGeom>
              <a:avLst/>
              <a:gdLst/>
              <a:ahLst/>
              <a:cxnLst/>
              <a:rect r="r" b="b" t="t" l="l"/>
              <a:pathLst>
                <a:path h="220057" w="966095">
                  <a:moveTo>
                    <a:pt x="33769" y="0"/>
                  </a:moveTo>
                  <a:lnTo>
                    <a:pt x="932326" y="0"/>
                  </a:lnTo>
                  <a:cubicBezTo>
                    <a:pt x="950976" y="0"/>
                    <a:pt x="966095" y="15119"/>
                    <a:pt x="966095" y="33769"/>
                  </a:cubicBezTo>
                  <a:lnTo>
                    <a:pt x="966095" y="186288"/>
                  </a:lnTo>
                  <a:cubicBezTo>
                    <a:pt x="966095" y="195244"/>
                    <a:pt x="962538" y="203834"/>
                    <a:pt x="956205" y="210167"/>
                  </a:cubicBezTo>
                  <a:cubicBezTo>
                    <a:pt x="949872" y="216500"/>
                    <a:pt x="941282" y="220057"/>
                    <a:pt x="932326" y="220057"/>
                  </a:cubicBezTo>
                  <a:lnTo>
                    <a:pt x="33769" y="220057"/>
                  </a:lnTo>
                  <a:cubicBezTo>
                    <a:pt x="24813" y="220057"/>
                    <a:pt x="16224" y="216500"/>
                    <a:pt x="9891" y="210167"/>
                  </a:cubicBezTo>
                  <a:cubicBezTo>
                    <a:pt x="3558" y="203834"/>
                    <a:pt x="0" y="195244"/>
                    <a:pt x="0" y="186288"/>
                  </a:cubicBezTo>
                  <a:lnTo>
                    <a:pt x="0" y="33769"/>
                  </a:lnTo>
                  <a:cubicBezTo>
                    <a:pt x="0" y="24813"/>
                    <a:pt x="3558" y="16224"/>
                    <a:pt x="9891" y="9891"/>
                  </a:cubicBezTo>
                  <a:cubicBezTo>
                    <a:pt x="16224" y="3558"/>
                    <a:pt x="24813" y="0"/>
                    <a:pt x="33769" y="0"/>
                  </a:cubicBezTo>
                  <a:close/>
                </a:path>
              </a:pathLst>
            </a:custGeom>
            <a:solidFill>
              <a:srgbClr val="FDFEFD"/>
            </a:solidFill>
            <a:ln w="38100" cap="sq">
              <a:solidFill>
                <a:srgbClr val="C29F64"/>
              </a:solidFill>
              <a:prstDash val="solid"/>
              <a:miter/>
            </a:ln>
          </p:spPr>
        </p:sp>
        <p:sp>
          <p:nvSpPr>
            <p:cNvPr name="TextBox 24" id="24"/>
            <p:cNvSpPr txBox="true"/>
            <p:nvPr/>
          </p:nvSpPr>
          <p:spPr>
            <a:xfrm>
              <a:off x="0" y="-38100"/>
              <a:ext cx="966096" cy="258157"/>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5105931" y="7420232"/>
            <a:ext cx="3385611" cy="617220"/>
          </a:xfrm>
          <a:prstGeom prst="rect">
            <a:avLst/>
          </a:prstGeom>
        </p:spPr>
        <p:txBody>
          <a:bodyPr anchor="t" rtlCol="false" tIns="0" lIns="0" bIns="0" rIns="0">
            <a:spAutoFit/>
          </a:bodyPr>
          <a:lstStyle/>
          <a:p>
            <a:pPr algn="just">
              <a:lnSpc>
                <a:spcPts val="1680"/>
              </a:lnSpc>
            </a:pPr>
            <a:r>
              <a:rPr lang="en-US" sz="1200">
                <a:solidFill>
                  <a:srgbClr val="000000"/>
                </a:solidFill>
                <a:latin typeface="Open Sans 1"/>
                <a:ea typeface="Open Sans 1"/>
                <a:cs typeface="Open Sans 1"/>
                <a:sym typeface="Open Sans 1"/>
              </a:rPr>
              <a:t>G</a:t>
            </a:r>
            <a:r>
              <a:rPr lang="en-US" sz="1200">
                <a:solidFill>
                  <a:srgbClr val="000000"/>
                </a:solidFill>
                <a:latin typeface="Open Sans 1"/>
                <a:ea typeface="Open Sans 1"/>
                <a:cs typeface="Open Sans 1"/>
                <a:sym typeface="Open Sans 1"/>
              </a:rPr>
              <a:t>randes volúmenes de datos generados de comportamiento: </a:t>
            </a:r>
            <a:r>
              <a:rPr lang="en-US" b="true" sz="1200">
                <a:solidFill>
                  <a:srgbClr val="000000"/>
                </a:solidFill>
                <a:latin typeface="Open Sans 1 Bold"/>
                <a:ea typeface="Open Sans 1 Bold"/>
                <a:cs typeface="Open Sans 1 Bold"/>
                <a:sym typeface="Open Sans 1 Bold"/>
              </a:rPr>
              <a:t>qué se lee, cuándo y cómo se valora.</a:t>
            </a:r>
          </a:p>
        </p:txBody>
      </p:sp>
      <p:sp>
        <p:nvSpPr>
          <p:cNvPr name="TextBox 26" id="26"/>
          <p:cNvSpPr txBox="true"/>
          <p:nvPr/>
        </p:nvSpPr>
        <p:spPr>
          <a:xfrm rot="0">
            <a:off x="5079054" y="8337107"/>
            <a:ext cx="3385611" cy="617220"/>
          </a:xfrm>
          <a:prstGeom prst="rect">
            <a:avLst/>
          </a:prstGeom>
        </p:spPr>
        <p:txBody>
          <a:bodyPr anchor="t" rtlCol="false" tIns="0" lIns="0" bIns="0" rIns="0">
            <a:spAutoFit/>
          </a:bodyPr>
          <a:lstStyle/>
          <a:p>
            <a:pPr algn="just">
              <a:lnSpc>
                <a:spcPts val="1680"/>
              </a:lnSpc>
            </a:pPr>
            <a:r>
              <a:rPr lang="en-US" sz="1200">
                <a:solidFill>
                  <a:srgbClr val="000000"/>
                </a:solidFill>
                <a:latin typeface="Open Sans 1"/>
                <a:ea typeface="Open Sans 1"/>
                <a:cs typeface="Open Sans 1"/>
                <a:sym typeface="Open Sans 1"/>
              </a:rPr>
              <a:t>L</a:t>
            </a:r>
            <a:r>
              <a:rPr lang="en-US" sz="1200">
                <a:solidFill>
                  <a:srgbClr val="000000"/>
                </a:solidFill>
                <a:latin typeface="Open Sans 1"/>
                <a:ea typeface="Open Sans 1"/>
                <a:cs typeface="Open Sans 1"/>
                <a:sym typeface="Open Sans 1"/>
              </a:rPr>
              <a:t>as plataformas literarias actuales registran estas interacciones, pero rara ve</a:t>
            </a:r>
            <a:r>
              <a:rPr lang="en-US" sz="1200">
                <a:solidFill>
                  <a:srgbClr val="000000"/>
                </a:solidFill>
                <a:latin typeface="Open Sans 1"/>
                <a:ea typeface="Open Sans 1"/>
                <a:cs typeface="Open Sans 1"/>
                <a:sym typeface="Open Sans 1"/>
              </a:rPr>
              <a:t>z</a:t>
            </a:r>
            <a:r>
              <a:rPr lang="en-US" sz="1200">
                <a:solidFill>
                  <a:srgbClr val="000000"/>
                </a:solidFill>
                <a:latin typeface="Open Sans 1"/>
                <a:ea typeface="Open Sans 1"/>
                <a:cs typeface="Open Sans 1"/>
                <a:sym typeface="Open Sans 1"/>
              </a:rPr>
              <a:t> l</a:t>
            </a:r>
            <a:r>
              <a:rPr lang="en-US" sz="1200">
                <a:solidFill>
                  <a:srgbClr val="000000"/>
                </a:solidFill>
                <a:latin typeface="Open Sans 1"/>
                <a:ea typeface="Open Sans 1"/>
                <a:cs typeface="Open Sans 1"/>
                <a:sym typeface="Open Sans 1"/>
              </a:rPr>
              <a:t>as </a:t>
            </a:r>
            <a:r>
              <a:rPr lang="en-US" sz="1200">
                <a:solidFill>
                  <a:srgbClr val="000000"/>
                </a:solidFill>
                <a:latin typeface="Open Sans 1"/>
                <a:ea typeface="Open Sans 1"/>
                <a:cs typeface="Open Sans 1"/>
                <a:sym typeface="Open Sans 1"/>
              </a:rPr>
              <a:t>e</a:t>
            </a:r>
            <a:r>
              <a:rPr lang="en-US" sz="1200">
                <a:solidFill>
                  <a:srgbClr val="000000"/>
                </a:solidFill>
                <a:latin typeface="Open Sans 1"/>
                <a:ea typeface="Open Sans 1"/>
                <a:cs typeface="Open Sans 1"/>
                <a:sym typeface="Open Sans 1"/>
              </a:rPr>
              <a:t>stru</a:t>
            </a:r>
            <a:r>
              <a:rPr lang="en-US" sz="1200">
                <a:solidFill>
                  <a:srgbClr val="000000"/>
                </a:solidFill>
                <a:latin typeface="Open Sans 1"/>
                <a:ea typeface="Open Sans 1"/>
                <a:cs typeface="Open Sans 1"/>
                <a:sym typeface="Open Sans 1"/>
              </a:rPr>
              <a:t>c</a:t>
            </a:r>
            <a:r>
              <a:rPr lang="en-US" sz="1200">
                <a:solidFill>
                  <a:srgbClr val="000000"/>
                </a:solidFill>
                <a:latin typeface="Open Sans 1"/>
                <a:ea typeface="Open Sans 1"/>
                <a:cs typeface="Open Sans 1"/>
                <a:sym typeface="Open Sans 1"/>
              </a:rPr>
              <a:t>t</a:t>
            </a:r>
            <a:r>
              <a:rPr lang="en-US" sz="1200">
                <a:solidFill>
                  <a:srgbClr val="000000"/>
                </a:solidFill>
                <a:latin typeface="Open Sans 1"/>
                <a:ea typeface="Open Sans 1"/>
                <a:cs typeface="Open Sans 1"/>
                <a:sym typeface="Open Sans 1"/>
              </a:rPr>
              <a:t>u</a:t>
            </a:r>
            <a:r>
              <a:rPr lang="en-US" sz="1200">
                <a:solidFill>
                  <a:srgbClr val="000000"/>
                </a:solidFill>
                <a:latin typeface="Open Sans 1"/>
                <a:ea typeface="Open Sans 1"/>
                <a:cs typeface="Open Sans 1"/>
                <a:sym typeface="Open Sans 1"/>
              </a:rPr>
              <a:t>ra</a:t>
            </a:r>
            <a:r>
              <a:rPr lang="en-US" sz="1200">
                <a:solidFill>
                  <a:srgbClr val="000000"/>
                </a:solidFill>
                <a:latin typeface="Open Sans 1"/>
                <a:ea typeface="Open Sans 1"/>
                <a:cs typeface="Open Sans 1"/>
                <a:sym typeface="Open Sans 1"/>
              </a:rPr>
              <a:t>n </a:t>
            </a:r>
            <a:r>
              <a:rPr lang="en-US" sz="1200">
                <a:solidFill>
                  <a:srgbClr val="000000"/>
                </a:solidFill>
                <a:latin typeface="Open Sans 1"/>
                <a:ea typeface="Open Sans 1"/>
                <a:cs typeface="Open Sans 1"/>
                <a:sym typeface="Open Sans 1"/>
              </a:rPr>
              <a:t>para</a:t>
            </a:r>
            <a:r>
              <a:rPr lang="en-US" sz="1200">
                <a:solidFill>
                  <a:srgbClr val="000000"/>
                </a:solidFill>
                <a:latin typeface="Open Sans 1"/>
                <a:ea typeface="Open Sans 1"/>
                <a:cs typeface="Open Sans 1"/>
                <a:sym typeface="Open Sans 1"/>
              </a:rPr>
              <a:t> </a:t>
            </a:r>
            <a:r>
              <a:rPr lang="en-US" sz="1200">
                <a:solidFill>
                  <a:srgbClr val="000000"/>
                </a:solidFill>
                <a:latin typeface="Open Sans 1"/>
                <a:ea typeface="Open Sans 1"/>
                <a:cs typeface="Open Sans 1"/>
                <a:sym typeface="Open Sans 1"/>
              </a:rPr>
              <a:t>un</a:t>
            </a:r>
            <a:r>
              <a:rPr lang="en-US" sz="1200">
                <a:solidFill>
                  <a:srgbClr val="000000"/>
                </a:solidFill>
                <a:latin typeface="Open Sans 1"/>
                <a:ea typeface="Open Sans 1"/>
                <a:cs typeface="Open Sans 1"/>
                <a:sym typeface="Open Sans 1"/>
              </a:rPr>
              <a:t> a</a:t>
            </a:r>
            <a:r>
              <a:rPr lang="en-US" sz="1200">
                <a:solidFill>
                  <a:srgbClr val="000000"/>
                </a:solidFill>
                <a:latin typeface="Open Sans 1"/>
                <a:ea typeface="Open Sans 1"/>
                <a:cs typeface="Open Sans 1"/>
                <a:sym typeface="Open Sans 1"/>
              </a:rPr>
              <a:t>ná</a:t>
            </a:r>
            <a:r>
              <a:rPr lang="en-US" sz="1200">
                <a:solidFill>
                  <a:srgbClr val="000000"/>
                </a:solidFill>
                <a:latin typeface="Open Sans 1"/>
                <a:ea typeface="Open Sans 1"/>
                <a:cs typeface="Open Sans 1"/>
                <a:sym typeface="Open Sans 1"/>
              </a:rPr>
              <a:t>l</a:t>
            </a:r>
            <a:r>
              <a:rPr lang="en-US" sz="1200">
                <a:solidFill>
                  <a:srgbClr val="000000"/>
                </a:solidFill>
                <a:latin typeface="Open Sans 1"/>
                <a:ea typeface="Open Sans 1"/>
                <a:cs typeface="Open Sans 1"/>
                <a:sym typeface="Open Sans 1"/>
              </a:rPr>
              <a:t>isis más p</a:t>
            </a:r>
            <a:r>
              <a:rPr lang="en-US" sz="1200">
                <a:solidFill>
                  <a:srgbClr val="000000"/>
                </a:solidFill>
                <a:latin typeface="Open Sans 1"/>
                <a:ea typeface="Open Sans 1"/>
                <a:cs typeface="Open Sans 1"/>
                <a:sym typeface="Open Sans 1"/>
              </a:rPr>
              <a:t>r</a:t>
            </a:r>
            <a:r>
              <a:rPr lang="en-US" sz="1200">
                <a:solidFill>
                  <a:srgbClr val="000000"/>
                </a:solidFill>
                <a:latin typeface="Open Sans 1"/>
                <a:ea typeface="Open Sans 1"/>
                <a:cs typeface="Open Sans 1"/>
                <a:sym typeface="Open Sans 1"/>
              </a:rPr>
              <a:t>ofundo</a:t>
            </a:r>
            <a:r>
              <a:rPr lang="en-US" sz="1200">
                <a:solidFill>
                  <a:srgbClr val="000000"/>
                </a:solidFill>
                <a:latin typeface="Open Sans 1"/>
                <a:ea typeface="Open Sans 1"/>
                <a:cs typeface="Open Sans 1"/>
                <a:sym typeface="Open Sans 1"/>
              </a:rPr>
              <a:t>.</a:t>
            </a:r>
          </a:p>
        </p:txBody>
      </p:sp>
      <p:sp>
        <p:nvSpPr>
          <p:cNvPr name="TextBox 27" id="27"/>
          <p:cNvSpPr txBox="true"/>
          <p:nvPr/>
        </p:nvSpPr>
        <p:spPr>
          <a:xfrm rot="0">
            <a:off x="5079054" y="9301607"/>
            <a:ext cx="3385611" cy="617220"/>
          </a:xfrm>
          <a:prstGeom prst="rect">
            <a:avLst/>
          </a:prstGeom>
        </p:spPr>
        <p:txBody>
          <a:bodyPr anchor="t" rtlCol="false" tIns="0" lIns="0" bIns="0" rIns="0">
            <a:spAutoFit/>
          </a:bodyPr>
          <a:lstStyle/>
          <a:p>
            <a:pPr algn="just">
              <a:lnSpc>
                <a:spcPts val="1680"/>
              </a:lnSpc>
            </a:pPr>
            <a:r>
              <a:rPr lang="en-US" sz="1200">
                <a:solidFill>
                  <a:srgbClr val="000000"/>
                </a:solidFill>
                <a:latin typeface="Open Sans 1"/>
                <a:ea typeface="Open Sans 1"/>
                <a:cs typeface="Open Sans 1"/>
                <a:sym typeface="Open Sans 1"/>
              </a:rPr>
              <a:t>C</a:t>
            </a:r>
            <a:r>
              <a:rPr lang="en-US" sz="1200">
                <a:solidFill>
                  <a:srgbClr val="000000"/>
                </a:solidFill>
                <a:latin typeface="Open Sans 1"/>
                <a:ea typeface="Open Sans 1"/>
                <a:cs typeface="Open Sans 1"/>
                <a:sym typeface="Open Sans 1"/>
              </a:rPr>
              <a:t>rece el interés por experiencias personalizadas y basadas en datos también e</a:t>
            </a:r>
            <a:r>
              <a:rPr lang="en-US" sz="1200">
                <a:solidFill>
                  <a:srgbClr val="000000"/>
                </a:solidFill>
                <a:latin typeface="Open Sans 1"/>
                <a:ea typeface="Open Sans 1"/>
                <a:cs typeface="Open Sans 1"/>
                <a:sym typeface="Open Sans 1"/>
              </a:rPr>
              <a:t>n</a:t>
            </a:r>
            <a:r>
              <a:rPr lang="en-US" sz="1200">
                <a:solidFill>
                  <a:srgbClr val="000000"/>
                </a:solidFill>
                <a:latin typeface="Open Sans 1"/>
                <a:ea typeface="Open Sans 1"/>
                <a:cs typeface="Open Sans 1"/>
                <a:sym typeface="Open Sans 1"/>
              </a:rPr>
              <a:t> e</a:t>
            </a:r>
            <a:r>
              <a:rPr lang="en-US" sz="1200">
                <a:solidFill>
                  <a:srgbClr val="000000"/>
                </a:solidFill>
                <a:latin typeface="Open Sans 1"/>
                <a:ea typeface="Open Sans 1"/>
                <a:cs typeface="Open Sans 1"/>
                <a:sym typeface="Open Sans 1"/>
              </a:rPr>
              <a:t>l</a:t>
            </a:r>
            <a:r>
              <a:rPr lang="en-US" sz="1200">
                <a:solidFill>
                  <a:srgbClr val="000000"/>
                </a:solidFill>
                <a:latin typeface="Open Sans 1"/>
                <a:ea typeface="Open Sans 1"/>
                <a:cs typeface="Open Sans 1"/>
                <a:sym typeface="Open Sans 1"/>
              </a:rPr>
              <a:t> ám</a:t>
            </a:r>
            <a:r>
              <a:rPr lang="en-US" sz="1200">
                <a:solidFill>
                  <a:srgbClr val="000000"/>
                </a:solidFill>
                <a:latin typeface="Open Sans 1"/>
                <a:ea typeface="Open Sans 1"/>
                <a:cs typeface="Open Sans 1"/>
                <a:sym typeface="Open Sans 1"/>
              </a:rPr>
              <a:t>bit</a:t>
            </a:r>
            <a:r>
              <a:rPr lang="en-US" sz="1200">
                <a:solidFill>
                  <a:srgbClr val="000000"/>
                </a:solidFill>
                <a:latin typeface="Open Sans 1"/>
                <a:ea typeface="Open Sans 1"/>
                <a:cs typeface="Open Sans 1"/>
                <a:sym typeface="Open Sans 1"/>
              </a:rPr>
              <a:t>o </a:t>
            </a:r>
            <a:r>
              <a:rPr lang="en-US" sz="1200">
                <a:solidFill>
                  <a:srgbClr val="000000"/>
                </a:solidFill>
                <a:latin typeface="Open Sans 1"/>
                <a:ea typeface="Open Sans 1"/>
                <a:cs typeface="Open Sans 1"/>
                <a:sym typeface="Open Sans 1"/>
              </a:rPr>
              <a:t>d</a:t>
            </a:r>
            <a:r>
              <a:rPr lang="en-US" sz="1200">
                <a:solidFill>
                  <a:srgbClr val="000000"/>
                </a:solidFill>
                <a:latin typeface="Open Sans 1"/>
                <a:ea typeface="Open Sans 1"/>
                <a:cs typeface="Open Sans 1"/>
                <a:sym typeface="Open Sans 1"/>
              </a:rPr>
              <a:t>e </a:t>
            </a:r>
            <a:r>
              <a:rPr lang="en-US" sz="1200">
                <a:solidFill>
                  <a:srgbClr val="000000"/>
                </a:solidFill>
                <a:latin typeface="Open Sans 1"/>
                <a:ea typeface="Open Sans 1"/>
                <a:cs typeface="Open Sans 1"/>
                <a:sym typeface="Open Sans 1"/>
              </a:rPr>
              <a:t>l</a:t>
            </a:r>
            <a:r>
              <a:rPr lang="en-US" sz="1200">
                <a:solidFill>
                  <a:srgbClr val="000000"/>
                </a:solidFill>
                <a:latin typeface="Open Sans 1"/>
                <a:ea typeface="Open Sans 1"/>
                <a:cs typeface="Open Sans 1"/>
                <a:sym typeface="Open Sans 1"/>
              </a:rPr>
              <a:t>a</a:t>
            </a:r>
            <a:r>
              <a:rPr lang="en-US" sz="1200">
                <a:solidFill>
                  <a:srgbClr val="000000"/>
                </a:solidFill>
                <a:latin typeface="Open Sans 1"/>
                <a:ea typeface="Open Sans 1"/>
                <a:cs typeface="Open Sans 1"/>
                <a:sym typeface="Open Sans 1"/>
              </a:rPr>
              <a:t> </a:t>
            </a:r>
            <a:r>
              <a:rPr lang="en-US" sz="1200">
                <a:solidFill>
                  <a:srgbClr val="000000"/>
                </a:solidFill>
                <a:latin typeface="Open Sans 1"/>
                <a:ea typeface="Open Sans 1"/>
                <a:cs typeface="Open Sans 1"/>
                <a:sym typeface="Open Sans 1"/>
              </a:rPr>
              <a:t>l</a:t>
            </a:r>
            <a:r>
              <a:rPr lang="en-US" sz="1200">
                <a:solidFill>
                  <a:srgbClr val="000000"/>
                </a:solidFill>
                <a:latin typeface="Open Sans 1"/>
                <a:ea typeface="Open Sans 1"/>
                <a:cs typeface="Open Sans 1"/>
                <a:sym typeface="Open Sans 1"/>
              </a:rPr>
              <a:t>ectu</a:t>
            </a:r>
            <a:r>
              <a:rPr lang="en-US" sz="1200">
                <a:solidFill>
                  <a:srgbClr val="000000"/>
                </a:solidFill>
                <a:latin typeface="Open Sans 1"/>
                <a:ea typeface="Open Sans 1"/>
                <a:cs typeface="Open Sans 1"/>
                <a:sym typeface="Open Sans 1"/>
              </a:rPr>
              <a:t>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1599641" y="3554260"/>
            <a:ext cx="15285355" cy="5273338"/>
            <a:chOff x="0" y="0"/>
            <a:chExt cx="4390373" cy="1514647"/>
          </a:xfrm>
        </p:grpSpPr>
        <p:sp>
          <p:nvSpPr>
            <p:cNvPr name="Freeform 3" id="3"/>
            <p:cNvSpPr/>
            <p:nvPr/>
          </p:nvSpPr>
          <p:spPr>
            <a:xfrm flipH="false" flipV="false" rot="0">
              <a:off x="0" y="0"/>
              <a:ext cx="4390373" cy="1514647"/>
            </a:xfrm>
            <a:custGeom>
              <a:avLst/>
              <a:gdLst/>
              <a:ahLst/>
              <a:cxnLst/>
              <a:rect r="r" b="b" t="t" l="l"/>
              <a:pathLst>
                <a:path h="1514647" w="4390373">
                  <a:moveTo>
                    <a:pt x="9117" y="0"/>
                  </a:moveTo>
                  <a:lnTo>
                    <a:pt x="4381256" y="0"/>
                  </a:lnTo>
                  <a:cubicBezTo>
                    <a:pt x="4386291" y="0"/>
                    <a:pt x="4390373" y="4082"/>
                    <a:pt x="4390373" y="9117"/>
                  </a:cubicBezTo>
                  <a:lnTo>
                    <a:pt x="4390373" y="1505530"/>
                  </a:lnTo>
                  <a:cubicBezTo>
                    <a:pt x="4390373" y="1507948"/>
                    <a:pt x="4389413" y="1510267"/>
                    <a:pt x="4387703" y="1511977"/>
                  </a:cubicBezTo>
                  <a:cubicBezTo>
                    <a:pt x="4385993" y="1513687"/>
                    <a:pt x="4383674" y="1514647"/>
                    <a:pt x="4381256" y="1514647"/>
                  </a:cubicBezTo>
                  <a:lnTo>
                    <a:pt x="9117" y="1514647"/>
                  </a:lnTo>
                  <a:cubicBezTo>
                    <a:pt x="6699" y="1514647"/>
                    <a:pt x="4380" y="1513687"/>
                    <a:pt x="2670" y="1511977"/>
                  </a:cubicBezTo>
                  <a:cubicBezTo>
                    <a:pt x="961" y="1510267"/>
                    <a:pt x="0" y="1507948"/>
                    <a:pt x="0" y="1505530"/>
                  </a:cubicBezTo>
                  <a:lnTo>
                    <a:pt x="0" y="9117"/>
                  </a:lnTo>
                  <a:cubicBezTo>
                    <a:pt x="0" y="6699"/>
                    <a:pt x="961" y="4380"/>
                    <a:pt x="2670" y="2670"/>
                  </a:cubicBezTo>
                  <a:cubicBezTo>
                    <a:pt x="4380" y="961"/>
                    <a:pt x="6699" y="0"/>
                    <a:pt x="9117" y="0"/>
                  </a:cubicBezTo>
                  <a:close/>
                </a:path>
              </a:pathLst>
            </a:custGeom>
            <a:solidFill>
              <a:srgbClr val="5C1F2E"/>
            </a:solidFill>
          </p:spPr>
        </p:sp>
        <p:sp>
          <p:nvSpPr>
            <p:cNvPr name="TextBox 4" id="4"/>
            <p:cNvSpPr txBox="true"/>
            <p:nvPr/>
          </p:nvSpPr>
          <p:spPr>
            <a:xfrm>
              <a:off x="0" y="-38100"/>
              <a:ext cx="4390373" cy="1552747"/>
            </a:xfrm>
            <a:prstGeom prst="rect">
              <a:avLst/>
            </a:prstGeom>
          </p:spPr>
          <p:txBody>
            <a:bodyPr anchor="ctr" rtlCol="false" tIns="50800" lIns="50800" bIns="50800" rIns="50800"/>
            <a:lstStyle/>
            <a:p>
              <a:pPr algn="ctr">
                <a:lnSpc>
                  <a:spcPts val="3079"/>
                </a:lnSpc>
              </a:pPr>
            </a:p>
          </p:txBody>
        </p:sp>
      </p:grpSp>
      <p:sp>
        <p:nvSpPr>
          <p:cNvPr name="AutoShape 5" id="5"/>
          <p:cNvSpPr/>
          <p:nvPr/>
        </p:nvSpPr>
        <p:spPr>
          <a:xfrm flipV="true">
            <a:off x="9261452" y="3337332"/>
            <a:ext cx="0" cy="5707194"/>
          </a:xfrm>
          <a:prstGeom prst="line">
            <a:avLst/>
          </a:prstGeom>
          <a:ln cap="flat" w="38100">
            <a:solidFill>
              <a:srgbClr val="F6EFDF"/>
            </a:solidFill>
            <a:prstDash val="solid"/>
            <a:headEnd type="none" len="sm" w="sm"/>
            <a:tailEnd type="none" len="sm" w="sm"/>
          </a:ln>
        </p:spPr>
      </p:sp>
      <p:grpSp>
        <p:nvGrpSpPr>
          <p:cNvPr name="Group 6" id="6"/>
          <p:cNvGrpSpPr/>
          <p:nvPr/>
        </p:nvGrpSpPr>
        <p:grpSpPr>
          <a:xfrm rot="0">
            <a:off x="6507715" y="1002829"/>
            <a:ext cx="528290" cy="590668"/>
            <a:chOff x="0" y="0"/>
            <a:chExt cx="704386" cy="787557"/>
          </a:xfrm>
        </p:grpSpPr>
        <p:grpSp>
          <p:nvGrpSpPr>
            <p:cNvPr name="Group 7" id="7"/>
            <p:cNvGrpSpPr/>
            <p:nvPr/>
          </p:nvGrpSpPr>
          <p:grpSpPr>
            <a:xfrm rot="0">
              <a:off x="0" y="0"/>
              <a:ext cx="704386" cy="787557"/>
              <a:chOff x="0" y="0"/>
              <a:chExt cx="389591" cy="435592"/>
            </a:xfrm>
          </p:grpSpPr>
          <p:sp>
            <p:nvSpPr>
              <p:cNvPr name="Freeform 8" id="8"/>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9" id="9"/>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10" id="10"/>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11" id="11"/>
          <p:cNvSpPr/>
          <p:nvPr/>
        </p:nvSpPr>
        <p:spPr>
          <a:xfrm flipH="false" flipV="false" rot="0">
            <a:off x="921972" y="1917753"/>
            <a:ext cx="576808" cy="438374"/>
          </a:xfrm>
          <a:custGeom>
            <a:avLst/>
            <a:gdLst/>
            <a:ahLst/>
            <a:cxnLst/>
            <a:rect r="r" b="b" t="t" l="l"/>
            <a:pathLst>
              <a:path h="438374" w="576808">
                <a:moveTo>
                  <a:pt x="0" y="0"/>
                </a:moveTo>
                <a:lnTo>
                  <a:pt x="576808" y="0"/>
                </a:lnTo>
                <a:lnTo>
                  <a:pt x="576808" y="438374"/>
                </a:lnTo>
                <a:lnTo>
                  <a:pt x="0" y="438374"/>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true" rot="0">
            <a:off x="13225313" y="2634554"/>
            <a:ext cx="570961" cy="433931"/>
          </a:xfrm>
          <a:custGeom>
            <a:avLst/>
            <a:gdLst/>
            <a:ahLst/>
            <a:cxnLst/>
            <a:rect r="r" b="b" t="t" l="l"/>
            <a:pathLst>
              <a:path h="433931" w="570961">
                <a:moveTo>
                  <a:pt x="570962" y="433931"/>
                </a:moveTo>
                <a:lnTo>
                  <a:pt x="0" y="433931"/>
                </a:lnTo>
                <a:lnTo>
                  <a:pt x="0" y="0"/>
                </a:lnTo>
                <a:lnTo>
                  <a:pt x="570962" y="0"/>
                </a:lnTo>
                <a:lnTo>
                  <a:pt x="570962" y="433931"/>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7">
              <a:alphaModFix amt="48000"/>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7">
              <a:alphaModFix amt="48000"/>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1902720" y="3897751"/>
            <a:ext cx="7138283" cy="4586357"/>
            <a:chOff x="0" y="0"/>
            <a:chExt cx="2050363" cy="1316954"/>
          </a:xfrm>
        </p:grpSpPr>
        <p:sp>
          <p:nvSpPr>
            <p:cNvPr name="Freeform 17" id="17"/>
            <p:cNvSpPr/>
            <p:nvPr/>
          </p:nvSpPr>
          <p:spPr>
            <a:xfrm flipH="false" flipV="false" rot="0">
              <a:off x="0" y="0"/>
              <a:ext cx="2050363" cy="1316954"/>
            </a:xfrm>
            <a:custGeom>
              <a:avLst/>
              <a:gdLst/>
              <a:ahLst/>
              <a:cxnLst/>
              <a:rect r="r" b="b" t="t" l="l"/>
              <a:pathLst>
                <a:path h="1316954" w="2050363">
                  <a:moveTo>
                    <a:pt x="2050363" y="19522"/>
                  </a:moveTo>
                  <a:lnTo>
                    <a:pt x="2050363" y="1297432"/>
                  </a:lnTo>
                  <a:cubicBezTo>
                    <a:pt x="2050363" y="1302610"/>
                    <a:pt x="2048306" y="1307575"/>
                    <a:pt x="2044645" y="1311237"/>
                  </a:cubicBezTo>
                  <a:cubicBezTo>
                    <a:pt x="2040984" y="1314898"/>
                    <a:pt x="2036018" y="1316954"/>
                    <a:pt x="2030841" y="1316954"/>
                  </a:cubicBezTo>
                  <a:lnTo>
                    <a:pt x="19522" y="1316954"/>
                  </a:lnTo>
                  <a:cubicBezTo>
                    <a:pt x="14345" y="1316954"/>
                    <a:pt x="9379" y="1314898"/>
                    <a:pt x="5718" y="1311237"/>
                  </a:cubicBezTo>
                  <a:cubicBezTo>
                    <a:pt x="2057" y="1307575"/>
                    <a:pt x="0" y="1302610"/>
                    <a:pt x="0" y="1297432"/>
                  </a:cubicBezTo>
                  <a:lnTo>
                    <a:pt x="0" y="19522"/>
                  </a:lnTo>
                  <a:cubicBezTo>
                    <a:pt x="0" y="14345"/>
                    <a:pt x="2057" y="9379"/>
                    <a:pt x="5718" y="5718"/>
                  </a:cubicBezTo>
                  <a:cubicBezTo>
                    <a:pt x="9379" y="2057"/>
                    <a:pt x="14345" y="0"/>
                    <a:pt x="19522" y="0"/>
                  </a:cubicBezTo>
                  <a:lnTo>
                    <a:pt x="2030841" y="0"/>
                  </a:lnTo>
                  <a:cubicBezTo>
                    <a:pt x="2036018" y="0"/>
                    <a:pt x="2040984" y="2057"/>
                    <a:pt x="2044645" y="5718"/>
                  </a:cubicBezTo>
                  <a:cubicBezTo>
                    <a:pt x="2048306" y="9379"/>
                    <a:pt x="2050363" y="14345"/>
                    <a:pt x="2050363" y="19522"/>
                  </a:cubicBezTo>
                  <a:close/>
                </a:path>
              </a:pathLst>
            </a:custGeom>
            <a:gradFill rotWithShape="true">
              <a:gsLst>
                <a:gs pos="0">
                  <a:srgbClr val="9B9898">
                    <a:alpha val="100000"/>
                  </a:srgbClr>
                </a:gs>
                <a:gs pos="100000">
                  <a:srgbClr val="D1D1D1">
                    <a:alpha val="100000"/>
                  </a:srgbClr>
                </a:gs>
              </a:gsLst>
              <a:lin ang="0"/>
            </a:gradFill>
          </p:spPr>
        </p:sp>
        <p:sp>
          <p:nvSpPr>
            <p:cNvPr name="TextBox 18" id="18"/>
            <p:cNvSpPr txBox="true"/>
            <p:nvPr/>
          </p:nvSpPr>
          <p:spPr>
            <a:xfrm>
              <a:off x="0" y="-38100"/>
              <a:ext cx="2050363" cy="1355054"/>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9519129" y="3897751"/>
            <a:ext cx="7138283" cy="4586357"/>
            <a:chOff x="0" y="0"/>
            <a:chExt cx="2050363" cy="1316954"/>
          </a:xfrm>
        </p:grpSpPr>
        <p:sp>
          <p:nvSpPr>
            <p:cNvPr name="Freeform 20" id="20"/>
            <p:cNvSpPr/>
            <p:nvPr/>
          </p:nvSpPr>
          <p:spPr>
            <a:xfrm flipH="false" flipV="false" rot="0">
              <a:off x="0" y="0"/>
              <a:ext cx="2050363" cy="1316954"/>
            </a:xfrm>
            <a:custGeom>
              <a:avLst/>
              <a:gdLst/>
              <a:ahLst/>
              <a:cxnLst/>
              <a:rect r="r" b="b" t="t" l="l"/>
              <a:pathLst>
                <a:path h="1316954" w="2050363">
                  <a:moveTo>
                    <a:pt x="2050363" y="19522"/>
                  </a:moveTo>
                  <a:lnTo>
                    <a:pt x="2050363" y="1297432"/>
                  </a:lnTo>
                  <a:cubicBezTo>
                    <a:pt x="2050363" y="1302610"/>
                    <a:pt x="2048306" y="1307575"/>
                    <a:pt x="2044645" y="1311237"/>
                  </a:cubicBezTo>
                  <a:cubicBezTo>
                    <a:pt x="2040984" y="1314898"/>
                    <a:pt x="2036018" y="1316954"/>
                    <a:pt x="2030841" y="1316954"/>
                  </a:cubicBezTo>
                  <a:lnTo>
                    <a:pt x="19522" y="1316954"/>
                  </a:lnTo>
                  <a:cubicBezTo>
                    <a:pt x="14345" y="1316954"/>
                    <a:pt x="9379" y="1314898"/>
                    <a:pt x="5718" y="1311237"/>
                  </a:cubicBezTo>
                  <a:cubicBezTo>
                    <a:pt x="2057" y="1307575"/>
                    <a:pt x="0" y="1302610"/>
                    <a:pt x="0" y="1297432"/>
                  </a:cubicBezTo>
                  <a:lnTo>
                    <a:pt x="0" y="19522"/>
                  </a:lnTo>
                  <a:cubicBezTo>
                    <a:pt x="0" y="14345"/>
                    <a:pt x="2057" y="9379"/>
                    <a:pt x="5718" y="5718"/>
                  </a:cubicBezTo>
                  <a:cubicBezTo>
                    <a:pt x="9379" y="2057"/>
                    <a:pt x="14345" y="0"/>
                    <a:pt x="19522" y="0"/>
                  </a:cubicBezTo>
                  <a:lnTo>
                    <a:pt x="2030841" y="0"/>
                  </a:lnTo>
                  <a:cubicBezTo>
                    <a:pt x="2036018" y="0"/>
                    <a:pt x="2040984" y="2057"/>
                    <a:pt x="2044645" y="5718"/>
                  </a:cubicBezTo>
                  <a:cubicBezTo>
                    <a:pt x="2048306" y="9379"/>
                    <a:pt x="2050363" y="14345"/>
                    <a:pt x="2050363" y="19522"/>
                  </a:cubicBezTo>
                  <a:close/>
                </a:path>
              </a:pathLst>
            </a:custGeom>
            <a:gradFill rotWithShape="true">
              <a:gsLst>
                <a:gs pos="0">
                  <a:srgbClr val="F1D796">
                    <a:alpha val="100000"/>
                  </a:srgbClr>
                </a:gs>
                <a:gs pos="100000">
                  <a:srgbClr val="CAA76D">
                    <a:alpha val="100000"/>
                  </a:srgbClr>
                </a:gs>
              </a:gsLst>
              <a:lin ang="0"/>
            </a:gradFill>
          </p:spPr>
        </p:sp>
        <p:sp>
          <p:nvSpPr>
            <p:cNvPr name="TextBox 21" id="21"/>
            <p:cNvSpPr txBox="true"/>
            <p:nvPr/>
          </p:nvSpPr>
          <p:spPr>
            <a:xfrm>
              <a:off x="0" y="-38100"/>
              <a:ext cx="2050363" cy="1355054"/>
            </a:xfrm>
            <a:prstGeom prst="rect">
              <a:avLst/>
            </a:prstGeom>
          </p:spPr>
          <p:txBody>
            <a:bodyPr anchor="ctr" rtlCol="false" tIns="50800" lIns="50800" bIns="50800" rIns="50800"/>
            <a:lstStyle/>
            <a:p>
              <a:pPr algn="ctr">
                <a:lnSpc>
                  <a:spcPts val="3079"/>
                </a:lnSpc>
              </a:pPr>
            </a:p>
          </p:txBody>
        </p:sp>
      </p:grpSp>
      <p:sp>
        <p:nvSpPr>
          <p:cNvPr name="Freeform 22" id="22"/>
          <p:cNvSpPr/>
          <p:nvPr/>
        </p:nvSpPr>
        <p:spPr>
          <a:xfrm flipH="false" flipV="false" rot="0">
            <a:off x="3352617" y="9006426"/>
            <a:ext cx="11601817" cy="964358"/>
          </a:xfrm>
          <a:custGeom>
            <a:avLst/>
            <a:gdLst/>
            <a:ahLst/>
            <a:cxnLst/>
            <a:rect r="r" b="b" t="t" l="l"/>
            <a:pathLst>
              <a:path h="964358" w="11601817">
                <a:moveTo>
                  <a:pt x="0" y="0"/>
                </a:moveTo>
                <a:lnTo>
                  <a:pt x="11601816" y="0"/>
                </a:lnTo>
                <a:lnTo>
                  <a:pt x="11601816" y="964358"/>
                </a:lnTo>
                <a:lnTo>
                  <a:pt x="0" y="964358"/>
                </a:lnTo>
                <a:lnTo>
                  <a:pt x="0" y="0"/>
                </a:lnTo>
                <a:close/>
              </a:path>
            </a:pathLst>
          </a:custGeom>
          <a:blipFill>
            <a:blip r:embed="rId9"/>
            <a:stretch>
              <a:fillRect l="0" t="0" r="0" b="0"/>
            </a:stretch>
          </a:blipFill>
        </p:spPr>
      </p:sp>
      <p:sp>
        <p:nvSpPr>
          <p:cNvPr name="AutoShape 23" id="23"/>
          <p:cNvSpPr/>
          <p:nvPr/>
        </p:nvSpPr>
        <p:spPr>
          <a:xfrm>
            <a:off x="2176449" y="4800892"/>
            <a:ext cx="6492240" cy="0"/>
          </a:xfrm>
          <a:prstGeom prst="line">
            <a:avLst/>
          </a:prstGeom>
          <a:ln cap="flat" w="38100">
            <a:solidFill>
              <a:srgbClr val="F6EFDF"/>
            </a:solidFill>
            <a:prstDash val="solid"/>
            <a:headEnd type="none" len="sm" w="sm"/>
            <a:tailEnd type="none" len="sm" w="sm"/>
          </a:ln>
        </p:spPr>
      </p:sp>
      <p:sp>
        <p:nvSpPr>
          <p:cNvPr name="AutoShape 24" id="24"/>
          <p:cNvSpPr/>
          <p:nvPr/>
        </p:nvSpPr>
        <p:spPr>
          <a:xfrm>
            <a:off x="9910867" y="4800892"/>
            <a:ext cx="6492240" cy="0"/>
          </a:xfrm>
          <a:prstGeom prst="line">
            <a:avLst/>
          </a:prstGeom>
          <a:ln cap="flat" w="38100">
            <a:solidFill>
              <a:srgbClr val="F6EFDF"/>
            </a:solidFill>
            <a:prstDash val="solid"/>
            <a:headEnd type="none" len="sm" w="sm"/>
            <a:tailEnd type="none" len="sm" w="sm"/>
          </a:ln>
        </p:spPr>
      </p:sp>
      <p:sp>
        <p:nvSpPr>
          <p:cNvPr name="Freeform 25" id="25"/>
          <p:cNvSpPr/>
          <p:nvPr/>
        </p:nvSpPr>
        <p:spPr>
          <a:xfrm flipH="false" flipV="false" rot="0">
            <a:off x="1902720" y="5143500"/>
            <a:ext cx="794939" cy="2952632"/>
          </a:xfrm>
          <a:custGeom>
            <a:avLst/>
            <a:gdLst/>
            <a:ahLst/>
            <a:cxnLst/>
            <a:rect r="r" b="b" t="t" l="l"/>
            <a:pathLst>
              <a:path h="2952632" w="794939">
                <a:moveTo>
                  <a:pt x="0" y="0"/>
                </a:moveTo>
                <a:lnTo>
                  <a:pt x="794939" y="0"/>
                </a:lnTo>
                <a:lnTo>
                  <a:pt x="794939" y="2952632"/>
                </a:lnTo>
                <a:lnTo>
                  <a:pt x="0" y="2952632"/>
                </a:lnTo>
                <a:lnTo>
                  <a:pt x="0" y="0"/>
                </a:lnTo>
                <a:close/>
              </a:path>
            </a:pathLst>
          </a:custGeom>
          <a:blipFill>
            <a:blip r:embed="rId10"/>
            <a:stretch>
              <a:fillRect l="0" t="0" r="0" b="0"/>
            </a:stretch>
          </a:blipFill>
        </p:spPr>
      </p:sp>
      <p:sp>
        <p:nvSpPr>
          <p:cNvPr name="Freeform 26" id="26"/>
          <p:cNvSpPr/>
          <p:nvPr/>
        </p:nvSpPr>
        <p:spPr>
          <a:xfrm flipH="false" flipV="false" rot="0">
            <a:off x="9538583" y="5143500"/>
            <a:ext cx="919915" cy="2952632"/>
          </a:xfrm>
          <a:custGeom>
            <a:avLst/>
            <a:gdLst/>
            <a:ahLst/>
            <a:cxnLst/>
            <a:rect r="r" b="b" t="t" l="l"/>
            <a:pathLst>
              <a:path h="2952632" w="919915">
                <a:moveTo>
                  <a:pt x="0" y="0"/>
                </a:moveTo>
                <a:lnTo>
                  <a:pt x="919916" y="0"/>
                </a:lnTo>
                <a:lnTo>
                  <a:pt x="919916" y="2952632"/>
                </a:lnTo>
                <a:lnTo>
                  <a:pt x="0" y="2952632"/>
                </a:lnTo>
                <a:lnTo>
                  <a:pt x="0" y="0"/>
                </a:lnTo>
                <a:close/>
              </a:path>
            </a:pathLst>
          </a:custGeom>
          <a:blipFill>
            <a:blip r:embed="rId11"/>
            <a:stretch>
              <a:fillRect l="0" t="0" r="0" b="0"/>
            </a:stretch>
          </a:blipFill>
        </p:spPr>
      </p:sp>
      <p:sp>
        <p:nvSpPr>
          <p:cNvPr name="TextBox 27" id="27"/>
          <p:cNvSpPr txBox="true"/>
          <p:nvPr/>
        </p:nvSpPr>
        <p:spPr>
          <a:xfrm rot="0">
            <a:off x="1453746" y="1832028"/>
            <a:ext cx="16169675" cy="1181454"/>
          </a:xfrm>
          <a:prstGeom prst="rect">
            <a:avLst/>
          </a:prstGeom>
        </p:spPr>
        <p:txBody>
          <a:bodyPr anchor="t" rtlCol="false" tIns="0" lIns="0" bIns="0" rIns="0">
            <a:spAutoFit/>
          </a:bodyPr>
          <a:lstStyle/>
          <a:p>
            <a:pPr algn="ctr">
              <a:lnSpc>
                <a:spcPts val="4705"/>
              </a:lnSpc>
            </a:pPr>
            <a:r>
              <a:rPr lang="en-US" sz="3361" i="true">
                <a:solidFill>
                  <a:srgbClr val="493323"/>
                </a:solidFill>
                <a:latin typeface="Cambria Italics"/>
                <a:ea typeface="Cambria Italics"/>
                <a:cs typeface="Cambria Italics"/>
                <a:sym typeface="Cambria Italics"/>
              </a:rPr>
              <a:t>¿Cómo transformar la experiencia subjetiva de lectura en informacion útil y comprensible, sin invadir ni diagnosticar al usuario?</a:t>
            </a:r>
          </a:p>
        </p:txBody>
      </p:sp>
      <p:sp>
        <p:nvSpPr>
          <p:cNvPr name="TextBox 28" id="28"/>
          <p:cNvSpPr txBox="true"/>
          <p:nvPr/>
        </p:nvSpPr>
        <p:spPr>
          <a:xfrm rot="0">
            <a:off x="7249996" y="776199"/>
            <a:ext cx="4230737"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Problematica</a:t>
            </a:r>
          </a:p>
        </p:txBody>
      </p:sp>
      <p:sp>
        <p:nvSpPr>
          <p:cNvPr name="TextBox 29" id="29"/>
          <p:cNvSpPr txBox="true"/>
          <p:nvPr/>
        </p:nvSpPr>
        <p:spPr>
          <a:xfrm rot="0">
            <a:off x="3416619" y="3890864"/>
            <a:ext cx="4110484" cy="790575"/>
          </a:xfrm>
          <a:prstGeom prst="rect">
            <a:avLst/>
          </a:prstGeom>
        </p:spPr>
        <p:txBody>
          <a:bodyPr anchor="t" rtlCol="false" tIns="0" lIns="0" bIns="0" rIns="0">
            <a:spAutoFit/>
          </a:bodyPr>
          <a:lstStyle/>
          <a:p>
            <a:pPr algn="ctr">
              <a:lnSpc>
                <a:spcPts val="6300"/>
              </a:lnSpc>
            </a:pPr>
            <a:r>
              <a:rPr lang="en-US" b="true" sz="4500">
                <a:solidFill>
                  <a:srgbClr val="474646"/>
                </a:solidFill>
                <a:latin typeface="Cambria Bold"/>
                <a:ea typeface="Cambria Bold"/>
                <a:cs typeface="Cambria Bold"/>
                <a:sym typeface="Cambria Bold"/>
              </a:rPr>
              <a:t>El estado actual</a:t>
            </a:r>
          </a:p>
        </p:txBody>
      </p:sp>
      <p:sp>
        <p:nvSpPr>
          <p:cNvPr name="TextBox 30" id="30"/>
          <p:cNvSpPr txBox="true"/>
          <p:nvPr/>
        </p:nvSpPr>
        <p:spPr>
          <a:xfrm rot="0">
            <a:off x="10418518" y="3890864"/>
            <a:ext cx="5339507" cy="790575"/>
          </a:xfrm>
          <a:prstGeom prst="rect">
            <a:avLst/>
          </a:prstGeom>
        </p:spPr>
        <p:txBody>
          <a:bodyPr anchor="t" rtlCol="false" tIns="0" lIns="0" bIns="0" rIns="0">
            <a:spAutoFit/>
          </a:bodyPr>
          <a:lstStyle/>
          <a:p>
            <a:pPr algn="ctr">
              <a:lnSpc>
                <a:spcPts val="6300"/>
              </a:lnSpc>
            </a:pPr>
            <a:r>
              <a:rPr lang="en-US" sz="4500" b="true">
                <a:solidFill>
                  <a:srgbClr val="493323"/>
                </a:solidFill>
                <a:latin typeface="Cambria Bold"/>
                <a:ea typeface="Cambria Bold"/>
                <a:cs typeface="Cambria Bold"/>
                <a:sym typeface="Cambria Bold"/>
              </a:rPr>
              <a:t>El enfoque de LibrIA</a:t>
            </a:r>
          </a:p>
        </p:txBody>
      </p:sp>
      <p:sp>
        <p:nvSpPr>
          <p:cNvPr name="TextBox 31" id="31"/>
          <p:cNvSpPr txBox="true"/>
          <p:nvPr/>
        </p:nvSpPr>
        <p:spPr>
          <a:xfrm rot="0">
            <a:off x="2823837" y="5283317"/>
            <a:ext cx="5296049" cy="441324"/>
          </a:xfrm>
          <a:prstGeom prst="rect">
            <a:avLst/>
          </a:prstGeom>
        </p:spPr>
        <p:txBody>
          <a:bodyPr anchor="t" rtlCol="false" tIns="0" lIns="0" bIns="0" rIns="0">
            <a:spAutoFit/>
          </a:bodyPr>
          <a:lstStyle/>
          <a:p>
            <a:pPr algn="l">
              <a:lnSpc>
                <a:spcPts val="3500"/>
              </a:lnSpc>
            </a:pPr>
            <a:r>
              <a:rPr lang="en-US" sz="2500">
                <a:solidFill>
                  <a:srgbClr val="000000"/>
                </a:solidFill>
                <a:latin typeface="Cambria"/>
                <a:ea typeface="Cambria"/>
                <a:cs typeface="Cambria"/>
                <a:sym typeface="Cambria"/>
              </a:rPr>
              <a:t>Datos generados dispersos sin explotar</a:t>
            </a:r>
          </a:p>
        </p:txBody>
      </p:sp>
      <p:sp>
        <p:nvSpPr>
          <p:cNvPr name="TextBox 32" id="32"/>
          <p:cNvSpPr txBox="true"/>
          <p:nvPr/>
        </p:nvSpPr>
        <p:spPr>
          <a:xfrm rot="0">
            <a:off x="2823837" y="6188017"/>
            <a:ext cx="5167759" cy="879474"/>
          </a:xfrm>
          <a:prstGeom prst="rect">
            <a:avLst/>
          </a:prstGeom>
        </p:spPr>
        <p:txBody>
          <a:bodyPr anchor="t" rtlCol="false" tIns="0" lIns="0" bIns="0" rIns="0">
            <a:spAutoFit/>
          </a:bodyPr>
          <a:lstStyle/>
          <a:p>
            <a:pPr algn="l">
              <a:lnSpc>
                <a:spcPts val="3500"/>
              </a:lnSpc>
            </a:pPr>
            <a:r>
              <a:rPr lang="en-US" sz="2500">
                <a:solidFill>
                  <a:srgbClr val="000000"/>
                </a:solidFill>
                <a:latin typeface="Cambria"/>
                <a:ea typeface="Cambria"/>
                <a:cs typeface="Cambria"/>
                <a:sym typeface="Cambria"/>
              </a:rPr>
              <a:t>Plataformas centradas en ventas de la </a:t>
            </a:r>
          </a:p>
          <a:p>
            <a:pPr algn="l">
              <a:lnSpc>
                <a:spcPts val="3500"/>
              </a:lnSpc>
            </a:pPr>
            <a:r>
              <a:rPr lang="en-US" sz="2500">
                <a:solidFill>
                  <a:srgbClr val="000000"/>
                </a:solidFill>
                <a:latin typeface="Cambria"/>
                <a:ea typeface="Cambria"/>
                <a:cs typeface="Cambria"/>
                <a:sym typeface="Cambria"/>
              </a:rPr>
              <a:t>obra editorial</a:t>
            </a:r>
          </a:p>
        </p:txBody>
      </p:sp>
      <p:sp>
        <p:nvSpPr>
          <p:cNvPr name="TextBox 33" id="33"/>
          <p:cNvSpPr txBox="true"/>
          <p:nvPr/>
        </p:nvSpPr>
        <p:spPr>
          <a:xfrm rot="0">
            <a:off x="2823837" y="7302383"/>
            <a:ext cx="3994249" cy="879474"/>
          </a:xfrm>
          <a:prstGeom prst="rect">
            <a:avLst/>
          </a:prstGeom>
        </p:spPr>
        <p:txBody>
          <a:bodyPr anchor="t" rtlCol="false" tIns="0" lIns="0" bIns="0" rIns="0">
            <a:spAutoFit/>
          </a:bodyPr>
          <a:lstStyle/>
          <a:p>
            <a:pPr algn="l">
              <a:lnSpc>
                <a:spcPts val="3500"/>
              </a:lnSpc>
            </a:pPr>
            <a:r>
              <a:rPr lang="en-US" sz="2500">
                <a:solidFill>
                  <a:srgbClr val="000000"/>
                </a:solidFill>
                <a:latin typeface="Cambria"/>
                <a:ea typeface="Cambria"/>
                <a:cs typeface="Cambria"/>
                <a:sym typeface="Cambria"/>
              </a:rPr>
              <a:t>Lectores sin herramientas de </a:t>
            </a:r>
          </a:p>
          <a:p>
            <a:pPr algn="l">
              <a:lnSpc>
                <a:spcPts val="3500"/>
              </a:lnSpc>
            </a:pPr>
            <a:r>
              <a:rPr lang="en-US" sz="2500">
                <a:solidFill>
                  <a:srgbClr val="000000"/>
                </a:solidFill>
                <a:latin typeface="Cambria"/>
                <a:ea typeface="Cambria"/>
                <a:cs typeface="Cambria"/>
                <a:sym typeface="Cambria"/>
              </a:rPr>
              <a:t>autoconocimiento</a:t>
            </a:r>
          </a:p>
        </p:txBody>
      </p:sp>
      <p:sp>
        <p:nvSpPr>
          <p:cNvPr name="TextBox 34" id="34"/>
          <p:cNvSpPr txBox="true"/>
          <p:nvPr/>
        </p:nvSpPr>
        <p:spPr>
          <a:xfrm rot="0">
            <a:off x="10481224" y="5283317"/>
            <a:ext cx="6851300" cy="441324"/>
          </a:xfrm>
          <a:prstGeom prst="rect">
            <a:avLst/>
          </a:prstGeom>
        </p:spPr>
        <p:txBody>
          <a:bodyPr anchor="t" rtlCol="false" tIns="0" lIns="0" bIns="0" rIns="0">
            <a:spAutoFit/>
          </a:bodyPr>
          <a:lstStyle/>
          <a:p>
            <a:pPr algn="l">
              <a:lnSpc>
                <a:spcPts val="3500"/>
              </a:lnSpc>
            </a:pPr>
            <a:r>
              <a:rPr lang="en-US" sz="2500">
                <a:solidFill>
                  <a:srgbClr val="000000"/>
                </a:solidFill>
                <a:latin typeface="Cambria"/>
                <a:ea typeface="Cambria"/>
                <a:cs typeface="Cambria"/>
                <a:sym typeface="Cambria"/>
              </a:rPr>
              <a:t>Datos estructurados generados por el lector</a:t>
            </a:r>
          </a:p>
        </p:txBody>
      </p:sp>
      <p:sp>
        <p:nvSpPr>
          <p:cNvPr name="TextBox 35" id="35"/>
          <p:cNvSpPr txBox="true"/>
          <p:nvPr/>
        </p:nvSpPr>
        <p:spPr>
          <a:xfrm rot="0">
            <a:off x="10482811" y="6146741"/>
            <a:ext cx="6055965" cy="879474"/>
          </a:xfrm>
          <a:prstGeom prst="rect">
            <a:avLst/>
          </a:prstGeom>
        </p:spPr>
        <p:txBody>
          <a:bodyPr anchor="t" rtlCol="false" tIns="0" lIns="0" bIns="0" rIns="0">
            <a:spAutoFit/>
          </a:bodyPr>
          <a:lstStyle/>
          <a:p>
            <a:pPr algn="l">
              <a:lnSpc>
                <a:spcPts val="3500"/>
              </a:lnSpc>
            </a:pPr>
            <a:r>
              <a:rPr lang="en-US" sz="2500">
                <a:solidFill>
                  <a:srgbClr val="000000"/>
                </a:solidFill>
                <a:latin typeface="Cambria"/>
                <a:ea typeface="Cambria"/>
                <a:cs typeface="Cambria"/>
                <a:sym typeface="Cambria"/>
              </a:rPr>
              <a:t>Foco en la recepción y emoción asociada a la </a:t>
            </a:r>
          </a:p>
          <a:p>
            <a:pPr algn="l">
              <a:lnSpc>
                <a:spcPts val="3500"/>
              </a:lnSpc>
            </a:pPr>
            <a:r>
              <a:rPr lang="en-US" sz="2500">
                <a:solidFill>
                  <a:srgbClr val="000000"/>
                </a:solidFill>
                <a:latin typeface="Cambria"/>
                <a:ea typeface="Cambria"/>
                <a:cs typeface="Cambria"/>
                <a:sym typeface="Cambria"/>
              </a:rPr>
              <a:t>lectura</a:t>
            </a:r>
          </a:p>
        </p:txBody>
      </p:sp>
      <p:sp>
        <p:nvSpPr>
          <p:cNvPr name="TextBox 36" id="36"/>
          <p:cNvSpPr txBox="true"/>
          <p:nvPr/>
        </p:nvSpPr>
        <p:spPr>
          <a:xfrm rot="0">
            <a:off x="10482811" y="7261166"/>
            <a:ext cx="5729585" cy="879474"/>
          </a:xfrm>
          <a:prstGeom prst="rect">
            <a:avLst/>
          </a:prstGeom>
        </p:spPr>
        <p:txBody>
          <a:bodyPr anchor="t" rtlCol="false" tIns="0" lIns="0" bIns="0" rIns="0">
            <a:spAutoFit/>
          </a:bodyPr>
          <a:lstStyle/>
          <a:p>
            <a:pPr algn="l">
              <a:lnSpc>
                <a:spcPts val="3500"/>
              </a:lnSpc>
            </a:pPr>
            <a:r>
              <a:rPr lang="en-US" sz="2500">
                <a:solidFill>
                  <a:srgbClr val="000000"/>
                </a:solidFill>
                <a:latin typeface="Cambria"/>
                <a:ea typeface="Cambria"/>
                <a:cs typeface="Cambria"/>
                <a:sym typeface="Cambria"/>
              </a:rPr>
              <a:t>Herramientas accesibles para patrones de </a:t>
            </a:r>
          </a:p>
          <a:p>
            <a:pPr algn="l">
              <a:lnSpc>
                <a:spcPts val="3500"/>
              </a:lnSpc>
            </a:pPr>
            <a:r>
              <a:rPr lang="en-US" sz="2500">
                <a:solidFill>
                  <a:srgbClr val="000000"/>
                </a:solidFill>
                <a:latin typeface="Cambria"/>
                <a:ea typeface="Cambria"/>
                <a:cs typeface="Cambria"/>
                <a:sym typeface="Cambria"/>
              </a:rPr>
              <a:t>lectura y respuesta emocional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670861"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928419" y="3552204"/>
            <a:ext cx="16793967" cy="6199461"/>
            <a:chOff x="0" y="0"/>
            <a:chExt cx="22391956" cy="8265949"/>
          </a:xfrm>
        </p:grpSpPr>
        <p:sp>
          <p:nvSpPr>
            <p:cNvPr name="Freeform 11" id="11"/>
            <p:cNvSpPr/>
            <p:nvPr/>
          </p:nvSpPr>
          <p:spPr>
            <a:xfrm flipH="false" flipV="false" rot="0">
              <a:off x="0" y="0"/>
              <a:ext cx="22391956" cy="8265949"/>
            </a:xfrm>
            <a:custGeom>
              <a:avLst/>
              <a:gdLst/>
              <a:ahLst/>
              <a:cxnLst/>
              <a:rect r="r" b="b" t="t" l="l"/>
              <a:pathLst>
                <a:path h="8265949" w="22391956">
                  <a:moveTo>
                    <a:pt x="0" y="0"/>
                  </a:moveTo>
                  <a:lnTo>
                    <a:pt x="22391956" y="0"/>
                  </a:lnTo>
                  <a:lnTo>
                    <a:pt x="22391956" y="8265949"/>
                  </a:lnTo>
                  <a:lnTo>
                    <a:pt x="0" y="8265949"/>
                  </a:lnTo>
                  <a:lnTo>
                    <a:pt x="0" y="0"/>
                  </a:lnTo>
                  <a:close/>
                </a:path>
              </a:pathLst>
            </a:custGeom>
            <a:blipFill>
              <a:blip r:embed="rId7"/>
              <a:stretch>
                <a:fillRect l="0" t="0" r="0" b="0"/>
              </a:stretch>
            </a:blipFill>
            <a:ln w="38100" cap="sq">
              <a:solidFill>
                <a:srgbClr val="8B5E3C"/>
              </a:solidFill>
              <a:prstDash val="solid"/>
              <a:miter/>
            </a:ln>
          </p:spPr>
        </p:sp>
        <p:grpSp>
          <p:nvGrpSpPr>
            <p:cNvPr name="Group 12" id="12"/>
            <p:cNvGrpSpPr/>
            <p:nvPr/>
          </p:nvGrpSpPr>
          <p:grpSpPr>
            <a:xfrm rot="0">
              <a:off x="848129" y="6807732"/>
              <a:ext cx="20926379" cy="938874"/>
              <a:chOff x="0" y="0"/>
              <a:chExt cx="4133606" cy="185457"/>
            </a:xfrm>
          </p:grpSpPr>
          <p:sp>
            <p:nvSpPr>
              <p:cNvPr name="Freeform 13" id="13"/>
              <p:cNvSpPr/>
              <p:nvPr/>
            </p:nvSpPr>
            <p:spPr>
              <a:xfrm flipH="false" flipV="false" rot="0">
                <a:off x="0" y="0"/>
                <a:ext cx="4133606" cy="185457"/>
              </a:xfrm>
              <a:custGeom>
                <a:avLst/>
                <a:gdLst/>
                <a:ahLst/>
                <a:cxnLst/>
                <a:rect r="r" b="b" t="t" l="l"/>
                <a:pathLst>
                  <a:path h="185457" w="4133606">
                    <a:moveTo>
                      <a:pt x="0" y="0"/>
                    </a:moveTo>
                    <a:lnTo>
                      <a:pt x="4133606" y="0"/>
                    </a:lnTo>
                    <a:lnTo>
                      <a:pt x="4133606" y="185457"/>
                    </a:lnTo>
                    <a:lnTo>
                      <a:pt x="0" y="185457"/>
                    </a:lnTo>
                    <a:close/>
                  </a:path>
                </a:pathLst>
              </a:custGeom>
              <a:solidFill>
                <a:srgbClr val="3F081B"/>
              </a:solidFill>
            </p:spPr>
          </p:sp>
          <p:sp>
            <p:nvSpPr>
              <p:cNvPr name="TextBox 14" id="14"/>
              <p:cNvSpPr txBox="true"/>
              <p:nvPr/>
            </p:nvSpPr>
            <p:spPr>
              <a:xfrm>
                <a:off x="0" y="-38100"/>
                <a:ext cx="4133606" cy="223557"/>
              </a:xfrm>
              <a:prstGeom prst="rect">
                <a:avLst/>
              </a:prstGeom>
            </p:spPr>
            <p:txBody>
              <a:bodyPr anchor="ctr" rtlCol="false" tIns="50800" lIns="50800" bIns="50800" rIns="50800"/>
              <a:lstStyle/>
              <a:p>
                <a:pPr algn="ctr">
                  <a:lnSpc>
                    <a:spcPts val="3079"/>
                  </a:lnSpc>
                </a:pPr>
              </a:p>
            </p:txBody>
          </p:sp>
        </p:grpSp>
      </p:grpSp>
      <p:sp>
        <p:nvSpPr>
          <p:cNvPr name="TextBox 15" id="15"/>
          <p:cNvSpPr txBox="true"/>
          <p:nvPr/>
        </p:nvSpPr>
        <p:spPr>
          <a:xfrm rot="0">
            <a:off x="7545799" y="776199"/>
            <a:ext cx="2709714"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Solución</a:t>
            </a:r>
          </a:p>
        </p:txBody>
      </p:sp>
      <p:sp>
        <p:nvSpPr>
          <p:cNvPr name="TextBox 16" id="16"/>
          <p:cNvSpPr txBox="true"/>
          <p:nvPr/>
        </p:nvSpPr>
        <p:spPr>
          <a:xfrm rot="0">
            <a:off x="1082926" y="2094083"/>
            <a:ext cx="16484954" cy="1003189"/>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Un producto minimo viable (MVP) que acompaña al lector de principio a fin, transformando emociones y valoraciones en variables estructuradas e interpretadas.</a:t>
            </a:r>
          </a:p>
        </p:txBody>
      </p:sp>
      <p:sp>
        <p:nvSpPr>
          <p:cNvPr name="TextBox 17" id="17"/>
          <p:cNvSpPr txBox="true"/>
          <p:nvPr/>
        </p:nvSpPr>
        <p:spPr>
          <a:xfrm rot="0">
            <a:off x="1688631" y="8692019"/>
            <a:ext cx="1206401"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Registro </a:t>
            </a:r>
          </a:p>
          <a:p>
            <a:pPr algn="ctr">
              <a:lnSpc>
                <a:spcPts val="2520"/>
              </a:lnSpc>
            </a:pPr>
            <a:r>
              <a:rPr lang="en-US" sz="1800" b="true">
                <a:solidFill>
                  <a:srgbClr val="FFFFFF"/>
                </a:solidFill>
                <a:latin typeface="Open Sans 1 Bold"/>
                <a:ea typeface="Open Sans 1 Bold"/>
                <a:cs typeface="Open Sans 1 Bold"/>
                <a:sym typeface="Open Sans 1 Bold"/>
              </a:rPr>
              <a:t>de usuario</a:t>
            </a:r>
          </a:p>
        </p:txBody>
      </p:sp>
      <p:sp>
        <p:nvSpPr>
          <p:cNvPr name="TextBox 18" id="18"/>
          <p:cNvSpPr txBox="true"/>
          <p:nvPr/>
        </p:nvSpPr>
        <p:spPr>
          <a:xfrm rot="0">
            <a:off x="3743172" y="8692019"/>
            <a:ext cx="1121866"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Selección </a:t>
            </a:r>
          </a:p>
          <a:p>
            <a:pPr algn="ctr">
              <a:lnSpc>
                <a:spcPts val="2520"/>
              </a:lnSpc>
            </a:pPr>
            <a:r>
              <a:rPr lang="en-US" sz="1800" b="true">
                <a:solidFill>
                  <a:srgbClr val="FFFFFF"/>
                </a:solidFill>
                <a:latin typeface="Open Sans 1 Bold"/>
                <a:ea typeface="Open Sans 1 Bold"/>
                <a:cs typeface="Open Sans 1 Bold"/>
                <a:sym typeface="Open Sans 1 Bold"/>
              </a:rPr>
              <a:t>del libro</a:t>
            </a:r>
          </a:p>
        </p:txBody>
      </p:sp>
      <p:sp>
        <p:nvSpPr>
          <p:cNvPr name="TextBox 19" id="19"/>
          <p:cNvSpPr txBox="true"/>
          <p:nvPr/>
        </p:nvSpPr>
        <p:spPr>
          <a:xfrm rot="0">
            <a:off x="5587789" y="8692019"/>
            <a:ext cx="1383655"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Experiencia </a:t>
            </a:r>
          </a:p>
          <a:p>
            <a:pPr algn="ctr">
              <a:lnSpc>
                <a:spcPts val="2520"/>
              </a:lnSpc>
            </a:pPr>
            <a:r>
              <a:rPr lang="en-US" sz="1800" b="true">
                <a:solidFill>
                  <a:srgbClr val="FFFFFF"/>
                </a:solidFill>
                <a:latin typeface="Open Sans 1 Bold"/>
                <a:ea typeface="Open Sans 1 Bold"/>
                <a:cs typeface="Open Sans 1 Bold"/>
                <a:sym typeface="Open Sans 1 Bold"/>
              </a:rPr>
              <a:t>de lectura</a:t>
            </a:r>
          </a:p>
        </p:txBody>
      </p:sp>
      <p:sp>
        <p:nvSpPr>
          <p:cNvPr name="TextBox 20" id="20"/>
          <p:cNvSpPr txBox="true"/>
          <p:nvPr/>
        </p:nvSpPr>
        <p:spPr>
          <a:xfrm rot="0">
            <a:off x="7528136" y="8692019"/>
            <a:ext cx="1511201"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Datos </a:t>
            </a:r>
          </a:p>
          <a:p>
            <a:pPr algn="ctr">
              <a:lnSpc>
                <a:spcPts val="2520"/>
              </a:lnSpc>
            </a:pPr>
            <a:r>
              <a:rPr lang="en-US" sz="1800" b="true">
                <a:solidFill>
                  <a:srgbClr val="FFFFFF"/>
                </a:solidFill>
                <a:latin typeface="Open Sans 1 Bold"/>
                <a:ea typeface="Open Sans 1 Bold"/>
                <a:cs typeface="Open Sans 1 Bold"/>
                <a:sym typeface="Open Sans 1 Bold"/>
              </a:rPr>
              <a:t>almacenados</a:t>
            </a:r>
          </a:p>
        </p:txBody>
      </p:sp>
      <p:sp>
        <p:nvSpPr>
          <p:cNvPr name="TextBox 21" id="21"/>
          <p:cNvSpPr txBox="true"/>
          <p:nvPr/>
        </p:nvSpPr>
        <p:spPr>
          <a:xfrm rot="0">
            <a:off x="9374450" y="8692019"/>
            <a:ext cx="1762125"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Procesamiento </a:t>
            </a:r>
          </a:p>
          <a:p>
            <a:pPr algn="ctr">
              <a:lnSpc>
                <a:spcPts val="2520"/>
              </a:lnSpc>
            </a:pPr>
            <a:r>
              <a:rPr lang="en-US" sz="1800" b="true">
                <a:solidFill>
                  <a:srgbClr val="FFFFFF"/>
                </a:solidFill>
                <a:latin typeface="Open Sans 1 Bold"/>
                <a:ea typeface="Open Sans 1 Bold"/>
                <a:cs typeface="Open Sans 1 Bold"/>
                <a:sym typeface="Open Sans 1 Bold"/>
              </a:rPr>
              <a:t>y analisis</a:t>
            </a:r>
          </a:p>
        </p:txBody>
      </p:sp>
      <p:sp>
        <p:nvSpPr>
          <p:cNvPr name="TextBox 22" id="22"/>
          <p:cNvSpPr txBox="true"/>
          <p:nvPr/>
        </p:nvSpPr>
        <p:spPr>
          <a:xfrm rot="0">
            <a:off x="11640628" y="8692019"/>
            <a:ext cx="1123801"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Variables </a:t>
            </a:r>
          </a:p>
          <a:p>
            <a:pPr algn="ctr">
              <a:lnSpc>
                <a:spcPts val="2520"/>
              </a:lnSpc>
            </a:pPr>
            <a:r>
              <a:rPr lang="en-US" sz="1800" b="true">
                <a:solidFill>
                  <a:srgbClr val="FFFFFF"/>
                </a:solidFill>
                <a:latin typeface="Open Sans 1 Bold"/>
                <a:ea typeface="Open Sans 1 Bold"/>
                <a:cs typeface="Open Sans 1 Bold"/>
                <a:sym typeface="Open Sans 1 Bold"/>
              </a:rPr>
              <a:t>Analíticas</a:t>
            </a:r>
          </a:p>
        </p:txBody>
      </p:sp>
      <p:sp>
        <p:nvSpPr>
          <p:cNvPr name="TextBox 23" id="23"/>
          <p:cNvSpPr txBox="true"/>
          <p:nvPr/>
        </p:nvSpPr>
        <p:spPr>
          <a:xfrm rot="0">
            <a:off x="13780446" y="8692019"/>
            <a:ext cx="942082"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Análisis </a:t>
            </a:r>
          </a:p>
          <a:p>
            <a:pPr algn="ctr">
              <a:lnSpc>
                <a:spcPts val="2520"/>
              </a:lnSpc>
            </a:pPr>
            <a:r>
              <a:rPr lang="en-US" sz="1800" b="true">
                <a:solidFill>
                  <a:srgbClr val="FFFFFF"/>
                </a:solidFill>
                <a:latin typeface="Open Sans 1 Bold"/>
                <a:ea typeface="Open Sans 1 Bold"/>
                <a:cs typeface="Open Sans 1 Bold"/>
                <a:sym typeface="Open Sans 1 Bold"/>
              </a:rPr>
              <a:t>con IA</a:t>
            </a:r>
          </a:p>
        </p:txBody>
      </p:sp>
      <p:sp>
        <p:nvSpPr>
          <p:cNvPr name="TextBox 24" id="24"/>
          <p:cNvSpPr txBox="true"/>
          <p:nvPr/>
        </p:nvSpPr>
        <p:spPr>
          <a:xfrm rot="0">
            <a:off x="15527167" y="8671878"/>
            <a:ext cx="1547961" cy="611504"/>
          </a:xfrm>
          <a:prstGeom prst="rect">
            <a:avLst/>
          </a:prstGeom>
        </p:spPr>
        <p:txBody>
          <a:bodyPr anchor="t" rtlCol="false" tIns="0" lIns="0" bIns="0" rIns="0">
            <a:spAutoFit/>
          </a:bodyPr>
          <a:lstStyle/>
          <a:p>
            <a:pPr algn="ctr">
              <a:lnSpc>
                <a:spcPts val="2520"/>
              </a:lnSpc>
            </a:pPr>
            <a:r>
              <a:rPr lang="en-US" sz="1800" b="true">
                <a:solidFill>
                  <a:srgbClr val="FFFFFF"/>
                </a:solidFill>
                <a:latin typeface="Open Sans 1 Bold"/>
                <a:ea typeface="Open Sans 1 Bold"/>
                <a:cs typeface="Open Sans 1 Bold"/>
                <a:sym typeface="Open Sans 1 Bold"/>
              </a:rPr>
              <a:t>Visualización </a:t>
            </a:r>
          </a:p>
          <a:p>
            <a:pPr algn="ctr">
              <a:lnSpc>
                <a:spcPts val="2520"/>
              </a:lnSpc>
            </a:pPr>
            <a:r>
              <a:rPr lang="en-US" sz="1800" b="true">
                <a:solidFill>
                  <a:srgbClr val="FFFFFF"/>
                </a:solidFill>
                <a:latin typeface="Open Sans 1 Bold"/>
                <a:ea typeface="Open Sans 1 Bold"/>
                <a:cs typeface="Open Sans 1 Bold"/>
                <a:sym typeface="Open Sans 1 Bold"/>
              </a:rPr>
              <a:t>del resultado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670861"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7679745" y="776199"/>
            <a:ext cx="2441823"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Alcance</a:t>
            </a:r>
          </a:p>
        </p:txBody>
      </p:sp>
      <p:sp>
        <p:nvSpPr>
          <p:cNvPr name="TextBox 11" id="11"/>
          <p:cNvSpPr txBox="true"/>
          <p:nvPr/>
        </p:nvSpPr>
        <p:spPr>
          <a:xfrm rot="0">
            <a:off x="1803046" y="2094083"/>
            <a:ext cx="16484954" cy="498364"/>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El MVP tendrá un enfoque exclusivo en la validación técnica del flujo de emociones y análitica.</a:t>
            </a:r>
          </a:p>
        </p:txBody>
      </p:sp>
      <p:grpSp>
        <p:nvGrpSpPr>
          <p:cNvPr name="Group 12" id="12"/>
          <p:cNvGrpSpPr/>
          <p:nvPr/>
        </p:nvGrpSpPr>
        <p:grpSpPr>
          <a:xfrm rot="0">
            <a:off x="1210376" y="3049647"/>
            <a:ext cx="16239826" cy="6665367"/>
            <a:chOff x="0" y="0"/>
            <a:chExt cx="21653102" cy="8887156"/>
          </a:xfrm>
        </p:grpSpPr>
        <p:sp>
          <p:nvSpPr>
            <p:cNvPr name="Freeform 13" id="13"/>
            <p:cNvSpPr/>
            <p:nvPr/>
          </p:nvSpPr>
          <p:spPr>
            <a:xfrm flipH="false" flipV="false" rot="0">
              <a:off x="4729375" y="0"/>
              <a:ext cx="16923726" cy="8887156"/>
            </a:xfrm>
            <a:custGeom>
              <a:avLst/>
              <a:gdLst/>
              <a:ahLst/>
              <a:cxnLst/>
              <a:rect r="r" b="b" t="t" l="l"/>
              <a:pathLst>
                <a:path h="8887156" w="16923726">
                  <a:moveTo>
                    <a:pt x="0" y="0"/>
                  </a:moveTo>
                  <a:lnTo>
                    <a:pt x="16923727" y="0"/>
                  </a:lnTo>
                  <a:lnTo>
                    <a:pt x="16923727" y="8887156"/>
                  </a:lnTo>
                  <a:lnTo>
                    <a:pt x="0" y="8887156"/>
                  </a:lnTo>
                  <a:lnTo>
                    <a:pt x="0" y="0"/>
                  </a:lnTo>
                  <a:close/>
                </a:path>
              </a:pathLst>
            </a:custGeom>
            <a:blipFill>
              <a:blip r:embed="rId7"/>
              <a:stretch>
                <a:fillRect l="0" t="0" r="0" b="0"/>
              </a:stretch>
            </a:blipFill>
          </p:spPr>
        </p:sp>
        <p:sp>
          <p:nvSpPr>
            <p:cNvPr name="TextBox 14" id="14"/>
            <p:cNvSpPr txBox="true"/>
            <p:nvPr/>
          </p:nvSpPr>
          <p:spPr>
            <a:xfrm rot="0">
              <a:off x="0" y="1391414"/>
              <a:ext cx="3878659" cy="2051334"/>
            </a:xfrm>
            <a:prstGeom prst="rect">
              <a:avLst/>
            </a:prstGeom>
          </p:spPr>
          <p:txBody>
            <a:bodyPr anchor="t" rtlCol="false" tIns="0" lIns="0" bIns="0" rIns="0">
              <a:spAutoFit/>
            </a:bodyPr>
            <a:lstStyle/>
            <a:p>
              <a:pPr algn="ctr">
                <a:lnSpc>
                  <a:spcPts val="6288"/>
                </a:lnSpc>
              </a:pPr>
              <a:r>
                <a:rPr lang="en-US" sz="4491" b="true">
                  <a:solidFill>
                    <a:srgbClr val="493323"/>
                  </a:solidFill>
                  <a:latin typeface="Cambria Bold"/>
                  <a:ea typeface="Cambria Bold"/>
                  <a:cs typeface="Cambria Bold"/>
                  <a:sym typeface="Cambria Bold"/>
                </a:rPr>
                <a:t>Dentro </a:t>
              </a:r>
            </a:p>
            <a:p>
              <a:pPr algn="ctr">
                <a:lnSpc>
                  <a:spcPts val="6288"/>
                </a:lnSpc>
              </a:pPr>
              <a:r>
                <a:rPr lang="en-US" sz="4491" b="true">
                  <a:solidFill>
                    <a:srgbClr val="493323"/>
                  </a:solidFill>
                  <a:latin typeface="Cambria Bold"/>
                  <a:ea typeface="Cambria Bold"/>
                  <a:cs typeface="Cambria Bold"/>
                  <a:sym typeface="Cambria Bold"/>
                </a:rPr>
                <a:t>del alcance</a:t>
              </a:r>
            </a:p>
          </p:txBody>
        </p:sp>
        <p:sp>
          <p:nvSpPr>
            <p:cNvPr name="TextBox 15" id="15"/>
            <p:cNvSpPr txBox="true"/>
            <p:nvPr/>
          </p:nvSpPr>
          <p:spPr>
            <a:xfrm rot="0">
              <a:off x="0" y="5771174"/>
              <a:ext cx="3878659" cy="2051334"/>
            </a:xfrm>
            <a:prstGeom prst="rect">
              <a:avLst/>
            </a:prstGeom>
          </p:spPr>
          <p:txBody>
            <a:bodyPr anchor="t" rtlCol="false" tIns="0" lIns="0" bIns="0" rIns="0">
              <a:spAutoFit/>
            </a:bodyPr>
            <a:lstStyle/>
            <a:p>
              <a:pPr algn="ctr">
                <a:lnSpc>
                  <a:spcPts val="6288"/>
                </a:lnSpc>
              </a:pPr>
              <a:r>
                <a:rPr lang="en-US" sz="4491" b="true">
                  <a:solidFill>
                    <a:srgbClr val="493323"/>
                  </a:solidFill>
                  <a:latin typeface="Cambria Bold"/>
                  <a:ea typeface="Cambria Bold"/>
                  <a:cs typeface="Cambria Bold"/>
                  <a:sym typeface="Cambria Bold"/>
                </a:rPr>
                <a:t>Fuera </a:t>
              </a:r>
            </a:p>
            <a:p>
              <a:pPr algn="ctr">
                <a:lnSpc>
                  <a:spcPts val="6288"/>
                </a:lnSpc>
              </a:pPr>
              <a:r>
                <a:rPr lang="en-US" sz="4491" b="true">
                  <a:solidFill>
                    <a:srgbClr val="493323"/>
                  </a:solidFill>
                  <a:latin typeface="Cambria Bold"/>
                  <a:ea typeface="Cambria Bold"/>
                  <a:cs typeface="Cambria Bold"/>
                  <a:sym typeface="Cambria Bold"/>
                </a:rPr>
                <a:t>del alcance</a:t>
              </a:r>
            </a:p>
          </p:txBody>
        </p:sp>
        <p:sp>
          <p:nvSpPr>
            <p:cNvPr name="TextBox 16" id="16"/>
            <p:cNvSpPr txBox="true"/>
            <p:nvPr/>
          </p:nvSpPr>
          <p:spPr>
            <a:xfrm rot="-5400000">
              <a:off x="4898900" y="2217798"/>
              <a:ext cx="3339505" cy="4938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Registro y perfil</a:t>
              </a:r>
            </a:p>
          </p:txBody>
        </p:sp>
        <p:sp>
          <p:nvSpPr>
            <p:cNvPr name="TextBox 17" id="17"/>
            <p:cNvSpPr txBox="true"/>
            <p:nvPr/>
          </p:nvSpPr>
          <p:spPr>
            <a:xfrm rot="-5400000">
              <a:off x="6632964" y="2234066"/>
              <a:ext cx="3339505" cy="4938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Búsqueda</a:t>
              </a:r>
            </a:p>
          </p:txBody>
        </p:sp>
        <p:sp>
          <p:nvSpPr>
            <p:cNvPr name="TextBox 18" id="18"/>
            <p:cNvSpPr txBox="true"/>
            <p:nvPr/>
          </p:nvSpPr>
          <p:spPr>
            <a:xfrm rot="-5400000">
              <a:off x="8814206" y="1973716"/>
              <a:ext cx="3339505" cy="10145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Biblioteca personal</a:t>
              </a:r>
            </a:p>
          </p:txBody>
        </p:sp>
        <p:sp>
          <p:nvSpPr>
            <p:cNvPr name="TextBox 19" id="19"/>
            <p:cNvSpPr txBox="true"/>
            <p:nvPr/>
          </p:nvSpPr>
          <p:spPr>
            <a:xfrm rot="-5400000">
              <a:off x="10898698" y="1957448"/>
              <a:ext cx="3339505" cy="10145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Estados y Valoraciones</a:t>
              </a:r>
            </a:p>
          </p:txBody>
        </p:sp>
        <p:sp>
          <p:nvSpPr>
            <p:cNvPr name="TextBox 20" id="20"/>
            <p:cNvSpPr txBox="true"/>
            <p:nvPr/>
          </p:nvSpPr>
          <p:spPr>
            <a:xfrm rot="-5400000">
              <a:off x="12771468" y="1970148"/>
              <a:ext cx="3339505" cy="10145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Registro de emociones</a:t>
              </a:r>
            </a:p>
          </p:txBody>
        </p:sp>
        <p:sp>
          <p:nvSpPr>
            <p:cNvPr name="TextBox 21" id="21"/>
            <p:cNvSpPr txBox="true"/>
            <p:nvPr/>
          </p:nvSpPr>
          <p:spPr>
            <a:xfrm rot="-5400000">
              <a:off x="15486768" y="2392496"/>
              <a:ext cx="3339505" cy="4938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Proceso ETL</a:t>
              </a:r>
            </a:p>
          </p:txBody>
        </p:sp>
        <p:sp>
          <p:nvSpPr>
            <p:cNvPr name="TextBox 22" id="22"/>
            <p:cNvSpPr txBox="true"/>
            <p:nvPr/>
          </p:nvSpPr>
          <p:spPr>
            <a:xfrm rot="-5400000">
              <a:off x="16669560" y="2230498"/>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API de IA</a:t>
              </a:r>
            </a:p>
          </p:txBody>
        </p:sp>
        <p:sp>
          <p:nvSpPr>
            <p:cNvPr name="TextBox 23" id="23"/>
            <p:cNvSpPr txBox="true"/>
            <p:nvPr/>
          </p:nvSpPr>
          <p:spPr>
            <a:xfrm rot="-6339942">
              <a:off x="18295824" y="2238711"/>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Visualización</a:t>
              </a:r>
            </a:p>
          </p:txBody>
        </p:sp>
        <p:sp>
          <p:nvSpPr>
            <p:cNvPr name="TextBox 24" id="24"/>
            <p:cNvSpPr txBox="true"/>
            <p:nvPr/>
          </p:nvSpPr>
          <p:spPr>
            <a:xfrm rot="-5400000">
              <a:off x="11835084" y="2392496"/>
              <a:ext cx="3339505" cy="4938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Reseñas</a:t>
              </a:r>
            </a:p>
          </p:txBody>
        </p:sp>
        <p:sp>
          <p:nvSpPr>
            <p:cNvPr name="TextBox 25" id="25"/>
            <p:cNvSpPr txBox="true"/>
            <p:nvPr/>
          </p:nvSpPr>
          <p:spPr>
            <a:xfrm rot="-5400000">
              <a:off x="14378080" y="2234066"/>
              <a:ext cx="3774563" cy="493817"/>
            </a:xfrm>
            <a:prstGeom prst="rect">
              <a:avLst/>
            </a:prstGeom>
          </p:spPr>
          <p:txBody>
            <a:bodyPr anchor="t" rtlCol="false" tIns="0" lIns="0" bIns="0" rIns="0">
              <a:spAutoFit/>
            </a:bodyPr>
            <a:lstStyle/>
            <a:p>
              <a:pPr algn="ctr">
                <a:lnSpc>
                  <a:spcPts val="3080"/>
                </a:lnSpc>
              </a:pPr>
              <a:r>
                <a:rPr lang="en-US" sz="2200">
                  <a:solidFill>
                    <a:srgbClr val="000000"/>
                  </a:solidFill>
                  <a:latin typeface="Camping"/>
                  <a:ea typeface="Camping"/>
                  <a:cs typeface="Camping"/>
                  <a:sym typeface="Camping"/>
                </a:rPr>
                <a:t>Variables analíticas</a:t>
              </a:r>
            </a:p>
          </p:txBody>
        </p:sp>
        <p:sp>
          <p:nvSpPr>
            <p:cNvPr name="TextBox 26" id="26"/>
            <p:cNvSpPr txBox="true"/>
            <p:nvPr/>
          </p:nvSpPr>
          <p:spPr>
            <a:xfrm rot="-5400000">
              <a:off x="4771900" y="6597557"/>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Mensajería</a:t>
              </a:r>
            </a:p>
          </p:txBody>
        </p:sp>
        <p:sp>
          <p:nvSpPr>
            <p:cNvPr name="TextBox 27" id="27"/>
            <p:cNvSpPr txBox="true"/>
            <p:nvPr/>
          </p:nvSpPr>
          <p:spPr>
            <a:xfrm rot="-5400000">
              <a:off x="5523582" y="6724557"/>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Comunidades</a:t>
              </a:r>
            </a:p>
          </p:txBody>
        </p:sp>
        <p:sp>
          <p:nvSpPr>
            <p:cNvPr name="TextBox 28" id="28"/>
            <p:cNvSpPr txBox="true"/>
            <p:nvPr/>
          </p:nvSpPr>
          <p:spPr>
            <a:xfrm rot="-5400000">
              <a:off x="7231556" y="6572157"/>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APP móvil nativa</a:t>
              </a:r>
            </a:p>
          </p:txBody>
        </p:sp>
        <p:sp>
          <p:nvSpPr>
            <p:cNvPr name="TextBox 29" id="29"/>
            <p:cNvSpPr txBox="true"/>
            <p:nvPr/>
          </p:nvSpPr>
          <p:spPr>
            <a:xfrm rot="2398125">
              <a:off x="12097288" y="6755944"/>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Monetización</a:t>
              </a:r>
            </a:p>
          </p:txBody>
        </p:sp>
        <p:sp>
          <p:nvSpPr>
            <p:cNvPr name="TextBox 30" id="30"/>
            <p:cNvSpPr txBox="true"/>
            <p:nvPr/>
          </p:nvSpPr>
          <p:spPr>
            <a:xfrm rot="-5400000">
              <a:off x="14047176" y="6470558"/>
              <a:ext cx="3339505" cy="493817"/>
            </a:xfrm>
            <a:prstGeom prst="rect">
              <a:avLst/>
            </a:prstGeom>
          </p:spPr>
          <p:txBody>
            <a:bodyPr anchor="t" rtlCol="false" tIns="0" lIns="0" bIns="0" rIns="0">
              <a:spAutoFit/>
            </a:bodyPr>
            <a:lstStyle/>
            <a:p>
              <a:pPr algn="ctr">
                <a:lnSpc>
                  <a:spcPts val="3080"/>
                </a:lnSpc>
              </a:pPr>
              <a:r>
                <a:rPr lang="en-US" sz="2200">
                  <a:solidFill>
                    <a:srgbClr val="FFFFFF"/>
                  </a:solidFill>
                  <a:latin typeface="Camping"/>
                  <a:ea typeface="Camping"/>
                  <a:cs typeface="Camping"/>
                  <a:sym typeface="Camping"/>
                </a:rPr>
                <a:t>Modelo IA propio</a:t>
              </a:r>
            </a:p>
          </p:txBody>
        </p:sp>
        <p:sp>
          <p:nvSpPr>
            <p:cNvPr name="TextBox 31" id="31"/>
            <p:cNvSpPr txBox="true"/>
            <p:nvPr/>
          </p:nvSpPr>
          <p:spPr>
            <a:xfrm rot="0">
              <a:off x="16517686" y="7825572"/>
              <a:ext cx="4324462" cy="427777"/>
            </a:xfrm>
            <a:prstGeom prst="rect">
              <a:avLst/>
            </a:prstGeom>
          </p:spPr>
          <p:txBody>
            <a:bodyPr anchor="t" rtlCol="false" tIns="0" lIns="0" bIns="0" rIns="0">
              <a:spAutoFit/>
            </a:bodyPr>
            <a:lstStyle/>
            <a:p>
              <a:pPr algn="ctr">
                <a:lnSpc>
                  <a:spcPts val="2660"/>
                </a:lnSpc>
              </a:pPr>
              <a:r>
                <a:rPr lang="en-US" sz="1900">
                  <a:solidFill>
                    <a:srgbClr val="FFFFFF"/>
                  </a:solidFill>
                  <a:latin typeface="Camping"/>
                  <a:ea typeface="Camping"/>
                  <a:cs typeface="Camping"/>
                  <a:sym typeface="Camping"/>
                </a:rPr>
                <a:t>Microservicios/ Big Data</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670861"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flipV="true">
            <a:off x="1724737" y="4349479"/>
            <a:ext cx="14501367" cy="3260"/>
          </a:xfrm>
          <a:prstGeom prst="line">
            <a:avLst/>
          </a:prstGeom>
          <a:ln cap="flat" w="38100">
            <a:solidFill>
              <a:srgbClr val="8B5E3C">
                <a:alpha val="33725"/>
              </a:srgbClr>
            </a:solidFill>
            <a:prstDash val="solid"/>
            <a:headEnd type="none" len="sm" w="sm"/>
            <a:tailEnd type="none" len="sm" w="sm"/>
          </a:ln>
        </p:spPr>
      </p:sp>
      <p:sp>
        <p:nvSpPr>
          <p:cNvPr name="Freeform 11" id="11"/>
          <p:cNvSpPr/>
          <p:nvPr/>
        </p:nvSpPr>
        <p:spPr>
          <a:xfrm flipH="false" flipV="false" rot="0">
            <a:off x="1469675" y="3957950"/>
            <a:ext cx="763726" cy="791426"/>
          </a:xfrm>
          <a:custGeom>
            <a:avLst/>
            <a:gdLst/>
            <a:ahLst/>
            <a:cxnLst/>
            <a:rect r="r" b="b" t="t" l="l"/>
            <a:pathLst>
              <a:path h="791426" w="763726">
                <a:moveTo>
                  <a:pt x="0" y="0"/>
                </a:moveTo>
                <a:lnTo>
                  <a:pt x="763726" y="0"/>
                </a:lnTo>
                <a:lnTo>
                  <a:pt x="763726" y="791426"/>
                </a:lnTo>
                <a:lnTo>
                  <a:pt x="0" y="7914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5159466" y="3957950"/>
            <a:ext cx="761943" cy="789578"/>
          </a:xfrm>
          <a:custGeom>
            <a:avLst/>
            <a:gdLst/>
            <a:ahLst/>
            <a:cxnLst/>
            <a:rect r="r" b="b" t="t" l="l"/>
            <a:pathLst>
              <a:path h="789578" w="761943">
                <a:moveTo>
                  <a:pt x="0" y="0"/>
                </a:moveTo>
                <a:lnTo>
                  <a:pt x="761943" y="0"/>
                </a:lnTo>
                <a:lnTo>
                  <a:pt x="761943" y="789578"/>
                </a:lnTo>
                <a:lnTo>
                  <a:pt x="0" y="7895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8847475" y="3960317"/>
            <a:ext cx="763998" cy="791707"/>
          </a:xfrm>
          <a:custGeom>
            <a:avLst/>
            <a:gdLst/>
            <a:ahLst/>
            <a:cxnLst/>
            <a:rect r="r" b="b" t="t" l="l"/>
            <a:pathLst>
              <a:path h="791707" w="763998">
                <a:moveTo>
                  <a:pt x="0" y="0"/>
                </a:moveTo>
                <a:lnTo>
                  <a:pt x="763997" y="0"/>
                </a:lnTo>
                <a:lnTo>
                  <a:pt x="763997" y="791707"/>
                </a:lnTo>
                <a:lnTo>
                  <a:pt x="0" y="791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12535647" y="3960317"/>
            <a:ext cx="766282" cy="794074"/>
          </a:xfrm>
          <a:custGeom>
            <a:avLst/>
            <a:gdLst/>
            <a:ahLst/>
            <a:cxnLst/>
            <a:rect r="r" b="b" t="t" l="l"/>
            <a:pathLst>
              <a:path h="794074" w="766282">
                <a:moveTo>
                  <a:pt x="0" y="0"/>
                </a:moveTo>
                <a:lnTo>
                  <a:pt x="766282" y="0"/>
                </a:lnTo>
                <a:lnTo>
                  <a:pt x="766282" y="794075"/>
                </a:lnTo>
                <a:lnTo>
                  <a:pt x="0" y="7940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16226104" y="3953540"/>
            <a:ext cx="763998" cy="791707"/>
          </a:xfrm>
          <a:custGeom>
            <a:avLst/>
            <a:gdLst/>
            <a:ahLst/>
            <a:cxnLst/>
            <a:rect r="r" b="b" t="t" l="l"/>
            <a:pathLst>
              <a:path h="791707" w="763998">
                <a:moveTo>
                  <a:pt x="0" y="0"/>
                </a:moveTo>
                <a:lnTo>
                  <a:pt x="763998" y="0"/>
                </a:lnTo>
                <a:lnTo>
                  <a:pt x="763998" y="791707"/>
                </a:lnTo>
                <a:lnTo>
                  <a:pt x="0" y="79170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6" id="16"/>
          <p:cNvGrpSpPr/>
          <p:nvPr/>
        </p:nvGrpSpPr>
        <p:grpSpPr>
          <a:xfrm rot="0">
            <a:off x="308488" y="4919308"/>
            <a:ext cx="3086100" cy="4001542"/>
            <a:chOff x="0" y="0"/>
            <a:chExt cx="812800" cy="1053904"/>
          </a:xfrm>
        </p:grpSpPr>
        <p:sp>
          <p:nvSpPr>
            <p:cNvPr name="Freeform 17" id="17"/>
            <p:cNvSpPr/>
            <p:nvPr/>
          </p:nvSpPr>
          <p:spPr>
            <a:xfrm flipH="false" flipV="false" rot="0">
              <a:off x="0" y="0"/>
              <a:ext cx="812800" cy="1053904"/>
            </a:xfrm>
            <a:custGeom>
              <a:avLst/>
              <a:gdLst/>
              <a:ahLst/>
              <a:cxnLst/>
              <a:rect r="r" b="b" t="t" l="l"/>
              <a:pathLst>
                <a:path h="1053904" w="812800">
                  <a:moveTo>
                    <a:pt x="22578" y="0"/>
                  </a:moveTo>
                  <a:lnTo>
                    <a:pt x="790222" y="0"/>
                  </a:lnTo>
                  <a:cubicBezTo>
                    <a:pt x="802692" y="0"/>
                    <a:pt x="812800" y="10108"/>
                    <a:pt x="812800" y="22578"/>
                  </a:cubicBezTo>
                  <a:lnTo>
                    <a:pt x="812800" y="1031326"/>
                  </a:lnTo>
                  <a:cubicBezTo>
                    <a:pt x="812800" y="1043796"/>
                    <a:pt x="802692" y="1053904"/>
                    <a:pt x="790222" y="1053904"/>
                  </a:cubicBezTo>
                  <a:lnTo>
                    <a:pt x="22578" y="1053904"/>
                  </a:lnTo>
                  <a:cubicBezTo>
                    <a:pt x="10108" y="1053904"/>
                    <a:pt x="0" y="1043796"/>
                    <a:pt x="0" y="1031326"/>
                  </a:cubicBezTo>
                  <a:lnTo>
                    <a:pt x="0" y="22578"/>
                  </a:lnTo>
                  <a:cubicBezTo>
                    <a:pt x="0" y="10108"/>
                    <a:pt x="10108" y="0"/>
                    <a:pt x="22578" y="0"/>
                  </a:cubicBezTo>
                  <a:close/>
                </a:path>
              </a:pathLst>
            </a:custGeom>
            <a:solidFill>
              <a:srgbClr val="FDFEFD"/>
            </a:solidFill>
          </p:spPr>
        </p:sp>
        <p:sp>
          <p:nvSpPr>
            <p:cNvPr name="TextBox 18" id="18"/>
            <p:cNvSpPr txBox="true"/>
            <p:nvPr/>
          </p:nvSpPr>
          <p:spPr>
            <a:xfrm>
              <a:off x="0" y="-47625"/>
              <a:ext cx="812800" cy="1101529"/>
            </a:xfrm>
            <a:prstGeom prst="rect">
              <a:avLst/>
            </a:prstGeom>
          </p:spPr>
          <p:txBody>
            <a:bodyPr anchor="ctr" rtlCol="false" tIns="50800" lIns="50800" bIns="50800" rIns="50800"/>
            <a:lstStyle/>
            <a:p>
              <a:pPr algn="ctr">
                <a:lnSpc>
                  <a:spcPts val="3080"/>
                </a:lnSpc>
              </a:pPr>
            </a:p>
          </p:txBody>
        </p:sp>
      </p:grpSp>
      <p:sp>
        <p:nvSpPr>
          <p:cNvPr name="TextBox 19" id="19"/>
          <p:cNvSpPr txBox="true"/>
          <p:nvPr/>
        </p:nvSpPr>
        <p:spPr>
          <a:xfrm rot="0">
            <a:off x="7371785" y="754881"/>
            <a:ext cx="3917007"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Metodología</a:t>
            </a:r>
          </a:p>
        </p:txBody>
      </p:sp>
      <p:sp>
        <p:nvSpPr>
          <p:cNvPr name="TextBox 20" id="20"/>
          <p:cNvSpPr txBox="true"/>
          <p:nvPr/>
        </p:nvSpPr>
        <p:spPr>
          <a:xfrm rot="0">
            <a:off x="1087812" y="2094083"/>
            <a:ext cx="16484954" cy="1003189"/>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El proyecto se desarrollará utilizando una metodología de </a:t>
            </a:r>
            <a:r>
              <a:rPr lang="en-US" sz="2879" b="true">
                <a:solidFill>
                  <a:srgbClr val="493323"/>
                </a:solidFill>
                <a:latin typeface="Cambria Bold"/>
                <a:ea typeface="Cambria Bold"/>
                <a:cs typeface="Cambria Bold"/>
                <a:sym typeface="Cambria Bold"/>
              </a:rPr>
              <a:t>desarrollo ágil e incremental</a:t>
            </a:r>
            <a:r>
              <a:rPr lang="en-US" sz="2879">
                <a:solidFill>
                  <a:srgbClr val="493323"/>
                </a:solidFill>
                <a:latin typeface="Cambria"/>
                <a:ea typeface="Cambria"/>
                <a:cs typeface="Cambria"/>
                <a:sym typeface="Cambria"/>
              </a:rPr>
              <a:t>, organizada en iteraciones cortas y orientada a entregar progresivamente componentes funcionales del MVP.</a:t>
            </a:r>
          </a:p>
        </p:txBody>
      </p:sp>
      <p:grpSp>
        <p:nvGrpSpPr>
          <p:cNvPr name="Group 21" id="21"/>
          <p:cNvGrpSpPr/>
          <p:nvPr/>
        </p:nvGrpSpPr>
        <p:grpSpPr>
          <a:xfrm rot="0">
            <a:off x="3997388" y="4919308"/>
            <a:ext cx="3086100" cy="4001542"/>
            <a:chOff x="0" y="0"/>
            <a:chExt cx="812800" cy="1053904"/>
          </a:xfrm>
        </p:grpSpPr>
        <p:sp>
          <p:nvSpPr>
            <p:cNvPr name="Freeform 22" id="22"/>
            <p:cNvSpPr/>
            <p:nvPr/>
          </p:nvSpPr>
          <p:spPr>
            <a:xfrm flipH="false" flipV="false" rot="0">
              <a:off x="0" y="0"/>
              <a:ext cx="812800" cy="1053904"/>
            </a:xfrm>
            <a:custGeom>
              <a:avLst/>
              <a:gdLst/>
              <a:ahLst/>
              <a:cxnLst/>
              <a:rect r="r" b="b" t="t" l="l"/>
              <a:pathLst>
                <a:path h="1053904" w="812800">
                  <a:moveTo>
                    <a:pt x="22578" y="0"/>
                  </a:moveTo>
                  <a:lnTo>
                    <a:pt x="790222" y="0"/>
                  </a:lnTo>
                  <a:cubicBezTo>
                    <a:pt x="802692" y="0"/>
                    <a:pt x="812800" y="10108"/>
                    <a:pt x="812800" y="22578"/>
                  </a:cubicBezTo>
                  <a:lnTo>
                    <a:pt x="812800" y="1031326"/>
                  </a:lnTo>
                  <a:cubicBezTo>
                    <a:pt x="812800" y="1043796"/>
                    <a:pt x="802692" y="1053904"/>
                    <a:pt x="790222" y="1053904"/>
                  </a:cubicBezTo>
                  <a:lnTo>
                    <a:pt x="22578" y="1053904"/>
                  </a:lnTo>
                  <a:cubicBezTo>
                    <a:pt x="10108" y="1053904"/>
                    <a:pt x="0" y="1043796"/>
                    <a:pt x="0" y="1031326"/>
                  </a:cubicBezTo>
                  <a:lnTo>
                    <a:pt x="0" y="22578"/>
                  </a:lnTo>
                  <a:cubicBezTo>
                    <a:pt x="0" y="10108"/>
                    <a:pt x="10108" y="0"/>
                    <a:pt x="22578" y="0"/>
                  </a:cubicBezTo>
                  <a:close/>
                </a:path>
              </a:pathLst>
            </a:custGeom>
            <a:solidFill>
              <a:srgbClr val="FDFEFD"/>
            </a:solidFill>
          </p:spPr>
        </p:sp>
        <p:sp>
          <p:nvSpPr>
            <p:cNvPr name="TextBox 23" id="23"/>
            <p:cNvSpPr txBox="true"/>
            <p:nvPr/>
          </p:nvSpPr>
          <p:spPr>
            <a:xfrm>
              <a:off x="0" y="-47625"/>
              <a:ext cx="812800" cy="1101529"/>
            </a:xfrm>
            <a:prstGeom prst="rect">
              <a:avLst/>
            </a:prstGeom>
          </p:spPr>
          <p:txBody>
            <a:bodyPr anchor="ctr" rtlCol="false" tIns="50800" lIns="50800" bIns="50800" rIns="50800"/>
            <a:lstStyle/>
            <a:p>
              <a:pPr algn="ctr">
                <a:lnSpc>
                  <a:spcPts val="3080"/>
                </a:lnSpc>
              </a:pPr>
            </a:p>
          </p:txBody>
        </p:sp>
      </p:grpSp>
      <p:grpSp>
        <p:nvGrpSpPr>
          <p:cNvPr name="Group 24" id="24"/>
          <p:cNvGrpSpPr/>
          <p:nvPr/>
        </p:nvGrpSpPr>
        <p:grpSpPr>
          <a:xfrm rot="0">
            <a:off x="7686423" y="4919308"/>
            <a:ext cx="3086100" cy="4001542"/>
            <a:chOff x="0" y="0"/>
            <a:chExt cx="812800" cy="1053904"/>
          </a:xfrm>
        </p:grpSpPr>
        <p:sp>
          <p:nvSpPr>
            <p:cNvPr name="Freeform 25" id="25"/>
            <p:cNvSpPr/>
            <p:nvPr/>
          </p:nvSpPr>
          <p:spPr>
            <a:xfrm flipH="false" flipV="false" rot="0">
              <a:off x="0" y="0"/>
              <a:ext cx="812800" cy="1053904"/>
            </a:xfrm>
            <a:custGeom>
              <a:avLst/>
              <a:gdLst/>
              <a:ahLst/>
              <a:cxnLst/>
              <a:rect r="r" b="b" t="t" l="l"/>
              <a:pathLst>
                <a:path h="1053904" w="812800">
                  <a:moveTo>
                    <a:pt x="22578" y="0"/>
                  </a:moveTo>
                  <a:lnTo>
                    <a:pt x="790222" y="0"/>
                  </a:lnTo>
                  <a:cubicBezTo>
                    <a:pt x="802692" y="0"/>
                    <a:pt x="812800" y="10108"/>
                    <a:pt x="812800" y="22578"/>
                  </a:cubicBezTo>
                  <a:lnTo>
                    <a:pt x="812800" y="1031326"/>
                  </a:lnTo>
                  <a:cubicBezTo>
                    <a:pt x="812800" y="1043796"/>
                    <a:pt x="802692" y="1053904"/>
                    <a:pt x="790222" y="1053904"/>
                  </a:cubicBezTo>
                  <a:lnTo>
                    <a:pt x="22578" y="1053904"/>
                  </a:lnTo>
                  <a:cubicBezTo>
                    <a:pt x="10108" y="1053904"/>
                    <a:pt x="0" y="1043796"/>
                    <a:pt x="0" y="1031326"/>
                  </a:cubicBezTo>
                  <a:lnTo>
                    <a:pt x="0" y="22578"/>
                  </a:lnTo>
                  <a:cubicBezTo>
                    <a:pt x="0" y="10108"/>
                    <a:pt x="10108" y="0"/>
                    <a:pt x="22578" y="0"/>
                  </a:cubicBezTo>
                  <a:close/>
                </a:path>
              </a:pathLst>
            </a:custGeom>
            <a:solidFill>
              <a:srgbClr val="FDFEFD"/>
            </a:solidFill>
          </p:spPr>
        </p:sp>
        <p:sp>
          <p:nvSpPr>
            <p:cNvPr name="TextBox 26" id="26"/>
            <p:cNvSpPr txBox="true"/>
            <p:nvPr/>
          </p:nvSpPr>
          <p:spPr>
            <a:xfrm>
              <a:off x="0" y="-47625"/>
              <a:ext cx="812800" cy="1101529"/>
            </a:xfrm>
            <a:prstGeom prst="rect">
              <a:avLst/>
            </a:prstGeom>
          </p:spPr>
          <p:txBody>
            <a:bodyPr anchor="ctr" rtlCol="false" tIns="50800" lIns="50800" bIns="50800" rIns="50800"/>
            <a:lstStyle/>
            <a:p>
              <a:pPr algn="ctr">
                <a:lnSpc>
                  <a:spcPts val="3080"/>
                </a:lnSpc>
              </a:pPr>
            </a:p>
          </p:txBody>
        </p:sp>
      </p:grpSp>
      <p:grpSp>
        <p:nvGrpSpPr>
          <p:cNvPr name="Group 27" id="27"/>
          <p:cNvGrpSpPr/>
          <p:nvPr/>
        </p:nvGrpSpPr>
        <p:grpSpPr>
          <a:xfrm rot="0">
            <a:off x="11288792" y="4919308"/>
            <a:ext cx="3086100" cy="4001542"/>
            <a:chOff x="0" y="0"/>
            <a:chExt cx="812800" cy="1053904"/>
          </a:xfrm>
        </p:grpSpPr>
        <p:sp>
          <p:nvSpPr>
            <p:cNvPr name="Freeform 28" id="28"/>
            <p:cNvSpPr/>
            <p:nvPr/>
          </p:nvSpPr>
          <p:spPr>
            <a:xfrm flipH="false" flipV="false" rot="0">
              <a:off x="0" y="0"/>
              <a:ext cx="812800" cy="1053904"/>
            </a:xfrm>
            <a:custGeom>
              <a:avLst/>
              <a:gdLst/>
              <a:ahLst/>
              <a:cxnLst/>
              <a:rect r="r" b="b" t="t" l="l"/>
              <a:pathLst>
                <a:path h="1053904" w="812800">
                  <a:moveTo>
                    <a:pt x="22578" y="0"/>
                  </a:moveTo>
                  <a:lnTo>
                    <a:pt x="790222" y="0"/>
                  </a:lnTo>
                  <a:cubicBezTo>
                    <a:pt x="802692" y="0"/>
                    <a:pt x="812800" y="10108"/>
                    <a:pt x="812800" y="22578"/>
                  </a:cubicBezTo>
                  <a:lnTo>
                    <a:pt x="812800" y="1031326"/>
                  </a:lnTo>
                  <a:cubicBezTo>
                    <a:pt x="812800" y="1043796"/>
                    <a:pt x="802692" y="1053904"/>
                    <a:pt x="790222" y="1053904"/>
                  </a:cubicBezTo>
                  <a:lnTo>
                    <a:pt x="22578" y="1053904"/>
                  </a:lnTo>
                  <a:cubicBezTo>
                    <a:pt x="10108" y="1053904"/>
                    <a:pt x="0" y="1043796"/>
                    <a:pt x="0" y="1031326"/>
                  </a:cubicBezTo>
                  <a:lnTo>
                    <a:pt x="0" y="22578"/>
                  </a:lnTo>
                  <a:cubicBezTo>
                    <a:pt x="0" y="10108"/>
                    <a:pt x="10108" y="0"/>
                    <a:pt x="22578" y="0"/>
                  </a:cubicBezTo>
                  <a:close/>
                </a:path>
              </a:pathLst>
            </a:custGeom>
            <a:solidFill>
              <a:srgbClr val="FDFEFD"/>
            </a:solidFill>
          </p:spPr>
        </p:sp>
        <p:sp>
          <p:nvSpPr>
            <p:cNvPr name="TextBox 29" id="29"/>
            <p:cNvSpPr txBox="true"/>
            <p:nvPr/>
          </p:nvSpPr>
          <p:spPr>
            <a:xfrm>
              <a:off x="0" y="-47625"/>
              <a:ext cx="812800" cy="1101529"/>
            </a:xfrm>
            <a:prstGeom prst="rect">
              <a:avLst/>
            </a:prstGeom>
          </p:spPr>
          <p:txBody>
            <a:bodyPr anchor="ctr" rtlCol="false" tIns="50800" lIns="50800" bIns="50800" rIns="50800"/>
            <a:lstStyle/>
            <a:p>
              <a:pPr algn="ctr">
                <a:lnSpc>
                  <a:spcPts val="3080"/>
                </a:lnSpc>
              </a:pPr>
            </a:p>
          </p:txBody>
        </p:sp>
      </p:grpSp>
      <p:grpSp>
        <p:nvGrpSpPr>
          <p:cNvPr name="Group 30" id="30"/>
          <p:cNvGrpSpPr/>
          <p:nvPr/>
        </p:nvGrpSpPr>
        <p:grpSpPr>
          <a:xfrm rot="0">
            <a:off x="14889242" y="4919308"/>
            <a:ext cx="3086100" cy="4001542"/>
            <a:chOff x="0" y="0"/>
            <a:chExt cx="812800" cy="1053904"/>
          </a:xfrm>
        </p:grpSpPr>
        <p:sp>
          <p:nvSpPr>
            <p:cNvPr name="Freeform 31" id="31"/>
            <p:cNvSpPr/>
            <p:nvPr/>
          </p:nvSpPr>
          <p:spPr>
            <a:xfrm flipH="false" flipV="false" rot="0">
              <a:off x="0" y="0"/>
              <a:ext cx="812800" cy="1053904"/>
            </a:xfrm>
            <a:custGeom>
              <a:avLst/>
              <a:gdLst/>
              <a:ahLst/>
              <a:cxnLst/>
              <a:rect r="r" b="b" t="t" l="l"/>
              <a:pathLst>
                <a:path h="1053904" w="812800">
                  <a:moveTo>
                    <a:pt x="22578" y="0"/>
                  </a:moveTo>
                  <a:lnTo>
                    <a:pt x="790222" y="0"/>
                  </a:lnTo>
                  <a:cubicBezTo>
                    <a:pt x="802692" y="0"/>
                    <a:pt x="812800" y="10108"/>
                    <a:pt x="812800" y="22578"/>
                  </a:cubicBezTo>
                  <a:lnTo>
                    <a:pt x="812800" y="1031326"/>
                  </a:lnTo>
                  <a:cubicBezTo>
                    <a:pt x="812800" y="1043796"/>
                    <a:pt x="802692" y="1053904"/>
                    <a:pt x="790222" y="1053904"/>
                  </a:cubicBezTo>
                  <a:lnTo>
                    <a:pt x="22578" y="1053904"/>
                  </a:lnTo>
                  <a:cubicBezTo>
                    <a:pt x="10108" y="1053904"/>
                    <a:pt x="0" y="1043796"/>
                    <a:pt x="0" y="1031326"/>
                  </a:cubicBezTo>
                  <a:lnTo>
                    <a:pt x="0" y="22578"/>
                  </a:lnTo>
                  <a:cubicBezTo>
                    <a:pt x="0" y="10108"/>
                    <a:pt x="10108" y="0"/>
                    <a:pt x="22578" y="0"/>
                  </a:cubicBezTo>
                  <a:close/>
                </a:path>
              </a:pathLst>
            </a:custGeom>
            <a:solidFill>
              <a:srgbClr val="FDFEFD"/>
            </a:solidFill>
          </p:spPr>
        </p:sp>
        <p:sp>
          <p:nvSpPr>
            <p:cNvPr name="TextBox 32" id="32"/>
            <p:cNvSpPr txBox="true"/>
            <p:nvPr/>
          </p:nvSpPr>
          <p:spPr>
            <a:xfrm>
              <a:off x="0" y="-47625"/>
              <a:ext cx="812800" cy="1101529"/>
            </a:xfrm>
            <a:prstGeom prst="rect">
              <a:avLst/>
            </a:prstGeom>
          </p:spPr>
          <p:txBody>
            <a:bodyPr anchor="ctr" rtlCol="false" tIns="50800" lIns="50800" bIns="50800" rIns="50800"/>
            <a:lstStyle/>
            <a:p>
              <a:pPr algn="ctr">
                <a:lnSpc>
                  <a:spcPts val="3080"/>
                </a:lnSpc>
              </a:pPr>
            </a:p>
          </p:txBody>
        </p:sp>
      </p:grpSp>
      <p:sp>
        <p:nvSpPr>
          <p:cNvPr name="TextBox 33" id="33"/>
          <p:cNvSpPr txBox="true"/>
          <p:nvPr/>
        </p:nvSpPr>
        <p:spPr>
          <a:xfrm rot="0">
            <a:off x="1126430" y="5744304"/>
            <a:ext cx="1311473" cy="86995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Análisis </a:t>
            </a:r>
          </a:p>
          <a:p>
            <a:pPr algn="ctr">
              <a:lnSpc>
                <a:spcPts val="3500"/>
              </a:lnSpc>
            </a:pPr>
            <a:r>
              <a:rPr lang="en-US" sz="2500" b="true">
                <a:solidFill>
                  <a:srgbClr val="000000"/>
                </a:solidFill>
                <a:latin typeface="Open Sans 1 Bold"/>
                <a:ea typeface="Open Sans 1 Bold"/>
                <a:cs typeface="Open Sans 1 Bold"/>
                <a:sym typeface="Open Sans 1 Bold"/>
              </a:rPr>
              <a:t>y diseño</a:t>
            </a:r>
          </a:p>
        </p:txBody>
      </p:sp>
      <p:sp>
        <p:nvSpPr>
          <p:cNvPr name="TextBox 34" id="34"/>
          <p:cNvSpPr txBox="true"/>
          <p:nvPr/>
        </p:nvSpPr>
        <p:spPr>
          <a:xfrm rot="0">
            <a:off x="550523" y="6990591"/>
            <a:ext cx="2602030" cy="140969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Alcance, requerimientos, historias de usuario, arquitectura y modelo de datos.</a:t>
            </a:r>
          </a:p>
          <a:p>
            <a:pPr algn="ctr">
              <a:lnSpc>
                <a:spcPts val="2250"/>
              </a:lnSpc>
            </a:pPr>
          </a:p>
        </p:txBody>
      </p:sp>
      <p:sp>
        <p:nvSpPr>
          <p:cNvPr name="Freeform 35" id="35"/>
          <p:cNvSpPr/>
          <p:nvPr/>
        </p:nvSpPr>
        <p:spPr>
          <a:xfrm flipH="false" flipV="false" rot="0">
            <a:off x="2689144" y="4919308"/>
            <a:ext cx="463409" cy="858165"/>
          </a:xfrm>
          <a:custGeom>
            <a:avLst/>
            <a:gdLst/>
            <a:ahLst/>
            <a:cxnLst/>
            <a:rect r="r" b="b" t="t" l="l"/>
            <a:pathLst>
              <a:path h="858165" w="463409">
                <a:moveTo>
                  <a:pt x="0" y="0"/>
                </a:moveTo>
                <a:lnTo>
                  <a:pt x="463409" y="0"/>
                </a:lnTo>
                <a:lnTo>
                  <a:pt x="463409" y="858164"/>
                </a:lnTo>
                <a:lnTo>
                  <a:pt x="0" y="85816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0">
            <a:off x="6317122" y="4943289"/>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7" id="37"/>
          <p:cNvSpPr/>
          <p:nvPr/>
        </p:nvSpPr>
        <p:spPr>
          <a:xfrm flipH="false" flipV="false" rot="0">
            <a:off x="10007663" y="4943289"/>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8" id="38"/>
          <p:cNvSpPr/>
          <p:nvPr/>
        </p:nvSpPr>
        <p:spPr>
          <a:xfrm flipH="false" flipV="false" rot="0">
            <a:off x="13589093" y="4943289"/>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9" id="39"/>
          <p:cNvSpPr/>
          <p:nvPr/>
        </p:nvSpPr>
        <p:spPr>
          <a:xfrm flipH="false" flipV="false" rot="0">
            <a:off x="17259300" y="4943289"/>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40" id="40"/>
          <p:cNvSpPr txBox="true"/>
          <p:nvPr/>
        </p:nvSpPr>
        <p:spPr>
          <a:xfrm rot="0">
            <a:off x="4669744" y="5850156"/>
            <a:ext cx="1647379" cy="86995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Desarrollo</a:t>
            </a:r>
          </a:p>
          <a:p>
            <a:pPr algn="ctr">
              <a:lnSpc>
                <a:spcPts val="3500"/>
              </a:lnSpc>
            </a:pPr>
            <a:r>
              <a:rPr lang="en-US" sz="2500" b="true">
                <a:solidFill>
                  <a:srgbClr val="000000"/>
                </a:solidFill>
                <a:latin typeface="Open Sans 1 Bold"/>
                <a:ea typeface="Open Sans 1 Bold"/>
                <a:cs typeface="Open Sans 1 Bold"/>
                <a:sym typeface="Open Sans 1 Bold"/>
              </a:rPr>
              <a:t> Web</a:t>
            </a:r>
          </a:p>
        </p:txBody>
      </p:sp>
      <p:sp>
        <p:nvSpPr>
          <p:cNvPr name="TextBox 41" id="41"/>
          <p:cNvSpPr txBox="true"/>
          <p:nvPr/>
        </p:nvSpPr>
        <p:spPr>
          <a:xfrm rot="0">
            <a:off x="4239491" y="6990591"/>
            <a:ext cx="2602030" cy="140969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Frontend en React y backend con Python/FastAPI; PostgreSQL como motor de base de datos.</a:t>
            </a:r>
          </a:p>
          <a:p>
            <a:pPr algn="ctr">
              <a:lnSpc>
                <a:spcPts val="2250"/>
              </a:lnSpc>
            </a:pPr>
          </a:p>
        </p:txBody>
      </p:sp>
      <p:sp>
        <p:nvSpPr>
          <p:cNvPr name="TextBox 42" id="42"/>
          <p:cNvSpPr txBox="true"/>
          <p:nvPr/>
        </p:nvSpPr>
        <p:spPr>
          <a:xfrm rot="0">
            <a:off x="8318257" y="5850156"/>
            <a:ext cx="1689199" cy="86995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Ingeniería </a:t>
            </a:r>
          </a:p>
          <a:p>
            <a:pPr algn="ctr">
              <a:lnSpc>
                <a:spcPts val="3500"/>
              </a:lnSpc>
            </a:pPr>
            <a:r>
              <a:rPr lang="en-US" sz="2500" b="true">
                <a:solidFill>
                  <a:srgbClr val="000000"/>
                </a:solidFill>
                <a:latin typeface="Open Sans 1 Bold"/>
                <a:ea typeface="Open Sans 1 Bold"/>
                <a:cs typeface="Open Sans 1 Bold"/>
                <a:sym typeface="Open Sans 1 Bold"/>
              </a:rPr>
              <a:t>de datos</a:t>
            </a:r>
          </a:p>
        </p:txBody>
      </p:sp>
      <p:sp>
        <p:nvSpPr>
          <p:cNvPr name="TextBox 43" id="43"/>
          <p:cNvSpPr txBox="true"/>
          <p:nvPr/>
        </p:nvSpPr>
        <p:spPr>
          <a:xfrm rot="0">
            <a:off x="7931213" y="7096443"/>
            <a:ext cx="2602030" cy="140969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Procesamiento de datos, limpiar, normalizar y transformar los datos generados.</a:t>
            </a:r>
          </a:p>
          <a:p>
            <a:pPr algn="ctr">
              <a:lnSpc>
                <a:spcPts val="2250"/>
              </a:lnSpc>
            </a:pPr>
          </a:p>
        </p:txBody>
      </p:sp>
      <p:sp>
        <p:nvSpPr>
          <p:cNvPr name="TextBox 44" id="44"/>
          <p:cNvSpPr txBox="true"/>
          <p:nvPr/>
        </p:nvSpPr>
        <p:spPr>
          <a:xfrm rot="0">
            <a:off x="11879722" y="5850156"/>
            <a:ext cx="1902321" cy="86995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Integración </a:t>
            </a:r>
          </a:p>
          <a:p>
            <a:pPr algn="ctr">
              <a:lnSpc>
                <a:spcPts val="3500"/>
              </a:lnSpc>
            </a:pPr>
            <a:r>
              <a:rPr lang="en-US" sz="2500" b="true">
                <a:solidFill>
                  <a:srgbClr val="000000"/>
                </a:solidFill>
                <a:latin typeface="Open Sans 1 Bold"/>
                <a:ea typeface="Open Sans 1 Bold"/>
                <a:cs typeface="Open Sans 1 Bold"/>
                <a:sym typeface="Open Sans 1 Bold"/>
              </a:rPr>
              <a:t>de IA</a:t>
            </a:r>
          </a:p>
        </p:txBody>
      </p:sp>
      <p:sp>
        <p:nvSpPr>
          <p:cNvPr name="TextBox 45" id="45"/>
          <p:cNvSpPr txBox="true"/>
          <p:nvPr/>
        </p:nvSpPr>
        <p:spPr>
          <a:xfrm rot="0">
            <a:off x="11530827" y="7096443"/>
            <a:ext cx="2602030" cy="140969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Servicio que estructura la información y la envía a una API de IA para su interpretación.</a:t>
            </a:r>
          </a:p>
          <a:p>
            <a:pPr algn="ctr">
              <a:lnSpc>
                <a:spcPts val="2250"/>
              </a:lnSpc>
            </a:pPr>
          </a:p>
        </p:txBody>
      </p:sp>
      <p:sp>
        <p:nvSpPr>
          <p:cNvPr name="TextBox 46" id="46"/>
          <p:cNvSpPr txBox="true"/>
          <p:nvPr/>
        </p:nvSpPr>
        <p:spPr>
          <a:xfrm rot="0">
            <a:off x="15566038" y="5850156"/>
            <a:ext cx="1732508" cy="869950"/>
          </a:xfrm>
          <a:prstGeom prst="rect">
            <a:avLst/>
          </a:prstGeom>
        </p:spPr>
        <p:txBody>
          <a:bodyPr anchor="t" rtlCol="false" tIns="0" lIns="0" bIns="0" rIns="0">
            <a:spAutoFit/>
          </a:bodyPr>
          <a:lstStyle/>
          <a:p>
            <a:pPr algn="ctr">
              <a:lnSpc>
                <a:spcPts val="3500"/>
              </a:lnSpc>
            </a:pPr>
            <a:r>
              <a:rPr lang="en-US" sz="2500" b="true">
                <a:solidFill>
                  <a:srgbClr val="000000"/>
                </a:solidFill>
                <a:latin typeface="Open Sans 1 Bold"/>
                <a:ea typeface="Open Sans 1 Bold"/>
                <a:cs typeface="Open Sans 1 Bold"/>
                <a:sym typeface="Open Sans 1 Bold"/>
              </a:rPr>
              <a:t>Validación </a:t>
            </a:r>
          </a:p>
          <a:p>
            <a:pPr algn="ctr">
              <a:lnSpc>
                <a:spcPts val="3500"/>
              </a:lnSpc>
            </a:pPr>
            <a:r>
              <a:rPr lang="en-US" sz="2500" b="true">
                <a:solidFill>
                  <a:srgbClr val="000000"/>
                </a:solidFill>
                <a:latin typeface="Open Sans 1 Bold"/>
                <a:ea typeface="Open Sans 1 Bold"/>
                <a:cs typeface="Open Sans 1 Bold"/>
                <a:sym typeface="Open Sans 1 Bold"/>
              </a:rPr>
              <a:t>y cierre</a:t>
            </a:r>
          </a:p>
        </p:txBody>
      </p:sp>
      <p:sp>
        <p:nvSpPr>
          <p:cNvPr name="TextBox 47" id="47"/>
          <p:cNvSpPr txBox="true"/>
          <p:nvPr/>
        </p:nvSpPr>
        <p:spPr>
          <a:xfrm rot="0">
            <a:off x="15219770" y="7133466"/>
            <a:ext cx="2602030" cy="1123949"/>
          </a:xfrm>
          <a:prstGeom prst="rect">
            <a:avLst/>
          </a:prstGeom>
        </p:spPr>
        <p:txBody>
          <a:bodyPr anchor="t" rtlCol="false" tIns="0" lIns="0" bIns="0" rIns="0">
            <a:spAutoFit/>
          </a:bodyPr>
          <a:lstStyle/>
          <a:p>
            <a:pPr algn="ctr">
              <a:lnSpc>
                <a:spcPts val="2250"/>
              </a:lnSpc>
            </a:pPr>
            <a:r>
              <a:rPr lang="en-US" sz="1500" i="true">
                <a:solidFill>
                  <a:srgbClr val="000000"/>
                </a:solidFill>
                <a:latin typeface="Open Sans 2 Italics"/>
                <a:ea typeface="Open Sans 2 Italics"/>
                <a:cs typeface="Open Sans 2 Italics"/>
                <a:sym typeface="Open Sans 2 Italics"/>
              </a:rPr>
              <a:t>Pruebas funcionales e integrales, documentación técnica y demostración final.</a:t>
            </a:r>
          </a:p>
          <a:p>
            <a:pPr algn="ctr">
              <a:lnSpc>
                <a:spcPts val="225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670861"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210376" y="3600450"/>
            <a:ext cx="4670921" cy="5657850"/>
            <a:chOff x="0" y="0"/>
            <a:chExt cx="1230201" cy="1490133"/>
          </a:xfrm>
        </p:grpSpPr>
        <p:sp>
          <p:nvSpPr>
            <p:cNvPr name="Freeform 11" id="11"/>
            <p:cNvSpPr/>
            <p:nvPr/>
          </p:nvSpPr>
          <p:spPr>
            <a:xfrm flipH="false" flipV="false" rot="0">
              <a:off x="0" y="0"/>
              <a:ext cx="1230201" cy="1490133"/>
            </a:xfrm>
            <a:custGeom>
              <a:avLst/>
              <a:gdLst/>
              <a:ahLst/>
              <a:cxnLst/>
              <a:rect r="r" b="b" t="t" l="l"/>
              <a:pathLst>
                <a:path h="1490133" w="1230201">
                  <a:moveTo>
                    <a:pt x="0" y="0"/>
                  </a:moveTo>
                  <a:lnTo>
                    <a:pt x="1230201" y="0"/>
                  </a:lnTo>
                  <a:lnTo>
                    <a:pt x="1230201" y="1490133"/>
                  </a:lnTo>
                  <a:lnTo>
                    <a:pt x="0" y="1490133"/>
                  </a:lnTo>
                  <a:close/>
                </a:path>
              </a:pathLst>
            </a:custGeom>
            <a:solidFill>
              <a:srgbClr val="FDFEFD"/>
            </a:solidFill>
            <a:ln w="38100" cap="sq">
              <a:solidFill>
                <a:srgbClr val="A0611E"/>
              </a:solidFill>
              <a:prstDash val="solid"/>
              <a:miter/>
            </a:ln>
          </p:spPr>
        </p:sp>
        <p:sp>
          <p:nvSpPr>
            <p:cNvPr name="TextBox 12" id="12"/>
            <p:cNvSpPr txBox="true"/>
            <p:nvPr/>
          </p:nvSpPr>
          <p:spPr>
            <a:xfrm>
              <a:off x="0" y="-47625"/>
              <a:ext cx="1230201" cy="1537758"/>
            </a:xfrm>
            <a:prstGeom prst="rect">
              <a:avLst/>
            </a:prstGeom>
          </p:spPr>
          <p:txBody>
            <a:bodyPr anchor="ctr" rtlCol="false" tIns="50800" lIns="50800" bIns="50800" rIns="50800"/>
            <a:lstStyle/>
            <a:p>
              <a:pPr algn="ctr">
                <a:lnSpc>
                  <a:spcPts val="3080"/>
                </a:lnSpc>
              </a:pPr>
            </a:p>
          </p:txBody>
        </p:sp>
      </p:grpSp>
      <p:sp>
        <p:nvSpPr>
          <p:cNvPr name="TextBox 13" id="13"/>
          <p:cNvSpPr txBox="true"/>
          <p:nvPr/>
        </p:nvSpPr>
        <p:spPr>
          <a:xfrm rot="0">
            <a:off x="1087812" y="2094083"/>
            <a:ext cx="16484954" cy="1508014"/>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Las etapas de arquitectura, integración de </a:t>
            </a:r>
            <a:r>
              <a:rPr lang="en-US" sz="2879">
                <a:solidFill>
                  <a:srgbClr val="493323"/>
                </a:solidFill>
                <a:latin typeface="Cambria"/>
                <a:ea typeface="Cambria"/>
                <a:cs typeface="Cambria"/>
                <a:sym typeface="Cambria"/>
              </a:rPr>
              <a:t>si</a:t>
            </a:r>
            <a:r>
              <a:rPr lang="en-US" sz="2879">
                <a:solidFill>
                  <a:srgbClr val="493323"/>
                </a:solidFill>
                <a:latin typeface="Cambria"/>
                <a:ea typeface="Cambria"/>
                <a:cs typeface="Cambria"/>
                <a:sym typeface="Cambria"/>
              </a:rPr>
              <a:t>st</a:t>
            </a:r>
            <a:r>
              <a:rPr lang="en-US" sz="2879">
                <a:solidFill>
                  <a:srgbClr val="493323"/>
                </a:solidFill>
                <a:latin typeface="Cambria"/>
                <a:ea typeface="Cambria"/>
                <a:cs typeface="Cambria"/>
                <a:sym typeface="Cambria"/>
              </a:rPr>
              <a:t>ema</a:t>
            </a:r>
            <a:r>
              <a:rPr lang="en-US" sz="2879">
                <a:solidFill>
                  <a:srgbClr val="493323"/>
                </a:solidFill>
                <a:latin typeface="Cambria"/>
                <a:ea typeface="Cambria"/>
                <a:cs typeface="Cambria"/>
                <a:sym typeface="Cambria"/>
              </a:rPr>
              <a:t>s, aseguramiento de calidad y documentación se abordan como equipo completo.</a:t>
            </a:r>
          </a:p>
          <a:p>
            <a:pPr algn="just">
              <a:lnSpc>
                <a:spcPts val="4031"/>
              </a:lnSpc>
            </a:pPr>
          </a:p>
        </p:txBody>
      </p:sp>
      <p:grpSp>
        <p:nvGrpSpPr>
          <p:cNvPr name="Group 14" id="14"/>
          <p:cNvGrpSpPr/>
          <p:nvPr/>
        </p:nvGrpSpPr>
        <p:grpSpPr>
          <a:xfrm rot="0">
            <a:off x="7053667" y="3600450"/>
            <a:ext cx="4670921" cy="5657850"/>
            <a:chOff x="0" y="0"/>
            <a:chExt cx="1230201" cy="1490133"/>
          </a:xfrm>
        </p:grpSpPr>
        <p:sp>
          <p:nvSpPr>
            <p:cNvPr name="Freeform 15" id="15"/>
            <p:cNvSpPr/>
            <p:nvPr/>
          </p:nvSpPr>
          <p:spPr>
            <a:xfrm flipH="false" flipV="false" rot="0">
              <a:off x="0" y="0"/>
              <a:ext cx="1230201" cy="1490133"/>
            </a:xfrm>
            <a:custGeom>
              <a:avLst/>
              <a:gdLst/>
              <a:ahLst/>
              <a:cxnLst/>
              <a:rect r="r" b="b" t="t" l="l"/>
              <a:pathLst>
                <a:path h="1490133" w="1230201">
                  <a:moveTo>
                    <a:pt x="0" y="0"/>
                  </a:moveTo>
                  <a:lnTo>
                    <a:pt x="1230201" y="0"/>
                  </a:lnTo>
                  <a:lnTo>
                    <a:pt x="1230201" y="1490133"/>
                  </a:lnTo>
                  <a:lnTo>
                    <a:pt x="0" y="1490133"/>
                  </a:lnTo>
                  <a:close/>
                </a:path>
              </a:pathLst>
            </a:custGeom>
            <a:solidFill>
              <a:srgbClr val="FDFEFD"/>
            </a:solidFill>
            <a:ln w="38100" cap="sq">
              <a:solidFill>
                <a:srgbClr val="A0611E"/>
              </a:solidFill>
              <a:prstDash val="solid"/>
              <a:miter/>
            </a:ln>
          </p:spPr>
        </p:sp>
        <p:sp>
          <p:nvSpPr>
            <p:cNvPr name="TextBox 16" id="16"/>
            <p:cNvSpPr txBox="true"/>
            <p:nvPr/>
          </p:nvSpPr>
          <p:spPr>
            <a:xfrm>
              <a:off x="0" y="-47625"/>
              <a:ext cx="1230201" cy="1537758"/>
            </a:xfrm>
            <a:prstGeom prst="rect">
              <a:avLst/>
            </a:prstGeom>
          </p:spPr>
          <p:txBody>
            <a:bodyPr anchor="ctr" rtlCol="false" tIns="50800" lIns="50800" bIns="50800" rIns="50800"/>
            <a:lstStyle/>
            <a:p>
              <a:pPr algn="ctr">
                <a:lnSpc>
                  <a:spcPts val="3080"/>
                </a:lnSpc>
              </a:pPr>
            </a:p>
          </p:txBody>
        </p:sp>
      </p:grpSp>
      <p:grpSp>
        <p:nvGrpSpPr>
          <p:cNvPr name="Group 17" id="17"/>
          <p:cNvGrpSpPr/>
          <p:nvPr/>
        </p:nvGrpSpPr>
        <p:grpSpPr>
          <a:xfrm rot="0">
            <a:off x="12896959" y="3602097"/>
            <a:ext cx="4670921" cy="5657850"/>
            <a:chOff x="0" y="0"/>
            <a:chExt cx="1230201" cy="1490133"/>
          </a:xfrm>
        </p:grpSpPr>
        <p:sp>
          <p:nvSpPr>
            <p:cNvPr name="Freeform 18" id="18"/>
            <p:cNvSpPr/>
            <p:nvPr/>
          </p:nvSpPr>
          <p:spPr>
            <a:xfrm flipH="false" flipV="false" rot="0">
              <a:off x="0" y="0"/>
              <a:ext cx="1230201" cy="1490133"/>
            </a:xfrm>
            <a:custGeom>
              <a:avLst/>
              <a:gdLst/>
              <a:ahLst/>
              <a:cxnLst/>
              <a:rect r="r" b="b" t="t" l="l"/>
              <a:pathLst>
                <a:path h="1490133" w="1230201">
                  <a:moveTo>
                    <a:pt x="0" y="0"/>
                  </a:moveTo>
                  <a:lnTo>
                    <a:pt x="1230201" y="0"/>
                  </a:lnTo>
                  <a:lnTo>
                    <a:pt x="1230201" y="1490133"/>
                  </a:lnTo>
                  <a:lnTo>
                    <a:pt x="0" y="1490133"/>
                  </a:lnTo>
                  <a:close/>
                </a:path>
              </a:pathLst>
            </a:custGeom>
            <a:solidFill>
              <a:srgbClr val="FDFEFD"/>
            </a:solidFill>
            <a:ln w="38100" cap="sq">
              <a:solidFill>
                <a:srgbClr val="A0611E"/>
              </a:solidFill>
              <a:prstDash val="solid"/>
              <a:miter/>
            </a:ln>
          </p:spPr>
        </p:sp>
        <p:sp>
          <p:nvSpPr>
            <p:cNvPr name="TextBox 19" id="19"/>
            <p:cNvSpPr txBox="true"/>
            <p:nvPr/>
          </p:nvSpPr>
          <p:spPr>
            <a:xfrm>
              <a:off x="0" y="-47625"/>
              <a:ext cx="1230201" cy="1537758"/>
            </a:xfrm>
            <a:prstGeom prst="rect">
              <a:avLst/>
            </a:prstGeom>
          </p:spPr>
          <p:txBody>
            <a:bodyPr anchor="ctr" rtlCol="false" tIns="50800" lIns="50800" bIns="50800" rIns="50800"/>
            <a:lstStyle/>
            <a:p>
              <a:pPr algn="ctr">
                <a:lnSpc>
                  <a:spcPts val="3080"/>
                </a:lnSpc>
              </a:pPr>
            </a:p>
          </p:txBody>
        </p:sp>
      </p:grpSp>
      <p:sp>
        <p:nvSpPr>
          <p:cNvPr name="Freeform 20" id="20"/>
          <p:cNvSpPr/>
          <p:nvPr/>
        </p:nvSpPr>
        <p:spPr>
          <a:xfrm flipH="false" flipV="false" rot="0">
            <a:off x="2790062" y="3883639"/>
            <a:ext cx="1387055" cy="1387055"/>
          </a:xfrm>
          <a:custGeom>
            <a:avLst/>
            <a:gdLst/>
            <a:ahLst/>
            <a:cxnLst/>
            <a:rect r="r" b="b" t="t" l="l"/>
            <a:pathLst>
              <a:path h="1387055" w="1387055">
                <a:moveTo>
                  <a:pt x="0" y="0"/>
                </a:moveTo>
                <a:lnTo>
                  <a:pt x="1387055" y="0"/>
                </a:lnTo>
                <a:lnTo>
                  <a:pt x="1387055" y="1387056"/>
                </a:lnTo>
                <a:lnTo>
                  <a:pt x="0" y="1387056"/>
                </a:lnTo>
                <a:lnTo>
                  <a:pt x="0" y="0"/>
                </a:lnTo>
                <a:close/>
              </a:path>
            </a:pathLst>
          </a:custGeom>
          <a:blipFill>
            <a:blip r:embed="rId7"/>
            <a:stretch>
              <a:fillRect l="0" t="0" r="0" b="0"/>
            </a:stretch>
          </a:blipFill>
        </p:spPr>
      </p:sp>
      <p:sp>
        <p:nvSpPr>
          <p:cNvPr name="Freeform 21" id="21"/>
          <p:cNvSpPr/>
          <p:nvPr/>
        </p:nvSpPr>
        <p:spPr>
          <a:xfrm flipH="false" flipV="false" rot="0">
            <a:off x="8632070" y="3883639"/>
            <a:ext cx="1387055" cy="1387055"/>
          </a:xfrm>
          <a:custGeom>
            <a:avLst/>
            <a:gdLst/>
            <a:ahLst/>
            <a:cxnLst/>
            <a:rect r="r" b="b" t="t" l="l"/>
            <a:pathLst>
              <a:path h="1387055" w="1387055">
                <a:moveTo>
                  <a:pt x="0" y="0"/>
                </a:moveTo>
                <a:lnTo>
                  <a:pt x="1387055" y="0"/>
                </a:lnTo>
                <a:lnTo>
                  <a:pt x="1387055" y="1387056"/>
                </a:lnTo>
                <a:lnTo>
                  <a:pt x="0" y="1387056"/>
                </a:lnTo>
                <a:lnTo>
                  <a:pt x="0" y="0"/>
                </a:lnTo>
                <a:close/>
              </a:path>
            </a:pathLst>
          </a:custGeom>
          <a:blipFill>
            <a:blip r:embed="rId8"/>
            <a:stretch>
              <a:fillRect l="0" t="0" r="0" b="0"/>
            </a:stretch>
          </a:blipFill>
        </p:spPr>
      </p:sp>
      <p:sp>
        <p:nvSpPr>
          <p:cNvPr name="Freeform 22" id="22"/>
          <p:cNvSpPr/>
          <p:nvPr/>
        </p:nvSpPr>
        <p:spPr>
          <a:xfrm flipH="false" flipV="false" rot="0">
            <a:off x="14545827" y="3883639"/>
            <a:ext cx="1373185" cy="1387055"/>
          </a:xfrm>
          <a:custGeom>
            <a:avLst/>
            <a:gdLst/>
            <a:ahLst/>
            <a:cxnLst/>
            <a:rect r="r" b="b" t="t" l="l"/>
            <a:pathLst>
              <a:path h="1387055" w="1373185">
                <a:moveTo>
                  <a:pt x="0" y="0"/>
                </a:moveTo>
                <a:lnTo>
                  <a:pt x="1373185" y="0"/>
                </a:lnTo>
                <a:lnTo>
                  <a:pt x="1373185" y="1387056"/>
                </a:lnTo>
                <a:lnTo>
                  <a:pt x="0" y="13870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544207" y="8093268"/>
            <a:ext cx="3852110" cy="739878"/>
          </a:xfrm>
          <a:custGeom>
            <a:avLst/>
            <a:gdLst/>
            <a:ahLst/>
            <a:cxnLst/>
            <a:rect r="r" b="b" t="t" l="l"/>
            <a:pathLst>
              <a:path h="739878" w="3852110">
                <a:moveTo>
                  <a:pt x="0" y="0"/>
                </a:moveTo>
                <a:lnTo>
                  <a:pt x="3852110" y="0"/>
                </a:lnTo>
                <a:lnTo>
                  <a:pt x="3852110" y="739878"/>
                </a:lnTo>
                <a:lnTo>
                  <a:pt x="0" y="739878"/>
                </a:lnTo>
                <a:lnTo>
                  <a:pt x="0" y="0"/>
                </a:lnTo>
                <a:close/>
              </a:path>
            </a:pathLst>
          </a:custGeom>
          <a:blipFill>
            <a:blip r:embed="rId11"/>
            <a:stretch>
              <a:fillRect l="0" t="-11175" r="0" b="-11175"/>
            </a:stretch>
          </a:blipFill>
        </p:spPr>
      </p:sp>
      <p:sp>
        <p:nvSpPr>
          <p:cNvPr name="TextBox 24" id="24"/>
          <p:cNvSpPr txBox="true"/>
          <p:nvPr/>
        </p:nvSpPr>
        <p:spPr>
          <a:xfrm rot="0">
            <a:off x="7771099" y="776199"/>
            <a:ext cx="1721941"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Roles</a:t>
            </a:r>
          </a:p>
        </p:txBody>
      </p:sp>
      <p:sp>
        <p:nvSpPr>
          <p:cNvPr name="TextBox 25" id="25"/>
          <p:cNvSpPr txBox="true"/>
          <p:nvPr/>
        </p:nvSpPr>
        <p:spPr>
          <a:xfrm rot="0">
            <a:off x="2337556" y="5508820"/>
            <a:ext cx="2254300" cy="701674"/>
          </a:xfrm>
          <a:prstGeom prst="rect">
            <a:avLst/>
          </a:prstGeom>
        </p:spPr>
        <p:txBody>
          <a:bodyPr anchor="t" rtlCol="false" tIns="0" lIns="0" bIns="0" rIns="0">
            <a:spAutoFit/>
          </a:bodyPr>
          <a:lstStyle/>
          <a:p>
            <a:pPr algn="ctr">
              <a:lnSpc>
                <a:spcPts val="2800"/>
              </a:lnSpc>
            </a:pPr>
            <a:r>
              <a:rPr lang="en-US" b="true" sz="2000">
                <a:solidFill>
                  <a:srgbClr val="5C1F2E"/>
                </a:solidFill>
                <a:latin typeface="Open Sans 1 Bold"/>
                <a:ea typeface="Open Sans 1 Bold"/>
                <a:cs typeface="Open Sans 1 Bold"/>
                <a:sym typeface="Open Sans 1 Bold"/>
              </a:rPr>
              <a:t>Product Manager </a:t>
            </a:r>
          </a:p>
          <a:p>
            <a:pPr algn="ctr">
              <a:lnSpc>
                <a:spcPts val="2800"/>
              </a:lnSpc>
            </a:pPr>
            <a:r>
              <a:rPr lang="en-US" b="true" sz="2000">
                <a:solidFill>
                  <a:srgbClr val="5C1F2E"/>
                </a:solidFill>
                <a:latin typeface="Open Sans 1 Bold"/>
                <a:ea typeface="Open Sans 1 Bold"/>
                <a:cs typeface="Open Sans 1 Bold"/>
                <a:sym typeface="Open Sans 1 Bold"/>
              </a:rPr>
              <a:t>Prompt Engineer</a:t>
            </a:r>
          </a:p>
        </p:txBody>
      </p:sp>
      <p:sp>
        <p:nvSpPr>
          <p:cNvPr name="TextBox 26" id="26"/>
          <p:cNvSpPr txBox="true"/>
          <p:nvPr/>
        </p:nvSpPr>
        <p:spPr>
          <a:xfrm rot="0">
            <a:off x="1544207" y="6569269"/>
            <a:ext cx="3878764" cy="1123949"/>
          </a:xfrm>
          <a:prstGeom prst="rect">
            <a:avLst/>
          </a:prstGeom>
        </p:spPr>
        <p:txBody>
          <a:bodyPr anchor="t" rtlCol="false" tIns="0" lIns="0" bIns="0" rIns="0">
            <a:spAutoFit/>
          </a:bodyPr>
          <a:lstStyle/>
          <a:p>
            <a:pPr algn="just">
              <a:lnSpc>
                <a:spcPts val="2250"/>
              </a:lnSpc>
            </a:pPr>
            <a:r>
              <a:rPr lang="en-US" sz="1500" i="true">
                <a:solidFill>
                  <a:srgbClr val="000000"/>
                </a:solidFill>
                <a:latin typeface="Open Sans 2 Italics"/>
                <a:ea typeface="Open Sans 2 Italics"/>
                <a:cs typeface="Open Sans 2 Italics"/>
                <a:sym typeface="Open Sans 2 Italics"/>
              </a:rPr>
              <a:t>Definición del MVP y backlog, historias de usuario, modelo de negocio, validación con lectores, diseño de prompts y calidad de respuestas de la IA.</a:t>
            </a:r>
          </a:p>
        </p:txBody>
      </p:sp>
      <p:sp>
        <p:nvSpPr>
          <p:cNvPr name="TextBox 27" id="27"/>
          <p:cNvSpPr txBox="true"/>
          <p:nvPr/>
        </p:nvSpPr>
        <p:spPr>
          <a:xfrm rot="0">
            <a:off x="8126172" y="5468406"/>
            <a:ext cx="2525911" cy="701674"/>
          </a:xfrm>
          <a:prstGeom prst="rect">
            <a:avLst/>
          </a:prstGeom>
        </p:spPr>
        <p:txBody>
          <a:bodyPr anchor="t" rtlCol="false" tIns="0" lIns="0" bIns="0" rIns="0">
            <a:spAutoFit/>
          </a:bodyPr>
          <a:lstStyle/>
          <a:p>
            <a:pPr algn="ctr">
              <a:lnSpc>
                <a:spcPts val="2800"/>
              </a:lnSpc>
            </a:pPr>
            <a:r>
              <a:rPr lang="en-US" sz="2000" b="true">
                <a:solidFill>
                  <a:srgbClr val="5C1F2E"/>
                </a:solidFill>
                <a:latin typeface="Open Sans 1 Bold"/>
                <a:ea typeface="Open Sans 1 Bold"/>
                <a:cs typeface="Open Sans 1 Bold"/>
                <a:sym typeface="Open Sans 1 Bold"/>
              </a:rPr>
              <a:t>F</a:t>
            </a:r>
            <a:r>
              <a:rPr lang="en-US" b="true" sz="2000">
                <a:solidFill>
                  <a:srgbClr val="5C1F2E"/>
                </a:solidFill>
                <a:latin typeface="Open Sans 1 Bold"/>
                <a:ea typeface="Open Sans 1 Bold"/>
                <a:cs typeface="Open Sans 1 Bold"/>
                <a:sym typeface="Open Sans 1 Bold"/>
              </a:rPr>
              <a:t>rontend Developer</a:t>
            </a:r>
          </a:p>
          <a:p>
            <a:pPr algn="ctr">
              <a:lnSpc>
                <a:spcPts val="2800"/>
              </a:lnSpc>
            </a:pPr>
            <a:r>
              <a:rPr lang="en-US" b="true" sz="2000">
                <a:solidFill>
                  <a:srgbClr val="5C1F2E"/>
                </a:solidFill>
                <a:latin typeface="Open Sans 1 Bold"/>
                <a:ea typeface="Open Sans 1 Bold"/>
                <a:cs typeface="Open Sans 1 Bold"/>
                <a:sym typeface="Open Sans 1 Bold"/>
              </a:rPr>
              <a:t> UX/UI</a:t>
            </a:r>
          </a:p>
        </p:txBody>
      </p:sp>
      <p:sp>
        <p:nvSpPr>
          <p:cNvPr name="TextBox 28" id="28"/>
          <p:cNvSpPr txBox="true"/>
          <p:nvPr/>
        </p:nvSpPr>
        <p:spPr>
          <a:xfrm rot="0">
            <a:off x="7449746" y="6569269"/>
            <a:ext cx="3878764" cy="1123949"/>
          </a:xfrm>
          <a:prstGeom prst="rect">
            <a:avLst/>
          </a:prstGeom>
        </p:spPr>
        <p:txBody>
          <a:bodyPr anchor="t" rtlCol="false" tIns="0" lIns="0" bIns="0" rIns="0">
            <a:spAutoFit/>
          </a:bodyPr>
          <a:lstStyle/>
          <a:p>
            <a:pPr algn="just">
              <a:lnSpc>
                <a:spcPts val="2250"/>
              </a:lnSpc>
            </a:pPr>
            <a:r>
              <a:rPr lang="en-US" sz="1500" i="true">
                <a:solidFill>
                  <a:srgbClr val="000000"/>
                </a:solidFill>
                <a:latin typeface="Open Sans 2 Italics"/>
                <a:ea typeface="Open Sans 2 Italics"/>
                <a:cs typeface="Open Sans 2 Italics"/>
                <a:sym typeface="Open Sans 2 Italics"/>
              </a:rPr>
              <a:t>Interfaz web en React (pantallas de Acceso/Registro, Mi Biblioteca, Formulario de Experiencia de Lectura y Dashboard de Analítica).</a:t>
            </a:r>
          </a:p>
        </p:txBody>
      </p:sp>
      <p:sp>
        <p:nvSpPr>
          <p:cNvPr name="TextBox 29" id="29"/>
          <p:cNvSpPr txBox="true"/>
          <p:nvPr/>
        </p:nvSpPr>
        <p:spPr>
          <a:xfrm rot="0">
            <a:off x="13575813" y="5468406"/>
            <a:ext cx="3313212" cy="701674"/>
          </a:xfrm>
          <a:prstGeom prst="rect">
            <a:avLst/>
          </a:prstGeom>
        </p:spPr>
        <p:txBody>
          <a:bodyPr anchor="t" rtlCol="false" tIns="0" lIns="0" bIns="0" rIns="0">
            <a:spAutoFit/>
          </a:bodyPr>
          <a:lstStyle/>
          <a:p>
            <a:pPr algn="ctr">
              <a:lnSpc>
                <a:spcPts val="2800"/>
              </a:lnSpc>
            </a:pPr>
            <a:r>
              <a:rPr lang="en-US" sz="2000" b="true">
                <a:solidFill>
                  <a:srgbClr val="5C1F2E"/>
                </a:solidFill>
                <a:latin typeface="Open Sans 1 Bold"/>
                <a:ea typeface="Open Sans 1 Bold"/>
                <a:cs typeface="Open Sans 1 Bold"/>
                <a:sym typeface="Open Sans 1 Bold"/>
              </a:rPr>
              <a:t>Backen</a:t>
            </a:r>
            <a:r>
              <a:rPr lang="en-US" b="true" sz="2000">
                <a:solidFill>
                  <a:srgbClr val="5C1F2E"/>
                </a:solidFill>
                <a:latin typeface="Open Sans 1 Bold"/>
                <a:ea typeface="Open Sans 1 Bold"/>
                <a:cs typeface="Open Sans 1 Bold"/>
                <a:sym typeface="Open Sans 1 Bold"/>
              </a:rPr>
              <a:t>d </a:t>
            </a:r>
          </a:p>
          <a:p>
            <a:pPr algn="ctr">
              <a:lnSpc>
                <a:spcPts val="2800"/>
              </a:lnSpc>
            </a:pPr>
            <a:r>
              <a:rPr lang="en-US" b="true" sz="2000">
                <a:solidFill>
                  <a:srgbClr val="5C1F2E"/>
                </a:solidFill>
                <a:latin typeface="Open Sans 1 Bold"/>
                <a:ea typeface="Open Sans 1 Bold"/>
                <a:cs typeface="Open Sans 1 Bold"/>
                <a:sym typeface="Open Sans 1 Bold"/>
              </a:rPr>
              <a:t>AI Infrastructure Engineer</a:t>
            </a:r>
          </a:p>
        </p:txBody>
      </p:sp>
      <p:sp>
        <p:nvSpPr>
          <p:cNvPr name="TextBox 30" id="30"/>
          <p:cNvSpPr txBox="true"/>
          <p:nvPr/>
        </p:nvSpPr>
        <p:spPr>
          <a:xfrm rot="0">
            <a:off x="13386133" y="6569269"/>
            <a:ext cx="3692572" cy="1123949"/>
          </a:xfrm>
          <a:prstGeom prst="rect">
            <a:avLst/>
          </a:prstGeom>
        </p:spPr>
        <p:txBody>
          <a:bodyPr anchor="t" rtlCol="false" tIns="0" lIns="0" bIns="0" rIns="0">
            <a:spAutoFit/>
          </a:bodyPr>
          <a:lstStyle/>
          <a:p>
            <a:pPr algn="just">
              <a:lnSpc>
                <a:spcPts val="2250"/>
              </a:lnSpc>
            </a:pPr>
            <a:r>
              <a:rPr lang="en-US" sz="1500" i="true">
                <a:solidFill>
                  <a:srgbClr val="000000"/>
                </a:solidFill>
                <a:latin typeface="Open Sans 2 Italics"/>
                <a:ea typeface="Open Sans 2 Italics"/>
                <a:cs typeface="Open Sans 2 Italics"/>
                <a:sym typeface="Open Sans 2 Italics"/>
              </a:rPr>
              <a:t>Infraestructura y Datos (API en FastAPI, Base de Datos en PostgreSQL, Pipeline procesamiento de datos, integración con API de IA y contenedores Docker). </a:t>
            </a:r>
          </a:p>
        </p:txBody>
      </p:sp>
      <p:sp>
        <p:nvSpPr>
          <p:cNvPr name="Freeform 31" id="31"/>
          <p:cNvSpPr/>
          <p:nvPr/>
        </p:nvSpPr>
        <p:spPr>
          <a:xfrm flipH="false" flipV="false" rot="0">
            <a:off x="7449746" y="8150418"/>
            <a:ext cx="3878764" cy="739878"/>
          </a:xfrm>
          <a:custGeom>
            <a:avLst/>
            <a:gdLst/>
            <a:ahLst/>
            <a:cxnLst/>
            <a:rect r="r" b="b" t="t" l="l"/>
            <a:pathLst>
              <a:path h="739878" w="3878764">
                <a:moveTo>
                  <a:pt x="0" y="0"/>
                </a:moveTo>
                <a:lnTo>
                  <a:pt x="3878764" y="0"/>
                </a:lnTo>
                <a:lnTo>
                  <a:pt x="3878764" y="739878"/>
                </a:lnTo>
                <a:lnTo>
                  <a:pt x="0" y="739878"/>
                </a:lnTo>
                <a:lnTo>
                  <a:pt x="0" y="0"/>
                </a:lnTo>
                <a:close/>
              </a:path>
            </a:pathLst>
          </a:custGeom>
          <a:blipFill>
            <a:blip r:embed="rId11"/>
            <a:stretch>
              <a:fillRect l="0" t="-11598" r="0" b="-11598"/>
            </a:stretch>
          </a:blipFill>
        </p:spPr>
      </p:sp>
      <p:sp>
        <p:nvSpPr>
          <p:cNvPr name="Freeform 32" id="32"/>
          <p:cNvSpPr/>
          <p:nvPr/>
        </p:nvSpPr>
        <p:spPr>
          <a:xfrm flipH="false" flipV="false" rot="0">
            <a:off x="13386133" y="8131368"/>
            <a:ext cx="3873167" cy="739878"/>
          </a:xfrm>
          <a:custGeom>
            <a:avLst/>
            <a:gdLst/>
            <a:ahLst/>
            <a:cxnLst/>
            <a:rect r="r" b="b" t="t" l="l"/>
            <a:pathLst>
              <a:path h="739878" w="3873167">
                <a:moveTo>
                  <a:pt x="0" y="0"/>
                </a:moveTo>
                <a:lnTo>
                  <a:pt x="3873167" y="0"/>
                </a:lnTo>
                <a:lnTo>
                  <a:pt x="3873167" y="739878"/>
                </a:lnTo>
                <a:lnTo>
                  <a:pt x="0" y="739878"/>
                </a:lnTo>
                <a:lnTo>
                  <a:pt x="0" y="0"/>
                </a:lnTo>
                <a:close/>
              </a:path>
            </a:pathLst>
          </a:custGeom>
          <a:blipFill>
            <a:blip r:embed="rId11"/>
            <a:stretch>
              <a:fillRect l="0" t="-11509" r="0" b="-11509"/>
            </a:stretch>
          </a:blipFill>
        </p:spPr>
      </p:sp>
      <p:sp>
        <p:nvSpPr>
          <p:cNvPr name="TextBox 33" id="33"/>
          <p:cNvSpPr txBox="true"/>
          <p:nvPr/>
        </p:nvSpPr>
        <p:spPr>
          <a:xfrm rot="0">
            <a:off x="2084367" y="8239509"/>
            <a:ext cx="2615059" cy="398001"/>
          </a:xfrm>
          <a:prstGeom prst="rect">
            <a:avLst/>
          </a:prstGeom>
        </p:spPr>
        <p:txBody>
          <a:bodyPr anchor="t" rtlCol="false" tIns="0" lIns="0" bIns="0" rIns="0">
            <a:spAutoFit/>
          </a:bodyPr>
          <a:lstStyle/>
          <a:p>
            <a:pPr algn="ctr">
              <a:lnSpc>
                <a:spcPts val="3262"/>
              </a:lnSpc>
            </a:pPr>
            <a:r>
              <a:rPr lang="en-US" b="true" sz="2330">
                <a:solidFill>
                  <a:srgbClr val="493323"/>
                </a:solidFill>
                <a:latin typeface="Open Sans 1 Bold"/>
                <a:ea typeface="Open Sans 1 Bold"/>
                <a:cs typeface="Open Sans 1 Bold"/>
                <a:sym typeface="Open Sans 1 Bold"/>
              </a:rPr>
              <a:t>Katherine Rubilar</a:t>
            </a:r>
          </a:p>
        </p:txBody>
      </p:sp>
      <p:sp>
        <p:nvSpPr>
          <p:cNvPr name="TextBox 34" id="34"/>
          <p:cNvSpPr txBox="true"/>
          <p:nvPr/>
        </p:nvSpPr>
        <p:spPr>
          <a:xfrm rot="0">
            <a:off x="7850468" y="8278494"/>
            <a:ext cx="3077319" cy="398001"/>
          </a:xfrm>
          <a:prstGeom prst="rect">
            <a:avLst/>
          </a:prstGeom>
        </p:spPr>
        <p:txBody>
          <a:bodyPr anchor="t" rtlCol="false" tIns="0" lIns="0" bIns="0" rIns="0">
            <a:spAutoFit/>
          </a:bodyPr>
          <a:lstStyle/>
          <a:p>
            <a:pPr algn="ctr">
              <a:lnSpc>
                <a:spcPts val="3262"/>
              </a:lnSpc>
            </a:pPr>
            <a:r>
              <a:rPr lang="en-US" sz="2330" b="true">
                <a:solidFill>
                  <a:srgbClr val="493323"/>
                </a:solidFill>
                <a:latin typeface="Open Sans 1 Bold"/>
                <a:ea typeface="Open Sans 1 Bold"/>
                <a:cs typeface="Open Sans 1 Bold"/>
                <a:sym typeface="Open Sans 1 Bold"/>
              </a:rPr>
              <a:t>Josyan Bonnemaison</a:t>
            </a:r>
          </a:p>
        </p:txBody>
      </p:sp>
      <p:sp>
        <p:nvSpPr>
          <p:cNvPr name="TextBox 35" id="35"/>
          <p:cNvSpPr txBox="true"/>
          <p:nvPr/>
        </p:nvSpPr>
        <p:spPr>
          <a:xfrm rot="0">
            <a:off x="14098233" y="8240394"/>
            <a:ext cx="2448967" cy="398001"/>
          </a:xfrm>
          <a:prstGeom prst="rect">
            <a:avLst/>
          </a:prstGeom>
        </p:spPr>
        <p:txBody>
          <a:bodyPr anchor="t" rtlCol="false" tIns="0" lIns="0" bIns="0" rIns="0">
            <a:spAutoFit/>
          </a:bodyPr>
          <a:lstStyle/>
          <a:p>
            <a:pPr algn="ctr">
              <a:lnSpc>
                <a:spcPts val="3262"/>
              </a:lnSpc>
            </a:pPr>
            <a:r>
              <a:rPr lang="en-US" sz="2330" b="true">
                <a:solidFill>
                  <a:srgbClr val="493323"/>
                </a:solidFill>
                <a:latin typeface="Open Sans 1 Bold"/>
                <a:ea typeface="Open Sans 1 Bold"/>
                <a:cs typeface="Open Sans 1 Bold"/>
                <a:sym typeface="Open Sans 1 Bold"/>
              </a:rPr>
              <a:t>Nicole Marchant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670861"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390915" y="2534601"/>
            <a:ext cx="17506170" cy="6925878"/>
          </a:xfrm>
          <a:custGeom>
            <a:avLst/>
            <a:gdLst/>
            <a:ahLst/>
            <a:cxnLst/>
            <a:rect r="r" b="b" t="t" l="l"/>
            <a:pathLst>
              <a:path h="6925878" w="17506170">
                <a:moveTo>
                  <a:pt x="0" y="0"/>
                </a:moveTo>
                <a:lnTo>
                  <a:pt x="17506170" y="0"/>
                </a:lnTo>
                <a:lnTo>
                  <a:pt x="17506170" y="6925878"/>
                </a:lnTo>
                <a:lnTo>
                  <a:pt x="0" y="6925878"/>
                </a:lnTo>
                <a:lnTo>
                  <a:pt x="0" y="0"/>
                </a:lnTo>
                <a:close/>
              </a:path>
            </a:pathLst>
          </a:custGeom>
          <a:blipFill>
            <a:blip r:embed="rId7"/>
            <a:stretch>
              <a:fillRect l="0" t="0" r="0" b="0"/>
            </a:stretch>
          </a:blipFill>
        </p:spPr>
      </p:sp>
      <p:sp>
        <p:nvSpPr>
          <p:cNvPr name="TextBox 11" id="11"/>
          <p:cNvSpPr txBox="true"/>
          <p:nvPr/>
        </p:nvSpPr>
        <p:spPr>
          <a:xfrm rot="0">
            <a:off x="7389651" y="776199"/>
            <a:ext cx="4781193"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Plan de trabajo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9D7"/>
        </a:solidFill>
      </p:bgPr>
    </p:bg>
    <p:spTree>
      <p:nvGrpSpPr>
        <p:cNvPr id="1" name=""/>
        <p:cNvGrpSpPr/>
        <p:nvPr/>
      </p:nvGrpSpPr>
      <p:grpSpPr>
        <a:xfrm>
          <a:off x="0" y="0"/>
          <a:ext cx="0" cy="0"/>
          <a:chOff x="0" y="0"/>
          <a:chExt cx="0" cy="0"/>
        </a:xfrm>
      </p:grpSpPr>
      <p:grpSp>
        <p:nvGrpSpPr>
          <p:cNvPr name="Group 2" id="2"/>
          <p:cNvGrpSpPr/>
          <p:nvPr/>
        </p:nvGrpSpPr>
        <p:grpSpPr>
          <a:xfrm rot="0">
            <a:off x="1614682" y="1560874"/>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3"/>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6">
              <a:alphaModFix amt="48000"/>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6">
              <a:alphaModFix amt="48000"/>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179221" y="4891388"/>
            <a:ext cx="9063811" cy="5110639"/>
            <a:chOff x="0" y="0"/>
            <a:chExt cx="12085081" cy="6814185"/>
          </a:xfrm>
        </p:grpSpPr>
        <p:sp>
          <p:nvSpPr>
            <p:cNvPr name="Freeform 11" id="11"/>
            <p:cNvSpPr/>
            <p:nvPr/>
          </p:nvSpPr>
          <p:spPr>
            <a:xfrm flipH="false" flipV="false" rot="0">
              <a:off x="124826" y="0"/>
              <a:ext cx="11960255" cy="6814185"/>
            </a:xfrm>
            <a:custGeom>
              <a:avLst/>
              <a:gdLst/>
              <a:ahLst/>
              <a:cxnLst/>
              <a:rect r="r" b="b" t="t" l="l"/>
              <a:pathLst>
                <a:path h="6814185" w="11960255">
                  <a:moveTo>
                    <a:pt x="0" y="0"/>
                  </a:moveTo>
                  <a:lnTo>
                    <a:pt x="11960255" y="0"/>
                  </a:lnTo>
                  <a:lnTo>
                    <a:pt x="11960255" y="6814185"/>
                  </a:lnTo>
                  <a:lnTo>
                    <a:pt x="0" y="6814185"/>
                  </a:lnTo>
                  <a:lnTo>
                    <a:pt x="0" y="0"/>
                  </a:lnTo>
                  <a:close/>
                </a:path>
              </a:pathLst>
            </a:custGeom>
            <a:blipFill>
              <a:blip r:embed="rId8"/>
              <a:stretch>
                <a:fillRect l="-24903" t="-18718" r="0" b="-3639"/>
              </a:stretch>
            </a:blipFill>
          </p:spPr>
        </p:sp>
        <p:grpSp>
          <p:nvGrpSpPr>
            <p:cNvPr name="Group 12" id="12"/>
            <p:cNvGrpSpPr/>
            <p:nvPr/>
          </p:nvGrpSpPr>
          <p:grpSpPr>
            <a:xfrm rot="0">
              <a:off x="0" y="5507478"/>
              <a:ext cx="3323083" cy="1168588"/>
              <a:chOff x="0" y="0"/>
              <a:chExt cx="1012163" cy="355935"/>
            </a:xfrm>
          </p:grpSpPr>
          <p:sp>
            <p:nvSpPr>
              <p:cNvPr name="Freeform 13" id="13"/>
              <p:cNvSpPr/>
              <p:nvPr/>
            </p:nvSpPr>
            <p:spPr>
              <a:xfrm flipH="false" flipV="false" rot="0">
                <a:off x="0" y="0"/>
                <a:ext cx="1012163" cy="355935"/>
              </a:xfrm>
              <a:custGeom>
                <a:avLst/>
                <a:gdLst/>
                <a:ahLst/>
                <a:cxnLst/>
                <a:rect r="r" b="b" t="t" l="l"/>
                <a:pathLst>
                  <a:path h="355935" w="1012163">
                    <a:moveTo>
                      <a:pt x="0" y="0"/>
                    </a:moveTo>
                    <a:lnTo>
                      <a:pt x="1012163" y="0"/>
                    </a:lnTo>
                    <a:lnTo>
                      <a:pt x="1012163" y="355935"/>
                    </a:lnTo>
                    <a:lnTo>
                      <a:pt x="0" y="355935"/>
                    </a:lnTo>
                    <a:close/>
                  </a:path>
                </a:pathLst>
              </a:custGeom>
              <a:solidFill>
                <a:srgbClr val="EFE9D7"/>
              </a:solidFill>
            </p:spPr>
          </p:sp>
          <p:sp>
            <p:nvSpPr>
              <p:cNvPr name="TextBox 14" id="14"/>
              <p:cNvSpPr txBox="true"/>
              <p:nvPr/>
            </p:nvSpPr>
            <p:spPr>
              <a:xfrm>
                <a:off x="0" y="-47625"/>
                <a:ext cx="1012163" cy="403560"/>
              </a:xfrm>
              <a:prstGeom prst="rect">
                <a:avLst/>
              </a:prstGeom>
            </p:spPr>
            <p:txBody>
              <a:bodyPr anchor="ctr" rtlCol="false" tIns="50800" lIns="50800" bIns="50800" rIns="50800"/>
              <a:lstStyle/>
              <a:p>
                <a:pPr algn="ctr">
                  <a:lnSpc>
                    <a:spcPts val="3080"/>
                  </a:lnSpc>
                </a:pPr>
              </a:p>
            </p:txBody>
          </p:sp>
        </p:grpSp>
      </p:grpSp>
      <p:sp>
        <p:nvSpPr>
          <p:cNvPr name="AutoShape 15" id="15"/>
          <p:cNvSpPr/>
          <p:nvPr/>
        </p:nvSpPr>
        <p:spPr>
          <a:xfrm flipV="true">
            <a:off x="9144000" y="2647780"/>
            <a:ext cx="0" cy="7206380"/>
          </a:xfrm>
          <a:prstGeom prst="line">
            <a:avLst/>
          </a:prstGeom>
          <a:ln cap="flat" w="38100">
            <a:solidFill>
              <a:srgbClr val="EDE0CE"/>
            </a:solidFill>
            <a:prstDash val="solid"/>
            <a:headEnd type="none" len="sm" w="sm"/>
            <a:tailEnd type="none" len="sm" w="sm"/>
          </a:ln>
        </p:spPr>
      </p:sp>
      <p:grpSp>
        <p:nvGrpSpPr>
          <p:cNvPr name="Group 16" id="16"/>
          <p:cNvGrpSpPr/>
          <p:nvPr/>
        </p:nvGrpSpPr>
        <p:grpSpPr>
          <a:xfrm rot="0">
            <a:off x="10398809" y="1552911"/>
            <a:ext cx="490840" cy="548796"/>
            <a:chOff x="0" y="0"/>
            <a:chExt cx="654454" cy="731728"/>
          </a:xfrm>
        </p:grpSpPr>
        <p:grpSp>
          <p:nvGrpSpPr>
            <p:cNvPr name="Group 17" id="17"/>
            <p:cNvGrpSpPr/>
            <p:nvPr/>
          </p:nvGrpSpPr>
          <p:grpSpPr>
            <a:xfrm rot="0">
              <a:off x="0" y="0"/>
              <a:ext cx="654454" cy="731728"/>
              <a:chOff x="0" y="0"/>
              <a:chExt cx="389591" cy="435592"/>
            </a:xfrm>
          </p:grpSpPr>
          <p:sp>
            <p:nvSpPr>
              <p:cNvPr name="Freeform 18" id="18"/>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19" id="19"/>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20" id="20"/>
            <p:cNvSpPr/>
            <p:nvPr/>
          </p:nvSpPr>
          <p:spPr>
            <a:xfrm flipH="false" flipV="false" rot="0">
              <a:off x="105974" y="144611"/>
              <a:ext cx="442506" cy="442506"/>
            </a:xfrm>
            <a:custGeom>
              <a:avLst/>
              <a:gdLst/>
              <a:ahLst/>
              <a:cxnLst/>
              <a:rect r="r" b="b" t="t" l="l"/>
              <a:pathLst>
                <a:path h="442506" w="442506">
                  <a:moveTo>
                    <a:pt x="0" y="0"/>
                  </a:moveTo>
                  <a:lnTo>
                    <a:pt x="442506" y="0"/>
                  </a:lnTo>
                  <a:lnTo>
                    <a:pt x="442506" y="442506"/>
                  </a:lnTo>
                  <a:lnTo>
                    <a:pt x="0" y="442506"/>
                  </a:lnTo>
                  <a:lnTo>
                    <a:pt x="0" y="0"/>
                  </a:lnTo>
                  <a:close/>
                </a:path>
              </a:pathLst>
            </a:custGeom>
            <a:blipFill>
              <a:blip r:embed="rId3"/>
              <a:stretch>
                <a:fillRect l="0" t="0" r="0" b="0"/>
              </a:stretch>
            </a:blipFill>
          </p:spPr>
        </p:sp>
      </p:grpSp>
      <p:grpSp>
        <p:nvGrpSpPr>
          <p:cNvPr name="Group 21" id="21"/>
          <p:cNvGrpSpPr/>
          <p:nvPr/>
        </p:nvGrpSpPr>
        <p:grpSpPr>
          <a:xfrm rot="0">
            <a:off x="9648867" y="2728211"/>
            <a:ext cx="2481565" cy="1921905"/>
            <a:chOff x="0" y="0"/>
            <a:chExt cx="3308753" cy="2562540"/>
          </a:xfrm>
        </p:grpSpPr>
        <p:grpSp>
          <p:nvGrpSpPr>
            <p:cNvPr name="Group 22" id="22"/>
            <p:cNvGrpSpPr/>
            <p:nvPr/>
          </p:nvGrpSpPr>
          <p:grpSpPr>
            <a:xfrm rot="0">
              <a:off x="258638" y="0"/>
              <a:ext cx="2829262" cy="2562540"/>
              <a:chOff x="0" y="0"/>
              <a:chExt cx="563523" cy="510398"/>
            </a:xfrm>
          </p:grpSpPr>
          <p:sp>
            <p:nvSpPr>
              <p:cNvPr name="Freeform 23" id="23"/>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24" id="24"/>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Freeform 25" id="25"/>
            <p:cNvSpPr/>
            <p:nvPr/>
          </p:nvSpPr>
          <p:spPr>
            <a:xfrm flipH="false" flipV="false" rot="0">
              <a:off x="950862" y="151893"/>
              <a:ext cx="1369245" cy="1129377"/>
            </a:xfrm>
            <a:custGeom>
              <a:avLst/>
              <a:gdLst/>
              <a:ahLst/>
              <a:cxnLst/>
              <a:rect r="r" b="b" t="t" l="l"/>
              <a:pathLst>
                <a:path h="1129377" w="1369245">
                  <a:moveTo>
                    <a:pt x="0" y="0"/>
                  </a:moveTo>
                  <a:lnTo>
                    <a:pt x="1369244" y="0"/>
                  </a:lnTo>
                  <a:lnTo>
                    <a:pt x="1369244" y="1129377"/>
                  </a:lnTo>
                  <a:lnTo>
                    <a:pt x="0" y="1129377"/>
                  </a:lnTo>
                  <a:lnTo>
                    <a:pt x="0" y="0"/>
                  </a:lnTo>
                  <a:close/>
                </a:path>
              </a:pathLst>
            </a:custGeom>
            <a:blipFill>
              <a:blip r:embed="rId9"/>
              <a:stretch>
                <a:fillRect l="0" t="0" r="0" b="0"/>
              </a:stretch>
            </a:blipFill>
          </p:spPr>
        </p:sp>
        <p:sp>
          <p:nvSpPr>
            <p:cNvPr name="TextBox 26" id="26"/>
            <p:cNvSpPr txBox="true"/>
            <p:nvPr/>
          </p:nvSpPr>
          <p:spPr>
            <a:xfrm rot="0">
              <a:off x="0" y="1384955"/>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React</a:t>
              </a:r>
            </a:p>
          </p:txBody>
        </p:sp>
        <p:sp>
          <p:nvSpPr>
            <p:cNvPr name="TextBox 27" id="27"/>
            <p:cNvSpPr txBox="true"/>
            <p:nvPr/>
          </p:nvSpPr>
          <p:spPr>
            <a:xfrm rot="0">
              <a:off x="37785" y="1956920"/>
              <a:ext cx="3270968" cy="320421"/>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Frontend</a:t>
              </a:r>
            </a:p>
          </p:txBody>
        </p:sp>
      </p:grpSp>
      <p:grpSp>
        <p:nvGrpSpPr>
          <p:cNvPr name="Group 28" id="28"/>
          <p:cNvGrpSpPr/>
          <p:nvPr/>
        </p:nvGrpSpPr>
        <p:grpSpPr>
          <a:xfrm rot="0">
            <a:off x="12306267" y="2728211"/>
            <a:ext cx="2453226" cy="1921905"/>
            <a:chOff x="0" y="0"/>
            <a:chExt cx="3270968" cy="2562540"/>
          </a:xfrm>
        </p:grpSpPr>
        <p:grpSp>
          <p:nvGrpSpPr>
            <p:cNvPr name="Group 29" id="29"/>
            <p:cNvGrpSpPr/>
            <p:nvPr/>
          </p:nvGrpSpPr>
          <p:grpSpPr>
            <a:xfrm rot="0">
              <a:off x="220853" y="0"/>
              <a:ext cx="2829262" cy="2562540"/>
              <a:chOff x="0" y="0"/>
              <a:chExt cx="563523" cy="510398"/>
            </a:xfrm>
          </p:grpSpPr>
          <p:sp>
            <p:nvSpPr>
              <p:cNvPr name="Freeform 30" id="30"/>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31" id="31"/>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TextBox 32" id="32"/>
            <p:cNvSpPr txBox="true"/>
            <p:nvPr/>
          </p:nvSpPr>
          <p:spPr>
            <a:xfrm rot="0">
              <a:off x="0" y="1394566"/>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Python</a:t>
              </a:r>
            </a:p>
          </p:txBody>
        </p:sp>
        <p:sp>
          <p:nvSpPr>
            <p:cNvPr name="TextBox 33" id="33"/>
            <p:cNvSpPr txBox="true"/>
            <p:nvPr/>
          </p:nvSpPr>
          <p:spPr>
            <a:xfrm rot="0">
              <a:off x="0" y="1976141"/>
              <a:ext cx="3270968" cy="320421"/>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Backend</a:t>
              </a:r>
            </a:p>
          </p:txBody>
        </p:sp>
      </p:grpSp>
      <p:grpSp>
        <p:nvGrpSpPr>
          <p:cNvPr name="Group 34" id="34"/>
          <p:cNvGrpSpPr/>
          <p:nvPr/>
        </p:nvGrpSpPr>
        <p:grpSpPr>
          <a:xfrm rot="0">
            <a:off x="15037852" y="2728211"/>
            <a:ext cx="2453226" cy="1921905"/>
            <a:chOff x="0" y="0"/>
            <a:chExt cx="3270968" cy="2562540"/>
          </a:xfrm>
        </p:grpSpPr>
        <p:grpSp>
          <p:nvGrpSpPr>
            <p:cNvPr name="Group 35" id="35"/>
            <p:cNvGrpSpPr/>
            <p:nvPr/>
          </p:nvGrpSpPr>
          <p:grpSpPr>
            <a:xfrm rot="0">
              <a:off x="220853" y="0"/>
              <a:ext cx="2829262" cy="2562540"/>
              <a:chOff x="0" y="0"/>
              <a:chExt cx="563523" cy="510398"/>
            </a:xfrm>
          </p:grpSpPr>
          <p:sp>
            <p:nvSpPr>
              <p:cNvPr name="Freeform 36" id="36"/>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37" id="37"/>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TextBox 38" id="38"/>
            <p:cNvSpPr txBox="true"/>
            <p:nvPr/>
          </p:nvSpPr>
          <p:spPr>
            <a:xfrm rot="0">
              <a:off x="0" y="1413787"/>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FastAPI</a:t>
              </a:r>
            </a:p>
          </p:txBody>
        </p:sp>
        <p:sp>
          <p:nvSpPr>
            <p:cNvPr name="TextBox 39" id="39"/>
            <p:cNvSpPr txBox="true"/>
            <p:nvPr/>
          </p:nvSpPr>
          <p:spPr>
            <a:xfrm rot="0">
              <a:off x="0" y="2014584"/>
              <a:ext cx="3270968" cy="320421"/>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Backend</a:t>
              </a:r>
            </a:p>
          </p:txBody>
        </p:sp>
      </p:grpSp>
      <p:grpSp>
        <p:nvGrpSpPr>
          <p:cNvPr name="Group 40" id="40"/>
          <p:cNvGrpSpPr/>
          <p:nvPr/>
        </p:nvGrpSpPr>
        <p:grpSpPr>
          <a:xfrm rot="0">
            <a:off x="9677206" y="5099602"/>
            <a:ext cx="2453226" cy="1921905"/>
            <a:chOff x="0" y="0"/>
            <a:chExt cx="3270968" cy="2562540"/>
          </a:xfrm>
        </p:grpSpPr>
        <p:grpSp>
          <p:nvGrpSpPr>
            <p:cNvPr name="Group 41" id="41"/>
            <p:cNvGrpSpPr/>
            <p:nvPr/>
          </p:nvGrpSpPr>
          <p:grpSpPr>
            <a:xfrm rot="0">
              <a:off x="220853" y="0"/>
              <a:ext cx="2829262" cy="2562540"/>
              <a:chOff x="0" y="0"/>
              <a:chExt cx="563523" cy="510398"/>
            </a:xfrm>
          </p:grpSpPr>
          <p:sp>
            <p:nvSpPr>
              <p:cNvPr name="Freeform 42" id="42"/>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43" id="43"/>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TextBox 44" id="44"/>
            <p:cNvSpPr txBox="true"/>
            <p:nvPr/>
          </p:nvSpPr>
          <p:spPr>
            <a:xfrm rot="0">
              <a:off x="0" y="1394566"/>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PostgreSQL</a:t>
              </a:r>
            </a:p>
          </p:txBody>
        </p:sp>
        <p:sp>
          <p:nvSpPr>
            <p:cNvPr name="TextBox 45" id="45"/>
            <p:cNvSpPr txBox="true"/>
            <p:nvPr/>
          </p:nvSpPr>
          <p:spPr>
            <a:xfrm rot="0">
              <a:off x="0" y="1976141"/>
              <a:ext cx="3270968" cy="320421"/>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Base de datos</a:t>
              </a:r>
            </a:p>
          </p:txBody>
        </p:sp>
      </p:grpSp>
      <p:grpSp>
        <p:nvGrpSpPr>
          <p:cNvPr name="Group 46" id="46"/>
          <p:cNvGrpSpPr/>
          <p:nvPr/>
        </p:nvGrpSpPr>
        <p:grpSpPr>
          <a:xfrm rot="0">
            <a:off x="12306267" y="5099602"/>
            <a:ext cx="2488625" cy="1921905"/>
            <a:chOff x="0" y="0"/>
            <a:chExt cx="3318166" cy="2562540"/>
          </a:xfrm>
        </p:grpSpPr>
        <p:grpSp>
          <p:nvGrpSpPr>
            <p:cNvPr name="Group 47" id="47"/>
            <p:cNvGrpSpPr/>
            <p:nvPr/>
          </p:nvGrpSpPr>
          <p:grpSpPr>
            <a:xfrm rot="0">
              <a:off x="220853" y="0"/>
              <a:ext cx="2829262" cy="2562540"/>
              <a:chOff x="0" y="0"/>
              <a:chExt cx="563523" cy="510398"/>
            </a:xfrm>
          </p:grpSpPr>
          <p:sp>
            <p:nvSpPr>
              <p:cNvPr name="Freeform 48" id="48"/>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49" id="49"/>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TextBox 50" id="50"/>
            <p:cNvSpPr txBox="true"/>
            <p:nvPr/>
          </p:nvSpPr>
          <p:spPr>
            <a:xfrm rot="0">
              <a:off x="0" y="1394566"/>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Docker</a:t>
              </a:r>
            </a:p>
          </p:txBody>
        </p:sp>
        <p:sp>
          <p:nvSpPr>
            <p:cNvPr name="TextBox 51" id="51"/>
            <p:cNvSpPr txBox="true"/>
            <p:nvPr/>
          </p:nvSpPr>
          <p:spPr>
            <a:xfrm rot="0">
              <a:off x="47199" y="1976141"/>
              <a:ext cx="3270968" cy="320421"/>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Contenedores</a:t>
              </a:r>
            </a:p>
          </p:txBody>
        </p:sp>
      </p:grpSp>
      <p:grpSp>
        <p:nvGrpSpPr>
          <p:cNvPr name="Group 52" id="52"/>
          <p:cNvGrpSpPr/>
          <p:nvPr/>
        </p:nvGrpSpPr>
        <p:grpSpPr>
          <a:xfrm rot="0">
            <a:off x="15040506" y="5099602"/>
            <a:ext cx="2453226" cy="1921905"/>
            <a:chOff x="0" y="0"/>
            <a:chExt cx="3270968" cy="2562540"/>
          </a:xfrm>
        </p:grpSpPr>
        <p:grpSp>
          <p:nvGrpSpPr>
            <p:cNvPr name="Group 53" id="53"/>
            <p:cNvGrpSpPr/>
            <p:nvPr/>
          </p:nvGrpSpPr>
          <p:grpSpPr>
            <a:xfrm rot="0">
              <a:off x="220853" y="0"/>
              <a:ext cx="2829262" cy="2562540"/>
              <a:chOff x="0" y="0"/>
              <a:chExt cx="563523" cy="510398"/>
            </a:xfrm>
          </p:grpSpPr>
          <p:sp>
            <p:nvSpPr>
              <p:cNvPr name="Freeform 54" id="54"/>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55" id="55"/>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TextBox 56" id="56"/>
            <p:cNvSpPr txBox="true"/>
            <p:nvPr/>
          </p:nvSpPr>
          <p:spPr>
            <a:xfrm rot="0">
              <a:off x="0" y="1404176"/>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Git</a:t>
              </a:r>
            </a:p>
          </p:txBody>
        </p:sp>
      </p:grpSp>
      <p:grpSp>
        <p:nvGrpSpPr>
          <p:cNvPr name="Group 57" id="57"/>
          <p:cNvGrpSpPr/>
          <p:nvPr/>
        </p:nvGrpSpPr>
        <p:grpSpPr>
          <a:xfrm rot="0">
            <a:off x="11079654" y="7336395"/>
            <a:ext cx="2453226" cy="1921905"/>
            <a:chOff x="0" y="0"/>
            <a:chExt cx="3270968" cy="2562540"/>
          </a:xfrm>
        </p:grpSpPr>
        <p:grpSp>
          <p:nvGrpSpPr>
            <p:cNvPr name="Group 58" id="58"/>
            <p:cNvGrpSpPr/>
            <p:nvPr/>
          </p:nvGrpSpPr>
          <p:grpSpPr>
            <a:xfrm rot="0">
              <a:off x="220853" y="0"/>
              <a:ext cx="2829262" cy="2562540"/>
              <a:chOff x="0" y="0"/>
              <a:chExt cx="563523" cy="510398"/>
            </a:xfrm>
          </p:grpSpPr>
          <p:sp>
            <p:nvSpPr>
              <p:cNvPr name="Freeform 59" id="59"/>
              <p:cNvSpPr/>
              <p:nvPr/>
            </p:nvSpPr>
            <p:spPr>
              <a:xfrm flipH="false" flipV="false" rot="0">
                <a:off x="0" y="0"/>
                <a:ext cx="563523" cy="510398"/>
              </a:xfrm>
              <a:custGeom>
                <a:avLst/>
                <a:gdLst/>
                <a:ahLst/>
                <a:cxnLst/>
                <a:rect r="r" b="b" t="t" l="l"/>
                <a:pathLst>
                  <a:path h="510398" w="563523">
                    <a:moveTo>
                      <a:pt x="101314" y="0"/>
                    </a:moveTo>
                    <a:lnTo>
                      <a:pt x="462209" y="0"/>
                    </a:lnTo>
                    <a:cubicBezTo>
                      <a:pt x="518163" y="0"/>
                      <a:pt x="563523" y="45360"/>
                      <a:pt x="563523" y="101314"/>
                    </a:cubicBezTo>
                    <a:lnTo>
                      <a:pt x="563523" y="409084"/>
                    </a:lnTo>
                    <a:cubicBezTo>
                      <a:pt x="563523" y="465038"/>
                      <a:pt x="518163" y="510398"/>
                      <a:pt x="462209" y="510398"/>
                    </a:cubicBezTo>
                    <a:lnTo>
                      <a:pt x="101314" y="510398"/>
                    </a:lnTo>
                    <a:cubicBezTo>
                      <a:pt x="45360" y="510398"/>
                      <a:pt x="0" y="465038"/>
                      <a:pt x="0" y="409084"/>
                    </a:cubicBezTo>
                    <a:lnTo>
                      <a:pt x="0" y="101314"/>
                    </a:lnTo>
                    <a:cubicBezTo>
                      <a:pt x="0" y="45360"/>
                      <a:pt x="45360" y="0"/>
                      <a:pt x="101314" y="0"/>
                    </a:cubicBezTo>
                    <a:close/>
                  </a:path>
                </a:pathLst>
              </a:custGeom>
              <a:solidFill>
                <a:srgbClr val="FFFFFF"/>
              </a:solidFill>
              <a:ln w="19050" cap="rnd">
                <a:solidFill>
                  <a:srgbClr val="C29F64"/>
                </a:solidFill>
                <a:prstDash val="solid"/>
                <a:round/>
              </a:ln>
            </p:spPr>
          </p:sp>
          <p:sp>
            <p:nvSpPr>
              <p:cNvPr name="TextBox 60" id="60"/>
              <p:cNvSpPr txBox="true"/>
              <p:nvPr/>
            </p:nvSpPr>
            <p:spPr>
              <a:xfrm>
                <a:off x="0" y="-47625"/>
                <a:ext cx="563523" cy="558023"/>
              </a:xfrm>
              <a:prstGeom prst="rect">
                <a:avLst/>
              </a:prstGeom>
            </p:spPr>
            <p:txBody>
              <a:bodyPr anchor="ctr" rtlCol="false" tIns="50800" lIns="50800" bIns="50800" rIns="50800"/>
              <a:lstStyle/>
              <a:p>
                <a:pPr algn="ctr">
                  <a:lnSpc>
                    <a:spcPts val="3080"/>
                  </a:lnSpc>
                </a:pPr>
              </a:p>
            </p:txBody>
          </p:sp>
        </p:grpSp>
        <p:sp>
          <p:nvSpPr>
            <p:cNvPr name="TextBox 61" id="61"/>
            <p:cNvSpPr txBox="true"/>
            <p:nvPr/>
          </p:nvSpPr>
          <p:spPr>
            <a:xfrm rot="0">
              <a:off x="0" y="1423398"/>
              <a:ext cx="3270968" cy="422230"/>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GitHub</a:t>
              </a:r>
            </a:p>
          </p:txBody>
        </p:sp>
        <p:sp>
          <p:nvSpPr>
            <p:cNvPr name="TextBox 62" id="62"/>
            <p:cNvSpPr txBox="true"/>
            <p:nvPr/>
          </p:nvSpPr>
          <p:spPr>
            <a:xfrm rot="0">
              <a:off x="0" y="2033806"/>
              <a:ext cx="3270968" cy="320421"/>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Colaboración</a:t>
              </a:r>
            </a:p>
          </p:txBody>
        </p:sp>
      </p:grpSp>
      <p:grpSp>
        <p:nvGrpSpPr>
          <p:cNvPr name="Group 63" id="63"/>
          <p:cNvGrpSpPr/>
          <p:nvPr/>
        </p:nvGrpSpPr>
        <p:grpSpPr>
          <a:xfrm rot="0">
            <a:off x="14061215" y="7336395"/>
            <a:ext cx="2121946" cy="1921905"/>
            <a:chOff x="0" y="0"/>
            <a:chExt cx="563523" cy="510398"/>
          </a:xfrm>
        </p:grpSpPr>
        <p:sp>
          <p:nvSpPr>
            <p:cNvPr name="Freeform 64" id="64"/>
            <p:cNvSpPr/>
            <p:nvPr/>
          </p:nvSpPr>
          <p:spPr>
            <a:xfrm flipH="false" flipV="false" rot="0">
              <a:off x="0" y="0"/>
              <a:ext cx="563523" cy="510398"/>
            </a:xfrm>
            <a:custGeom>
              <a:avLst/>
              <a:gdLst/>
              <a:ahLst/>
              <a:cxnLst/>
              <a:rect r="r" b="b" t="t" l="l"/>
              <a:pathLst>
                <a:path h="510398" w="563523">
                  <a:moveTo>
                    <a:pt x="102158" y="0"/>
                  </a:moveTo>
                  <a:lnTo>
                    <a:pt x="461365" y="0"/>
                  </a:lnTo>
                  <a:cubicBezTo>
                    <a:pt x="488459" y="0"/>
                    <a:pt x="514443" y="10763"/>
                    <a:pt x="533601" y="29921"/>
                  </a:cubicBezTo>
                  <a:cubicBezTo>
                    <a:pt x="552760" y="49080"/>
                    <a:pt x="563523" y="75064"/>
                    <a:pt x="563523" y="102158"/>
                  </a:cubicBezTo>
                  <a:lnTo>
                    <a:pt x="563523" y="408240"/>
                  </a:lnTo>
                  <a:cubicBezTo>
                    <a:pt x="563523" y="464660"/>
                    <a:pt x="517785" y="510398"/>
                    <a:pt x="461365" y="510398"/>
                  </a:cubicBezTo>
                  <a:lnTo>
                    <a:pt x="102158" y="510398"/>
                  </a:lnTo>
                  <a:cubicBezTo>
                    <a:pt x="75064" y="510398"/>
                    <a:pt x="49080" y="499635"/>
                    <a:pt x="29921" y="480477"/>
                  </a:cubicBezTo>
                  <a:cubicBezTo>
                    <a:pt x="10763" y="461318"/>
                    <a:pt x="0" y="435334"/>
                    <a:pt x="0" y="408240"/>
                  </a:cubicBezTo>
                  <a:lnTo>
                    <a:pt x="0" y="102158"/>
                  </a:lnTo>
                  <a:cubicBezTo>
                    <a:pt x="0" y="75064"/>
                    <a:pt x="10763" y="49080"/>
                    <a:pt x="29921" y="29921"/>
                  </a:cubicBezTo>
                  <a:cubicBezTo>
                    <a:pt x="49080" y="10763"/>
                    <a:pt x="75064" y="0"/>
                    <a:pt x="102158" y="0"/>
                  </a:cubicBezTo>
                  <a:close/>
                </a:path>
              </a:pathLst>
            </a:custGeom>
            <a:solidFill>
              <a:srgbClr val="FFFFFF"/>
            </a:solidFill>
            <a:ln w="19050" cap="rnd">
              <a:solidFill>
                <a:srgbClr val="C29F64"/>
              </a:solidFill>
              <a:prstDash val="solid"/>
              <a:round/>
            </a:ln>
          </p:spPr>
        </p:sp>
        <p:sp>
          <p:nvSpPr>
            <p:cNvPr name="TextBox 65" id="65"/>
            <p:cNvSpPr txBox="true"/>
            <p:nvPr/>
          </p:nvSpPr>
          <p:spPr>
            <a:xfrm>
              <a:off x="0" y="-47625"/>
              <a:ext cx="563523" cy="558023"/>
            </a:xfrm>
            <a:prstGeom prst="rect">
              <a:avLst/>
            </a:prstGeom>
          </p:spPr>
          <p:txBody>
            <a:bodyPr anchor="ctr" rtlCol="false" tIns="54224" lIns="54224" bIns="54224" rIns="54224"/>
            <a:lstStyle/>
            <a:p>
              <a:pPr algn="ctr">
                <a:lnSpc>
                  <a:spcPts val="3080"/>
                </a:lnSpc>
              </a:pPr>
            </a:p>
          </p:txBody>
        </p:sp>
      </p:grpSp>
      <p:sp>
        <p:nvSpPr>
          <p:cNvPr name="Freeform 66" id="66"/>
          <p:cNvSpPr/>
          <p:nvPr/>
        </p:nvSpPr>
        <p:spPr>
          <a:xfrm flipH="false" flipV="false" rot="0">
            <a:off x="12981167" y="2768395"/>
            <a:ext cx="1103425" cy="932941"/>
          </a:xfrm>
          <a:custGeom>
            <a:avLst/>
            <a:gdLst/>
            <a:ahLst/>
            <a:cxnLst/>
            <a:rect r="r" b="b" t="t" l="l"/>
            <a:pathLst>
              <a:path h="932941" w="1103425">
                <a:moveTo>
                  <a:pt x="0" y="0"/>
                </a:moveTo>
                <a:lnTo>
                  <a:pt x="1103425" y="0"/>
                </a:lnTo>
                <a:lnTo>
                  <a:pt x="1103425" y="932941"/>
                </a:lnTo>
                <a:lnTo>
                  <a:pt x="0" y="932941"/>
                </a:lnTo>
                <a:lnTo>
                  <a:pt x="0" y="0"/>
                </a:lnTo>
                <a:close/>
              </a:path>
            </a:pathLst>
          </a:custGeom>
          <a:blipFill>
            <a:blip r:embed="rId10"/>
            <a:stretch>
              <a:fillRect l="-286428" t="-38226" r="-513788" b="-309770"/>
            </a:stretch>
          </a:blipFill>
        </p:spPr>
      </p:sp>
      <p:sp>
        <p:nvSpPr>
          <p:cNvPr name="Freeform 67" id="67"/>
          <p:cNvSpPr/>
          <p:nvPr/>
        </p:nvSpPr>
        <p:spPr>
          <a:xfrm flipH="false" flipV="false" rot="0">
            <a:off x="15712940" y="2702535"/>
            <a:ext cx="1184238" cy="1027852"/>
          </a:xfrm>
          <a:custGeom>
            <a:avLst/>
            <a:gdLst/>
            <a:ahLst/>
            <a:cxnLst/>
            <a:rect r="r" b="b" t="t" l="l"/>
            <a:pathLst>
              <a:path h="1027852" w="1184238">
                <a:moveTo>
                  <a:pt x="0" y="0"/>
                </a:moveTo>
                <a:lnTo>
                  <a:pt x="1184239" y="0"/>
                </a:lnTo>
                <a:lnTo>
                  <a:pt x="1184239" y="1027852"/>
                </a:lnTo>
                <a:lnTo>
                  <a:pt x="0" y="1027852"/>
                </a:lnTo>
                <a:lnTo>
                  <a:pt x="0" y="0"/>
                </a:lnTo>
                <a:close/>
              </a:path>
            </a:pathLst>
          </a:custGeom>
          <a:blipFill>
            <a:blip r:embed="rId10"/>
            <a:stretch>
              <a:fillRect l="-457835" t="-24430" r="-261434" b="-272738"/>
            </a:stretch>
          </a:blipFill>
        </p:spPr>
      </p:sp>
      <p:sp>
        <p:nvSpPr>
          <p:cNvPr name="Freeform 68" id="68"/>
          <p:cNvSpPr/>
          <p:nvPr/>
        </p:nvSpPr>
        <p:spPr>
          <a:xfrm flipH="false" flipV="false" rot="0">
            <a:off x="10245125" y="5172254"/>
            <a:ext cx="1289048" cy="982982"/>
          </a:xfrm>
          <a:custGeom>
            <a:avLst/>
            <a:gdLst/>
            <a:ahLst/>
            <a:cxnLst/>
            <a:rect r="r" b="b" t="t" l="l"/>
            <a:pathLst>
              <a:path h="982982" w="1289048">
                <a:moveTo>
                  <a:pt x="0" y="0"/>
                </a:moveTo>
                <a:lnTo>
                  <a:pt x="1289049" y="0"/>
                </a:lnTo>
                <a:lnTo>
                  <a:pt x="1289049" y="982982"/>
                </a:lnTo>
                <a:lnTo>
                  <a:pt x="0" y="982982"/>
                </a:lnTo>
                <a:lnTo>
                  <a:pt x="0" y="0"/>
                </a:lnTo>
                <a:close/>
              </a:path>
            </a:pathLst>
          </a:custGeom>
          <a:blipFill>
            <a:blip r:embed="rId10"/>
            <a:stretch>
              <a:fillRect l="-608382" t="-35197" r="-49613" b="-283047"/>
            </a:stretch>
          </a:blipFill>
        </p:spPr>
      </p:sp>
      <p:sp>
        <p:nvSpPr>
          <p:cNvPr name="Freeform 69" id="69"/>
          <p:cNvSpPr/>
          <p:nvPr/>
        </p:nvSpPr>
        <p:spPr>
          <a:xfrm flipH="false" flipV="false" rot="0">
            <a:off x="12676721" y="5099602"/>
            <a:ext cx="1570256" cy="1130422"/>
          </a:xfrm>
          <a:custGeom>
            <a:avLst/>
            <a:gdLst/>
            <a:ahLst/>
            <a:cxnLst/>
            <a:rect r="r" b="b" t="t" l="l"/>
            <a:pathLst>
              <a:path h="1130422" w="1570256">
                <a:moveTo>
                  <a:pt x="0" y="0"/>
                </a:moveTo>
                <a:lnTo>
                  <a:pt x="1570256" y="0"/>
                </a:lnTo>
                <a:lnTo>
                  <a:pt x="1570256" y="1130422"/>
                </a:lnTo>
                <a:lnTo>
                  <a:pt x="0" y="1130422"/>
                </a:lnTo>
                <a:lnTo>
                  <a:pt x="0" y="0"/>
                </a:lnTo>
                <a:close/>
              </a:path>
            </a:pathLst>
          </a:custGeom>
          <a:blipFill>
            <a:blip r:embed="rId10"/>
            <a:stretch>
              <a:fillRect l="-26623" t="-200554" r="-526317" b="-81075"/>
            </a:stretch>
          </a:blipFill>
        </p:spPr>
      </p:sp>
      <p:sp>
        <p:nvSpPr>
          <p:cNvPr name="Freeform 70" id="70"/>
          <p:cNvSpPr/>
          <p:nvPr/>
        </p:nvSpPr>
        <p:spPr>
          <a:xfrm flipH="false" flipV="false" rot="0">
            <a:off x="15756672" y="5145705"/>
            <a:ext cx="1096775" cy="1058265"/>
          </a:xfrm>
          <a:custGeom>
            <a:avLst/>
            <a:gdLst/>
            <a:ahLst/>
            <a:cxnLst/>
            <a:rect r="r" b="b" t="t" l="l"/>
            <a:pathLst>
              <a:path h="1058265" w="1096775">
                <a:moveTo>
                  <a:pt x="0" y="0"/>
                </a:moveTo>
                <a:lnTo>
                  <a:pt x="1096775" y="0"/>
                </a:lnTo>
                <a:lnTo>
                  <a:pt x="1096775" y="1058265"/>
                </a:lnTo>
                <a:lnTo>
                  <a:pt x="0" y="1058265"/>
                </a:lnTo>
                <a:lnTo>
                  <a:pt x="0" y="0"/>
                </a:lnTo>
                <a:close/>
              </a:path>
            </a:pathLst>
          </a:custGeom>
          <a:blipFill>
            <a:blip r:embed="rId10"/>
            <a:stretch>
              <a:fillRect l="-283911" t="-208119" r="-506967" b="-80371"/>
            </a:stretch>
          </a:blipFill>
        </p:spPr>
      </p:sp>
      <p:sp>
        <p:nvSpPr>
          <p:cNvPr name="Freeform 71" id="71"/>
          <p:cNvSpPr/>
          <p:nvPr/>
        </p:nvSpPr>
        <p:spPr>
          <a:xfrm flipH="false" flipV="false" rot="0">
            <a:off x="11711863" y="7388654"/>
            <a:ext cx="1188807" cy="1033873"/>
          </a:xfrm>
          <a:custGeom>
            <a:avLst/>
            <a:gdLst/>
            <a:ahLst/>
            <a:cxnLst/>
            <a:rect r="r" b="b" t="t" l="l"/>
            <a:pathLst>
              <a:path h="1033873" w="1188807">
                <a:moveTo>
                  <a:pt x="0" y="0"/>
                </a:moveTo>
                <a:lnTo>
                  <a:pt x="1188807" y="0"/>
                </a:lnTo>
                <a:lnTo>
                  <a:pt x="1188807" y="1033873"/>
                </a:lnTo>
                <a:lnTo>
                  <a:pt x="0" y="1033873"/>
                </a:lnTo>
                <a:lnTo>
                  <a:pt x="0" y="0"/>
                </a:lnTo>
                <a:close/>
              </a:path>
            </a:pathLst>
          </a:custGeom>
          <a:blipFill>
            <a:blip r:embed="rId10"/>
            <a:stretch>
              <a:fillRect l="-471272" t="-220951" r="-272103" b="-87090"/>
            </a:stretch>
          </a:blipFill>
        </p:spPr>
      </p:sp>
      <p:sp>
        <p:nvSpPr>
          <p:cNvPr name="Freeform 72" id="72"/>
          <p:cNvSpPr/>
          <p:nvPr/>
        </p:nvSpPr>
        <p:spPr>
          <a:xfrm flipH="false" flipV="false" rot="0">
            <a:off x="14449880" y="7288810"/>
            <a:ext cx="1380015" cy="1122020"/>
          </a:xfrm>
          <a:custGeom>
            <a:avLst/>
            <a:gdLst/>
            <a:ahLst/>
            <a:cxnLst/>
            <a:rect r="r" b="b" t="t" l="l"/>
            <a:pathLst>
              <a:path h="1122020" w="1380015">
                <a:moveTo>
                  <a:pt x="0" y="0"/>
                </a:moveTo>
                <a:lnTo>
                  <a:pt x="1380015" y="0"/>
                </a:lnTo>
                <a:lnTo>
                  <a:pt x="1380015" y="1122019"/>
                </a:lnTo>
                <a:lnTo>
                  <a:pt x="0" y="1122019"/>
                </a:lnTo>
                <a:lnTo>
                  <a:pt x="0" y="0"/>
                </a:lnTo>
                <a:close/>
              </a:path>
            </a:pathLst>
          </a:custGeom>
          <a:blipFill>
            <a:blip r:embed="rId10"/>
            <a:stretch>
              <a:fillRect l="-630957" t="-215319" r="-54516" b="-91175"/>
            </a:stretch>
          </a:blipFill>
        </p:spPr>
      </p:sp>
      <p:sp>
        <p:nvSpPr>
          <p:cNvPr name="TextBox 73" id="73"/>
          <p:cNvSpPr txBox="true"/>
          <p:nvPr/>
        </p:nvSpPr>
        <p:spPr>
          <a:xfrm rot="0">
            <a:off x="15040506" y="6588981"/>
            <a:ext cx="2453226" cy="247460"/>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Control de versiones</a:t>
            </a:r>
          </a:p>
        </p:txBody>
      </p:sp>
      <p:sp>
        <p:nvSpPr>
          <p:cNvPr name="TextBox 74" id="74"/>
          <p:cNvSpPr txBox="true"/>
          <p:nvPr/>
        </p:nvSpPr>
        <p:spPr>
          <a:xfrm rot="0">
            <a:off x="13895575" y="8384427"/>
            <a:ext cx="2453226" cy="326198"/>
          </a:xfrm>
          <a:prstGeom prst="rect">
            <a:avLst/>
          </a:prstGeom>
        </p:spPr>
        <p:txBody>
          <a:bodyPr anchor="t" rtlCol="false" tIns="0" lIns="0" bIns="0" rIns="0">
            <a:spAutoFit/>
          </a:bodyPr>
          <a:lstStyle/>
          <a:p>
            <a:pPr algn="ctr">
              <a:lnSpc>
                <a:spcPts val="2656"/>
              </a:lnSpc>
            </a:pPr>
            <a:r>
              <a:rPr lang="en-US" sz="1897" b="true">
                <a:solidFill>
                  <a:srgbClr val="493323"/>
                </a:solidFill>
                <a:latin typeface="Open Sans 1 Bold"/>
                <a:ea typeface="Open Sans 1 Bold"/>
                <a:cs typeface="Open Sans 1 Bold"/>
                <a:sym typeface="Open Sans 1 Bold"/>
              </a:rPr>
              <a:t>API de IA (LLM)</a:t>
            </a:r>
          </a:p>
        </p:txBody>
      </p:sp>
      <p:sp>
        <p:nvSpPr>
          <p:cNvPr name="TextBox 75" id="75"/>
          <p:cNvSpPr txBox="true"/>
          <p:nvPr/>
        </p:nvSpPr>
        <p:spPr>
          <a:xfrm rot="0">
            <a:off x="13913275" y="8834623"/>
            <a:ext cx="2453226" cy="247460"/>
          </a:xfrm>
          <a:prstGeom prst="rect">
            <a:avLst/>
          </a:prstGeom>
        </p:spPr>
        <p:txBody>
          <a:bodyPr anchor="t" rtlCol="false" tIns="0" lIns="0" bIns="0" rIns="0">
            <a:spAutoFit/>
          </a:bodyPr>
          <a:lstStyle/>
          <a:p>
            <a:pPr algn="ctr">
              <a:lnSpc>
                <a:spcPts val="2081"/>
              </a:lnSpc>
            </a:pPr>
            <a:r>
              <a:rPr lang="en-US" sz="1486">
                <a:solidFill>
                  <a:srgbClr val="493323"/>
                </a:solidFill>
                <a:latin typeface="Open Sans 1"/>
                <a:ea typeface="Open Sans 1"/>
                <a:cs typeface="Open Sans 1"/>
                <a:sym typeface="Open Sans 1"/>
              </a:rPr>
              <a:t>Inteligencia artificial</a:t>
            </a:r>
          </a:p>
        </p:txBody>
      </p:sp>
      <p:sp>
        <p:nvSpPr>
          <p:cNvPr name="TextBox 76" id="76"/>
          <p:cNvSpPr txBox="true"/>
          <p:nvPr/>
        </p:nvSpPr>
        <p:spPr>
          <a:xfrm rot="0">
            <a:off x="2609866" y="1334244"/>
            <a:ext cx="4344591"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Arquitectura  </a:t>
            </a:r>
          </a:p>
        </p:txBody>
      </p:sp>
      <p:sp>
        <p:nvSpPr>
          <p:cNvPr name="TextBox 77" id="77"/>
          <p:cNvSpPr txBox="true"/>
          <p:nvPr/>
        </p:nvSpPr>
        <p:spPr>
          <a:xfrm rot="0">
            <a:off x="11167346" y="1343769"/>
            <a:ext cx="5098446" cy="862305"/>
          </a:xfrm>
          <a:prstGeom prst="rect">
            <a:avLst/>
          </a:prstGeom>
        </p:spPr>
        <p:txBody>
          <a:bodyPr anchor="t" rtlCol="false" tIns="0" lIns="0" bIns="0" rIns="0">
            <a:spAutoFit/>
          </a:bodyPr>
          <a:lstStyle/>
          <a:p>
            <a:pPr algn="ctr">
              <a:lnSpc>
                <a:spcPts val="7024"/>
              </a:lnSpc>
            </a:pPr>
            <a:r>
              <a:rPr lang="en-US" sz="5017" b="true">
                <a:solidFill>
                  <a:srgbClr val="493323"/>
                </a:solidFill>
                <a:latin typeface="Cambria Bold"/>
                <a:ea typeface="Cambria Bold"/>
                <a:cs typeface="Cambria Bold"/>
                <a:sym typeface="Cambria Bold"/>
              </a:rPr>
              <a:t>Mapa tecnológico</a:t>
            </a:r>
          </a:p>
        </p:txBody>
      </p:sp>
      <p:sp>
        <p:nvSpPr>
          <p:cNvPr name="TextBox 78" id="78"/>
          <p:cNvSpPr txBox="true"/>
          <p:nvPr/>
        </p:nvSpPr>
        <p:spPr>
          <a:xfrm rot="0">
            <a:off x="455824" y="2843525"/>
            <a:ext cx="8173826" cy="1506309"/>
          </a:xfrm>
          <a:prstGeom prst="rect">
            <a:avLst/>
          </a:prstGeom>
        </p:spPr>
        <p:txBody>
          <a:bodyPr anchor="t" rtlCol="false" tIns="0" lIns="0" bIns="0" rIns="0">
            <a:spAutoFit/>
          </a:bodyPr>
          <a:lstStyle/>
          <a:p>
            <a:pPr algn="just">
              <a:lnSpc>
                <a:spcPts val="2994"/>
              </a:lnSpc>
            </a:pPr>
            <a:r>
              <a:rPr lang="en-US" sz="2879">
                <a:solidFill>
                  <a:srgbClr val="493323"/>
                </a:solidFill>
                <a:latin typeface="Cambria"/>
                <a:ea typeface="Cambria"/>
                <a:cs typeface="Cambria"/>
                <a:sym typeface="Cambria"/>
              </a:rPr>
              <a:t>Monolito modular: una arquitectura simple de mantener durante el MVP, que evita la complejidad de microservicios sin perder separación de responsabilidades.</a:t>
            </a:r>
          </a:p>
        </p:txBody>
      </p:sp>
      <p:sp>
        <p:nvSpPr>
          <p:cNvPr name="Freeform 79" id="79"/>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11"/>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5353007" y="1028700"/>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210376" y="3600450"/>
            <a:ext cx="4719341" cy="5657850"/>
            <a:chOff x="0" y="0"/>
            <a:chExt cx="1242954" cy="1490133"/>
          </a:xfrm>
        </p:grpSpPr>
        <p:sp>
          <p:nvSpPr>
            <p:cNvPr name="Freeform 11" id="11"/>
            <p:cNvSpPr/>
            <p:nvPr/>
          </p:nvSpPr>
          <p:spPr>
            <a:xfrm flipH="false" flipV="false" rot="0">
              <a:off x="0" y="0"/>
              <a:ext cx="1242954" cy="1490133"/>
            </a:xfrm>
            <a:custGeom>
              <a:avLst/>
              <a:gdLst/>
              <a:ahLst/>
              <a:cxnLst/>
              <a:rect r="r" b="b" t="t" l="l"/>
              <a:pathLst>
                <a:path h="1490133" w="1242954">
                  <a:moveTo>
                    <a:pt x="0" y="0"/>
                  </a:moveTo>
                  <a:lnTo>
                    <a:pt x="1242954" y="0"/>
                  </a:lnTo>
                  <a:lnTo>
                    <a:pt x="1242954" y="1490133"/>
                  </a:lnTo>
                  <a:lnTo>
                    <a:pt x="0" y="1490133"/>
                  </a:lnTo>
                  <a:close/>
                </a:path>
              </a:pathLst>
            </a:custGeom>
            <a:solidFill>
              <a:srgbClr val="FDFEFD"/>
            </a:solidFill>
            <a:ln w="38100" cap="sq">
              <a:solidFill>
                <a:srgbClr val="A0611E"/>
              </a:solidFill>
              <a:prstDash val="solid"/>
              <a:miter/>
            </a:ln>
          </p:spPr>
        </p:sp>
        <p:sp>
          <p:nvSpPr>
            <p:cNvPr name="TextBox 12" id="12"/>
            <p:cNvSpPr txBox="true"/>
            <p:nvPr/>
          </p:nvSpPr>
          <p:spPr>
            <a:xfrm>
              <a:off x="0" y="-47625"/>
              <a:ext cx="1242954" cy="1537758"/>
            </a:xfrm>
            <a:prstGeom prst="rect">
              <a:avLst/>
            </a:prstGeom>
          </p:spPr>
          <p:txBody>
            <a:bodyPr anchor="ctr" rtlCol="false" tIns="50800" lIns="50800" bIns="50800" rIns="50800"/>
            <a:lstStyle/>
            <a:p>
              <a:pPr algn="ctr">
                <a:lnSpc>
                  <a:spcPts val="3080"/>
                </a:lnSpc>
              </a:pPr>
            </a:p>
          </p:txBody>
        </p:sp>
      </p:grpSp>
      <p:grpSp>
        <p:nvGrpSpPr>
          <p:cNvPr name="Group 13" id="13"/>
          <p:cNvGrpSpPr/>
          <p:nvPr/>
        </p:nvGrpSpPr>
        <p:grpSpPr>
          <a:xfrm rot="0">
            <a:off x="6851959" y="3602097"/>
            <a:ext cx="4903661" cy="5657850"/>
            <a:chOff x="0" y="0"/>
            <a:chExt cx="1291499" cy="1490133"/>
          </a:xfrm>
        </p:grpSpPr>
        <p:sp>
          <p:nvSpPr>
            <p:cNvPr name="Freeform 14" id="14"/>
            <p:cNvSpPr/>
            <p:nvPr/>
          </p:nvSpPr>
          <p:spPr>
            <a:xfrm flipH="false" flipV="false" rot="0">
              <a:off x="0" y="0"/>
              <a:ext cx="1291499" cy="1490133"/>
            </a:xfrm>
            <a:custGeom>
              <a:avLst/>
              <a:gdLst/>
              <a:ahLst/>
              <a:cxnLst/>
              <a:rect r="r" b="b" t="t" l="l"/>
              <a:pathLst>
                <a:path h="1490133" w="1291499">
                  <a:moveTo>
                    <a:pt x="0" y="0"/>
                  </a:moveTo>
                  <a:lnTo>
                    <a:pt x="1291499" y="0"/>
                  </a:lnTo>
                  <a:lnTo>
                    <a:pt x="1291499" y="1490133"/>
                  </a:lnTo>
                  <a:lnTo>
                    <a:pt x="0" y="1490133"/>
                  </a:lnTo>
                  <a:close/>
                </a:path>
              </a:pathLst>
            </a:custGeom>
            <a:solidFill>
              <a:srgbClr val="FDFEFD"/>
            </a:solidFill>
            <a:ln w="38100" cap="sq">
              <a:solidFill>
                <a:srgbClr val="A0611E"/>
              </a:solidFill>
              <a:prstDash val="solid"/>
              <a:miter/>
            </a:ln>
          </p:spPr>
        </p:sp>
        <p:sp>
          <p:nvSpPr>
            <p:cNvPr name="TextBox 15" id="15"/>
            <p:cNvSpPr txBox="true"/>
            <p:nvPr/>
          </p:nvSpPr>
          <p:spPr>
            <a:xfrm>
              <a:off x="0" y="-47625"/>
              <a:ext cx="1291499" cy="1537758"/>
            </a:xfrm>
            <a:prstGeom prst="rect">
              <a:avLst/>
            </a:prstGeom>
          </p:spPr>
          <p:txBody>
            <a:bodyPr anchor="ctr" rtlCol="false" tIns="50800" lIns="50800" bIns="50800" rIns="50800"/>
            <a:lstStyle/>
            <a:p>
              <a:pPr algn="ctr">
                <a:lnSpc>
                  <a:spcPts val="3080"/>
                </a:lnSpc>
              </a:pPr>
            </a:p>
          </p:txBody>
        </p:sp>
      </p:grpSp>
      <p:grpSp>
        <p:nvGrpSpPr>
          <p:cNvPr name="Group 16" id="16"/>
          <p:cNvGrpSpPr/>
          <p:nvPr/>
        </p:nvGrpSpPr>
        <p:grpSpPr>
          <a:xfrm rot="0">
            <a:off x="12852678" y="3602097"/>
            <a:ext cx="4981902" cy="5657850"/>
            <a:chOff x="0" y="0"/>
            <a:chExt cx="1312106" cy="1490133"/>
          </a:xfrm>
        </p:grpSpPr>
        <p:sp>
          <p:nvSpPr>
            <p:cNvPr name="Freeform 17" id="17"/>
            <p:cNvSpPr/>
            <p:nvPr/>
          </p:nvSpPr>
          <p:spPr>
            <a:xfrm flipH="false" flipV="false" rot="0">
              <a:off x="0" y="0"/>
              <a:ext cx="1312106" cy="1490133"/>
            </a:xfrm>
            <a:custGeom>
              <a:avLst/>
              <a:gdLst/>
              <a:ahLst/>
              <a:cxnLst/>
              <a:rect r="r" b="b" t="t" l="l"/>
              <a:pathLst>
                <a:path h="1490133" w="1312106">
                  <a:moveTo>
                    <a:pt x="0" y="0"/>
                  </a:moveTo>
                  <a:lnTo>
                    <a:pt x="1312106" y="0"/>
                  </a:lnTo>
                  <a:lnTo>
                    <a:pt x="1312106" y="1490133"/>
                  </a:lnTo>
                  <a:lnTo>
                    <a:pt x="0" y="1490133"/>
                  </a:lnTo>
                  <a:close/>
                </a:path>
              </a:pathLst>
            </a:custGeom>
            <a:solidFill>
              <a:srgbClr val="FDFEFD"/>
            </a:solidFill>
            <a:ln w="38100" cap="sq">
              <a:solidFill>
                <a:srgbClr val="A0611E"/>
              </a:solidFill>
              <a:prstDash val="solid"/>
              <a:miter/>
            </a:ln>
          </p:spPr>
        </p:sp>
        <p:sp>
          <p:nvSpPr>
            <p:cNvPr name="TextBox 18" id="18"/>
            <p:cNvSpPr txBox="true"/>
            <p:nvPr/>
          </p:nvSpPr>
          <p:spPr>
            <a:xfrm>
              <a:off x="0" y="-47625"/>
              <a:ext cx="1312106" cy="1537758"/>
            </a:xfrm>
            <a:prstGeom prst="rect">
              <a:avLst/>
            </a:prstGeom>
          </p:spPr>
          <p:txBody>
            <a:bodyPr anchor="ctr" rtlCol="false" tIns="50800" lIns="50800" bIns="50800" rIns="50800"/>
            <a:lstStyle/>
            <a:p>
              <a:pPr algn="ctr">
                <a:lnSpc>
                  <a:spcPts val="3080"/>
                </a:lnSpc>
              </a:pPr>
            </a:p>
          </p:txBody>
        </p:sp>
      </p:grpSp>
      <p:sp>
        <p:nvSpPr>
          <p:cNvPr name="Freeform 19" id="19"/>
          <p:cNvSpPr/>
          <p:nvPr/>
        </p:nvSpPr>
        <p:spPr>
          <a:xfrm flipH="false" flipV="false" rot="0">
            <a:off x="2878272" y="4096265"/>
            <a:ext cx="1383549" cy="1383549"/>
          </a:xfrm>
          <a:custGeom>
            <a:avLst/>
            <a:gdLst/>
            <a:ahLst/>
            <a:cxnLst/>
            <a:rect r="r" b="b" t="t" l="l"/>
            <a:pathLst>
              <a:path h="1383549" w="1383549">
                <a:moveTo>
                  <a:pt x="0" y="0"/>
                </a:moveTo>
                <a:lnTo>
                  <a:pt x="1383549" y="0"/>
                </a:lnTo>
                <a:lnTo>
                  <a:pt x="1383549" y="1383549"/>
                </a:lnTo>
                <a:lnTo>
                  <a:pt x="0" y="13835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0" id="20"/>
          <p:cNvGrpSpPr/>
          <p:nvPr/>
        </p:nvGrpSpPr>
        <p:grpSpPr>
          <a:xfrm rot="0">
            <a:off x="8632979" y="3980614"/>
            <a:ext cx="1383549" cy="138354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F64"/>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23" id="23"/>
          <p:cNvSpPr/>
          <p:nvPr/>
        </p:nvSpPr>
        <p:spPr>
          <a:xfrm flipH="false" flipV="false" rot="0">
            <a:off x="8949584" y="4193515"/>
            <a:ext cx="761409" cy="957747"/>
          </a:xfrm>
          <a:custGeom>
            <a:avLst/>
            <a:gdLst/>
            <a:ahLst/>
            <a:cxnLst/>
            <a:rect r="r" b="b" t="t" l="l"/>
            <a:pathLst>
              <a:path h="957747" w="761409">
                <a:moveTo>
                  <a:pt x="0" y="0"/>
                </a:moveTo>
                <a:lnTo>
                  <a:pt x="761409" y="0"/>
                </a:lnTo>
                <a:lnTo>
                  <a:pt x="761409" y="957747"/>
                </a:lnTo>
                <a:lnTo>
                  <a:pt x="0" y="9577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4" id="24"/>
          <p:cNvGrpSpPr/>
          <p:nvPr/>
        </p:nvGrpSpPr>
        <p:grpSpPr>
          <a:xfrm rot="0">
            <a:off x="14775045" y="3980614"/>
            <a:ext cx="1383549" cy="138354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1F2E"/>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3500"/>
                </a:lnSpc>
              </a:pPr>
            </a:p>
          </p:txBody>
        </p:sp>
      </p:grpSp>
      <p:sp>
        <p:nvSpPr>
          <p:cNvPr name="Freeform 27" id="27"/>
          <p:cNvSpPr/>
          <p:nvPr/>
        </p:nvSpPr>
        <p:spPr>
          <a:xfrm flipH="false" flipV="false" rot="0">
            <a:off x="15044394" y="4144356"/>
            <a:ext cx="844851" cy="1056064"/>
          </a:xfrm>
          <a:custGeom>
            <a:avLst/>
            <a:gdLst/>
            <a:ahLst/>
            <a:cxnLst/>
            <a:rect r="r" b="b" t="t" l="l"/>
            <a:pathLst>
              <a:path h="1056064" w="844851">
                <a:moveTo>
                  <a:pt x="0" y="0"/>
                </a:moveTo>
                <a:lnTo>
                  <a:pt x="844851" y="0"/>
                </a:lnTo>
                <a:lnTo>
                  <a:pt x="844851" y="1056064"/>
                </a:lnTo>
                <a:lnTo>
                  <a:pt x="0" y="10560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8" id="28"/>
          <p:cNvSpPr txBox="true"/>
          <p:nvPr/>
        </p:nvSpPr>
        <p:spPr>
          <a:xfrm rot="0">
            <a:off x="6321368" y="776199"/>
            <a:ext cx="7776865"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Factibilidad del proyecto</a:t>
            </a:r>
          </a:p>
        </p:txBody>
      </p:sp>
      <p:sp>
        <p:nvSpPr>
          <p:cNvPr name="TextBox 29" id="29"/>
          <p:cNvSpPr txBox="true"/>
          <p:nvPr/>
        </p:nvSpPr>
        <p:spPr>
          <a:xfrm rot="0">
            <a:off x="2981282" y="5583238"/>
            <a:ext cx="1177528" cy="431800"/>
          </a:xfrm>
          <a:prstGeom prst="rect">
            <a:avLst/>
          </a:prstGeom>
        </p:spPr>
        <p:txBody>
          <a:bodyPr anchor="t" rtlCol="false" tIns="0" lIns="0" bIns="0" rIns="0">
            <a:spAutoFit/>
          </a:bodyPr>
          <a:lstStyle/>
          <a:p>
            <a:pPr algn="ctr">
              <a:lnSpc>
                <a:spcPts val="3500"/>
              </a:lnSpc>
            </a:pPr>
            <a:r>
              <a:rPr lang="en-US" b="true" sz="2500">
                <a:solidFill>
                  <a:srgbClr val="BB913C"/>
                </a:solidFill>
                <a:latin typeface="Open Sans 1 Bold"/>
                <a:ea typeface="Open Sans 1 Bold"/>
                <a:cs typeface="Open Sans 1 Bold"/>
                <a:sym typeface="Open Sans 1 Bold"/>
              </a:rPr>
              <a:t>Tiempo</a:t>
            </a:r>
          </a:p>
        </p:txBody>
      </p:sp>
      <p:sp>
        <p:nvSpPr>
          <p:cNvPr name="TextBox 30" id="30"/>
          <p:cNvSpPr txBox="true"/>
          <p:nvPr/>
        </p:nvSpPr>
        <p:spPr>
          <a:xfrm rot="0">
            <a:off x="1457319" y="6238875"/>
            <a:ext cx="4225454" cy="1350645"/>
          </a:xfrm>
          <a:prstGeom prst="rect">
            <a:avLst/>
          </a:prstGeom>
        </p:spPr>
        <p:txBody>
          <a:bodyPr anchor="t" rtlCol="false" tIns="0" lIns="0" bIns="0" rIns="0">
            <a:spAutoFit/>
          </a:bodyPr>
          <a:lstStyle/>
          <a:p>
            <a:pPr algn="just">
              <a:lnSpc>
                <a:spcPts val="2700"/>
              </a:lnSpc>
            </a:pPr>
            <a:r>
              <a:rPr lang="en-US" sz="1800" i="true">
                <a:solidFill>
                  <a:srgbClr val="000000"/>
                </a:solidFill>
                <a:latin typeface="Open Sans 2 Italics"/>
                <a:ea typeface="Open Sans 2 Italics"/>
                <a:cs typeface="Open Sans 2 Italics"/>
                <a:sym typeface="Open Sans 2 Italics"/>
              </a:rPr>
              <a:t>MVP desarrollado en aprox. 3 meses (18 semanas), organizado en las 3 fases del Portafolio de Título.</a:t>
            </a:r>
          </a:p>
          <a:p>
            <a:pPr algn="just">
              <a:lnSpc>
                <a:spcPts val="2700"/>
              </a:lnSpc>
            </a:pPr>
          </a:p>
        </p:txBody>
      </p:sp>
      <p:sp>
        <p:nvSpPr>
          <p:cNvPr name="TextBox 31" id="31"/>
          <p:cNvSpPr txBox="true"/>
          <p:nvPr/>
        </p:nvSpPr>
        <p:spPr>
          <a:xfrm rot="0">
            <a:off x="8591052" y="5583238"/>
            <a:ext cx="1425476" cy="431800"/>
          </a:xfrm>
          <a:prstGeom prst="rect">
            <a:avLst/>
          </a:prstGeom>
        </p:spPr>
        <p:txBody>
          <a:bodyPr anchor="t" rtlCol="false" tIns="0" lIns="0" bIns="0" rIns="0">
            <a:spAutoFit/>
          </a:bodyPr>
          <a:lstStyle/>
          <a:p>
            <a:pPr algn="ctr">
              <a:lnSpc>
                <a:spcPts val="3500"/>
              </a:lnSpc>
            </a:pPr>
            <a:r>
              <a:rPr lang="en-US" b="true" sz="2500">
                <a:solidFill>
                  <a:srgbClr val="5C1F2E"/>
                </a:solidFill>
                <a:latin typeface="Open Sans 1 Bold"/>
                <a:ea typeface="Open Sans 1 Bold"/>
                <a:cs typeface="Open Sans 1 Bold"/>
                <a:sym typeface="Open Sans 1 Bold"/>
              </a:rPr>
              <a:t>Recursos</a:t>
            </a:r>
          </a:p>
        </p:txBody>
      </p:sp>
      <p:sp>
        <p:nvSpPr>
          <p:cNvPr name="TextBox 32" id="32"/>
          <p:cNvSpPr txBox="true"/>
          <p:nvPr/>
        </p:nvSpPr>
        <p:spPr>
          <a:xfrm rot="0">
            <a:off x="7187428" y="6238875"/>
            <a:ext cx="4274650" cy="1693545"/>
          </a:xfrm>
          <a:prstGeom prst="rect">
            <a:avLst/>
          </a:prstGeom>
        </p:spPr>
        <p:txBody>
          <a:bodyPr anchor="t" rtlCol="false" tIns="0" lIns="0" bIns="0" rIns="0">
            <a:spAutoFit/>
          </a:bodyPr>
          <a:lstStyle/>
          <a:p>
            <a:pPr algn="just">
              <a:lnSpc>
                <a:spcPts val="2700"/>
              </a:lnSpc>
            </a:pPr>
            <a:r>
              <a:rPr lang="en-US" sz="1800" i="true">
                <a:solidFill>
                  <a:srgbClr val="000000"/>
                </a:solidFill>
                <a:latin typeface="Open Sans 2 Italics"/>
                <a:ea typeface="Open Sans 2 Italics"/>
                <a:cs typeface="Open Sans 2 Italics"/>
                <a:sym typeface="Open Sans 2 Italics"/>
              </a:rPr>
              <a:t>Equipo de 3 integrantes y un stack tecnológico accesible: React, Python, FastAPI, PostgreSQL, Git/GitHub</a:t>
            </a:r>
          </a:p>
          <a:p>
            <a:pPr algn="just">
              <a:lnSpc>
                <a:spcPts val="2700"/>
              </a:lnSpc>
            </a:pPr>
            <a:r>
              <a:rPr lang="en-US" sz="1800" i="true">
                <a:solidFill>
                  <a:srgbClr val="000000"/>
                </a:solidFill>
                <a:latin typeface="Open Sans 2 Italics"/>
                <a:ea typeface="Open Sans 2 Italics"/>
                <a:cs typeface="Open Sans 2 Italics"/>
                <a:sym typeface="Open Sans 2 Italics"/>
              </a:rPr>
              <a:t> y Docker.</a:t>
            </a:r>
          </a:p>
          <a:p>
            <a:pPr algn="just">
              <a:lnSpc>
                <a:spcPts val="2700"/>
              </a:lnSpc>
            </a:pPr>
          </a:p>
        </p:txBody>
      </p:sp>
      <p:sp>
        <p:nvSpPr>
          <p:cNvPr name="TextBox 33" id="33"/>
          <p:cNvSpPr txBox="true"/>
          <p:nvPr/>
        </p:nvSpPr>
        <p:spPr>
          <a:xfrm rot="0">
            <a:off x="13545413" y="5583238"/>
            <a:ext cx="3596432" cy="431800"/>
          </a:xfrm>
          <a:prstGeom prst="rect">
            <a:avLst/>
          </a:prstGeom>
        </p:spPr>
        <p:txBody>
          <a:bodyPr anchor="t" rtlCol="false" tIns="0" lIns="0" bIns="0" rIns="0">
            <a:spAutoFit/>
          </a:bodyPr>
          <a:lstStyle/>
          <a:p>
            <a:pPr algn="ctr">
              <a:lnSpc>
                <a:spcPts val="3500"/>
              </a:lnSpc>
            </a:pPr>
            <a:r>
              <a:rPr lang="en-US" b="true" sz="2500">
                <a:solidFill>
                  <a:srgbClr val="BB913C"/>
                </a:solidFill>
                <a:latin typeface="Open Sans 1 Bold"/>
                <a:ea typeface="Open Sans 1 Bold"/>
                <a:cs typeface="Open Sans 1 Bold"/>
                <a:sym typeface="Open Sans 1 Bold"/>
              </a:rPr>
              <a:t>Manejo de dificultades</a:t>
            </a:r>
          </a:p>
        </p:txBody>
      </p:sp>
      <p:sp>
        <p:nvSpPr>
          <p:cNvPr name="TextBox 34" id="34"/>
          <p:cNvSpPr txBox="true"/>
          <p:nvPr/>
        </p:nvSpPr>
        <p:spPr>
          <a:xfrm rot="0">
            <a:off x="13170381" y="6238875"/>
            <a:ext cx="4346496" cy="2379345"/>
          </a:xfrm>
          <a:prstGeom prst="rect">
            <a:avLst/>
          </a:prstGeom>
        </p:spPr>
        <p:txBody>
          <a:bodyPr anchor="t" rtlCol="false" tIns="0" lIns="0" bIns="0" rIns="0">
            <a:spAutoFit/>
          </a:bodyPr>
          <a:lstStyle/>
          <a:p>
            <a:pPr algn="just">
              <a:lnSpc>
                <a:spcPts val="2700"/>
              </a:lnSpc>
            </a:pPr>
            <a:r>
              <a:rPr lang="en-US" sz="1800" i="true">
                <a:solidFill>
                  <a:srgbClr val="000000"/>
                </a:solidFill>
                <a:latin typeface="Open Sans 2 Italics"/>
                <a:ea typeface="Open Sans 2 Italics"/>
                <a:cs typeface="Open Sans 2 Italics"/>
                <a:sym typeface="Open Sans 2 Italics"/>
              </a:rPr>
              <a:t>Backlog acotado al MVP, datos claramente identificados  y simulados cuando el volumen real es insuficiente, e integraciones externas desacopladas para facilitar su reemplazo.</a:t>
            </a:r>
          </a:p>
          <a:p>
            <a:pPr algn="just">
              <a:lnSpc>
                <a:spcPts val="2700"/>
              </a:lnSpc>
            </a:pPr>
          </a:p>
          <a:p>
            <a:pPr algn="just">
              <a:lnSpc>
                <a:spcPts val="2700"/>
              </a:lnSpc>
            </a:pPr>
          </a:p>
        </p:txBody>
      </p:sp>
      <p:sp>
        <p:nvSpPr>
          <p:cNvPr name="Freeform 35" id="35"/>
          <p:cNvSpPr/>
          <p:nvPr/>
        </p:nvSpPr>
        <p:spPr>
          <a:xfrm flipH="false" flipV="false" rot="0">
            <a:off x="5153743" y="3602097"/>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6" id="36"/>
          <p:cNvSpPr/>
          <p:nvPr/>
        </p:nvSpPr>
        <p:spPr>
          <a:xfrm flipH="false" flipV="false" rot="0">
            <a:off x="17094946" y="3611622"/>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7" id="37"/>
          <p:cNvSpPr/>
          <p:nvPr/>
        </p:nvSpPr>
        <p:spPr>
          <a:xfrm flipH="false" flipV="false" rot="0">
            <a:off x="10911878" y="3592572"/>
            <a:ext cx="463409" cy="858165"/>
          </a:xfrm>
          <a:custGeom>
            <a:avLst/>
            <a:gdLst/>
            <a:ahLst/>
            <a:cxnLst/>
            <a:rect r="r" b="b" t="t" l="l"/>
            <a:pathLst>
              <a:path h="858165" w="463409">
                <a:moveTo>
                  <a:pt x="0" y="0"/>
                </a:moveTo>
                <a:lnTo>
                  <a:pt x="463409" y="0"/>
                </a:lnTo>
                <a:lnTo>
                  <a:pt x="463409" y="858165"/>
                </a:lnTo>
                <a:lnTo>
                  <a:pt x="0" y="8581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872569"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aphicFrame>
        <p:nvGraphicFramePr>
          <p:cNvPr name="Object 10" id="10"/>
          <p:cNvGraphicFramePr/>
          <p:nvPr/>
        </p:nvGraphicFramePr>
        <p:xfrm>
          <a:off x="711645" y="2343498"/>
          <a:ext cx="7586157" cy="4274588"/>
        </p:xfrm>
        <a:graphic>
          <a:graphicData uri="http://schemas.openxmlformats.org/presentationml/2006/ole">
            <p:oleObj imgW="9105900" imgH="5791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11" id="11"/>
          <p:cNvSpPr txBox="true"/>
          <p:nvPr/>
        </p:nvSpPr>
        <p:spPr>
          <a:xfrm rot="0">
            <a:off x="7863408" y="776199"/>
            <a:ext cx="2561183"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Riesgos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872569" y="1002829"/>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022546" y="2191883"/>
            <a:ext cx="15990022" cy="7253244"/>
          </a:xfrm>
          <a:custGeom>
            <a:avLst/>
            <a:gdLst/>
            <a:ahLst/>
            <a:cxnLst/>
            <a:rect r="r" b="b" t="t" l="l"/>
            <a:pathLst>
              <a:path h="7253244" w="15990022">
                <a:moveTo>
                  <a:pt x="0" y="0"/>
                </a:moveTo>
                <a:lnTo>
                  <a:pt x="15990022" y="0"/>
                </a:lnTo>
                <a:lnTo>
                  <a:pt x="15990022" y="7253244"/>
                </a:lnTo>
                <a:lnTo>
                  <a:pt x="0" y="7253244"/>
                </a:lnTo>
                <a:lnTo>
                  <a:pt x="0" y="0"/>
                </a:lnTo>
                <a:close/>
              </a:path>
            </a:pathLst>
          </a:custGeom>
          <a:blipFill>
            <a:blip r:embed="rId7"/>
            <a:stretch>
              <a:fillRect l="-1332" t="-23749" r="-2554" b="-4073"/>
            </a:stretch>
          </a:blipFill>
          <a:ln cap="sq">
            <a:noFill/>
            <a:prstDash val="solid"/>
            <a:miter/>
          </a:ln>
        </p:spPr>
      </p:sp>
      <p:sp>
        <p:nvSpPr>
          <p:cNvPr name="TextBox 11" id="11"/>
          <p:cNvSpPr txBox="true"/>
          <p:nvPr/>
        </p:nvSpPr>
        <p:spPr>
          <a:xfrm rot="0">
            <a:off x="7634440" y="776199"/>
            <a:ext cx="3205311"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Seguridad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5770935" y="940765"/>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8142208" y="4435219"/>
            <a:ext cx="9776120" cy="4236625"/>
          </a:xfrm>
          <a:custGeom>
            <a:avLst/>
            <a:gdLst/>
            <a:ahLst/>
            <a:cxnLst/>
            <a:rect r="r" b="b" t="t" l="l"/>
            <a:pathLst>
              <a:path h="4236625" w="9776120">
                <a:moveTo>
                  <a:pt x="0" y="0"/>
                </a:moveTo>
                <a:lnTo>
                  <a:pt x="9776120" y="0"/>
                </a:lnTo>
                <a:lnTo>
                  <a:pt x="9776120" y="4236625"/>
                </a:lnTo>
                <a:lnTo>
                  <a:pt x="0" y="4236625"/>
                </a:lnTo>
                <a:lnTo>
                  <a:pt x="0" y="0"/>
                </a:lnTo>
                <a:close/>
              </a:path>
            </a:pathLst>
          </a:custGeom>
          <a:blipFill>
            <a:blip r:embed="rId7"/>
            <a:stretch>
              <a:fillRect l="-7647" t="-28990" r="-7510" b="-20482"/>
            </a:stretch>
          </a:blipFill>
        </p:spPr>
      </p:sp>
      <p:grpSp>
        <p:nvGrpSpPr>
          <p:cNvPr name="Group 11" id="11"/>
          <p:cNvGrpSpPr/>
          <p:nvPr/>
        </p:nvGrpSpPr>
        <p:grpSpPr>
          <a:xfrm rot="0">
            <a:off x="835985" y="3523214"/>
            <a:ext cx="6716838" cy="1410031"/>
            <a:chOff x="0" y="0"/>
            <a:chExt cx="1769044" cy="371366"/>
          </a:xfrm>
        </p:grpSpPr>
        <p:sp>
          <p:nvSpPr>
            <p:cNvPr name="Freeform 12" id="12"/>
            <p:cNvSpPr/>
            <p:nvPr/>
          </p:nvSpPr>
          <p:spPr>
            <a:xfrm flipH="false" flipV="false" rot="0">
              <a:off x="0" y="0"/>
              <a:ext cx="1769044" cy="371366"/>
            </a:xfrm>
            <a:custGeom>
              <a:avLst/>
              <a:gdLst/>
              <a:ahLst/>
              <a:cxnLst/>
              <a:rect r="r" b="b" t="t" l="l"/>
              <a:pathLst>
                <a:path h="371366" w="1769044">
                  <a:moveTo>
                    <a:pt x="27663" y="0"/>
                  </a:moveTo>
                  <a:lnTo>
                    <a:pt x="1741381" y="0"/>
                  </a:lnTo>
                  <a:cubicBezTo>
                    <a:pt x="1748718" y="0"/>
                    <a:pt x="1755754" y="2914"/>
                    <a:pt x="1760942" y="8102"/>
                  </a:cubicBezTo>
                  <a:cubicBezTo>
                    <a:pt x="1766129" y="13290"/>
                    <a:pt x="1769044" y="20326"/>
                    <a:pt x="1769044" y="27663"/>
                  </a:cubicBezTo>
                  <a:lnTo>
                    <a:pt x="1769044" y="343704"/>
                  </a:lnTo>
                  <a:cubicBezTo>
                    <a:pt x="1769044" y="351040"/>
                    <a:pt x="1766129" y="358076"/>
                    <a:pt x="1760942" y="363264"/>
                  </a:cubicBezTo>
                  <a:cubicBezTo>
                    <a:pt x="1755754" y="368452"/>
                    <a:pt x="1748718" y="371366"/>
                    <a:pt x="1741381" y="371366"/>
                  </a:cubicBezTo>
                  <a:lnTo>
                    <a:pt x="27663" y="371366"/>
                  </a:lnTo>
                  <a:cubicBezTo>
                    <a:pt x="20326" y="371366"/>
                    <a:pt x="13290" y="368452"/>
                    <a:pt x="8102" y="363264"/>
                  </a:cubicBezTo>
                  <a:cubicBezTo>
                    <a:pt x="2914" y="358076"/>
                    <a:pt x="0" y="351040"/>
                    <a:pt x="0" y="343704"/>
                  </a:cubicBezTo>
                  <a:lnTo>
                    <a:pt x="0" y="27663"/>
                  </a:lnTo>
                  <a:cubicBezTo>
                    <a:pt x="0" y="20326"/>
                    <a:pt x="2914" y="13290"/>
                    <a:pt x="8102" y="8102"/>
                  </a:cubicBezTo>
                  <a:cubicBezTo>
                    <a:pt x="13290" y="2914"/>
                    <a:pt x="20326" y="0"/>
                    <a:pt x="27663" y="0"/>
                  </a:cubicBezTo>
                  <a:close/>
                </a:path>
              </a:pathLst>
            </a:custGeom>
            <a:solidFill>
              <a:srgbClr val="5C1F2E"/>
            </a:solidFill>
          </p:spPr>
        </p:sp>
        <p:sp>
          <p:nvSpPr>
            <p:cNvPr name="TextBox 13" id="13"/>
            <p:cNvSpPr txBox="true"/>
            <p:nvPr/>
          </p:nvSpPr>
          <p:spPr>
            <a:xfrm>
              <a:off x="0" y="-28575"/>
              <a:ext cx="1769044" cy="399941"/>
            </a:xfrm>
            <a:prstGeom prst="rect">
              <a:avLst/>
            </a:prstGeom>
          </p:spPr>
          <p:txBody>
            <a:bodyPr anchor="ctr" rtlCol="false" tIns="50800" lIns="50800" bIns="50800" rIns="50800"/>
            <a:lstStyle/>
            <a:p>
              <a:pPr algn="just">
                <a:lnSpc>
                  <a:spcPts val="2240"/>
                </a:lnSpc>
              </a:pPr>
            </a:p>
          </p:txBody>
        </p:sp>
      </p:grpSp>
      <p:sp>
        <p:nvSpPr>
          <p:cNvPr name="TextBox 14" id="14"/>
          <p:cNvSpPr txBox="true"/>
          <p:nvPr/>
        </p:nvSpPr>
        <p:spPr>
          <a:xfrm rot="0">
            <a:off x="6610292" y="714135"/>
            <a:ext cx="5874246"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Modelo de negocio</a:t>
            </a:r>
          </a:p>
        </p:txBody>
      </p:sp>
      <p:sp>
        <p:nvSpPr>
          <p:cNvPr name="TextBox 15" id="15"/>
          <p:cNvSpPr txBox="true"/>
          <p:nvPr/>
        </p:nvSpPr>
        <p:spPr>
          <a:xfrm rot="0">
            <a:off x="1087812" y="2094083"/>
            <a:ext cx="16484954" cy="1003189"/>
          </a:xfrm>
          <a:prstGeom prst="rect">
            <a:avLst/>
          </a:prstGeom>
        </p:spPr>
        <p:txBody>
          <a:bodyPr anchor="t" rtlCol="false" tIns="0" lIns="0" bIns="0" rIns="0">
            <a:spAutoFit/>
          </a:bodyPr>
          <a:lstStyle/>
          <a:p>
            <a:pPr algn="just">
              <a:lnSpc>
                <a:spcPts val="4031"/>
              </a:lnSpc>
            </a:pPr>
            <a:r>
              <a:rPr lang="en-US" sz="2879">
                <a:solidFill>
                  <a:srgbClr val="493323"/>
                </a:solidFill>
                <a:latin typeface="Cambria"/>
                <a:ea typeface="Cambria"/>
                <a:cs typeface="Cambria"/>
                <a:sym typeface="Cambria"/>
              </a:rPr>
              <a:t>El MVP es un proyecto de título de c</a:t>
            </a:r>
            <a:r>
              <a:rPr lang="en-US" sz="2879">
                <a:solidFill>
                  <a:srgbClr val="493323"/>
                </a:solidFill>
                <a:latin typeface="Cambria"/>
                <a:ea typeface="Cambria"/>
                <a:cs typeface="Cambria"/>
                <a:sym typeface="Cambria"/>
              </a:rPr>
              <a:t>aráct</a:t>
            </a:r>
            <a:r>
              <a:rPr lang="en-US" sz="2879">
                <a:solidFill>
                  <a:srgbClr val="493323"/>
                </a:solidFill>
                <a:latin typeface="Cambria"/>
                <a:ea typeface="Cambria"/>
                <a:cs typeface="Cambria"/>
                <a:sym typeface="Cambria"/>
              </a:rPr>
              <a:t>er académico, sin fines comerciales inmediatos. A futuro, </a:t>
            </a:r>
            <a:r>
              <a:rPr lang="en-US" sz="2879" b="true">
                <a:solidFill>
                  <a:srgbClr val="493323"/>
                </a:solidFill>
                <a:latin typeface="Cambria Bold"/>
                <a:ea typeface="Cambria Bold"/>
                <a:cs typeface="Cambria Bold"/>
                <a:sym typeface="Cambria Bold"/>
              </a:rPr>
              <a:t>LibrIA</a:t>
            </a:r>
            <a:r>
              <a:rPr lang="en-US" sz="2879">
                <a:solidFill>
                  <a:srgbClr val="493323"/>
                </a:solidFill>
                <a:latin typeface="Cambria"/>
                <a:ea typeface="Cambria"/>
                <a:cs typeface="Cambria"/>
                <a:sym typeface="Cambria"/>
              </a:rPr>
              <a:t> podría evolucionar hacia:</a:t>
            </a:r>
          </a:p>
        </p:txBody>
      </p:sp>
      <p:grpSp>
        <p:nvGrpSpPr>
          <p:cNvPr name="Group 16" id="16"/>
          <p:cNvGrpSpPr/>
          <p:nvPr/>
        </p:nvGrpSpPr>
        <p:grpSpPr>
          <a:xfrm rot="0">
            <a:off x="835985" y="5143500"/>
            <a:ext cx="6716838" cy="1410031"/>
            <a:chOff x="0" y="0"/>
            <a:chExt cx="1769044" cy="371366"/>
          </a:xfrm>
        </p:grpSpPr>
        <p:sp>
          <p:nvSpPr>
            <p:cNvPr name="Freeform 17" id="17"/>
            <p:cNvSpPr/>
            <p:nvPr/>
          </p:nvSpPr>
          <p:spPr>
            <a:xfrm flipH="false" flipV="false" rot="0">
              <a:off x="0" y="0"/>
              <a:ext cx="1769044" cy="371366"/>
            </a:xfrm>
            <a:custGeom>
              <a:avLst/>
              <a:gdLst/>
              <a:ahLst/>
              <a:cxnLst/>
              <a:rect r="r" b="b" t="t" l="l"/>
              <a:pathLst>
                <a:path h="371366" w="1769044">
                  <a:moveTo>
                    <a:pt x="27663" y="0"/>
                  </a:moveTo>
                  <a:lnTo>
                    <a:pt x="1741381" y="0"/>
                  </a:lnTo>
                  <a:cubicBezTo>
                    <a:pt x="1748718" y="0"/>
                    <a:pt x="1755754" y="2914"/>
                    <a:pt x="1760942" y="8102"/>
                  </a:cubicBezTo>
                  <a:cubicBezTo>
                    <a:pt x="1766129" y="13290"/>
                    <a:pt x="1769044" y="20326"/>
                    <a:pt x="1769044" y="27663"/>
                  </a:cubicBezTo>
                  <a:lnTo>
                    <a:pt x="1769044" y="343704"/>
                  </a:lnTo>
                  <a:cubicBezTo>
                    <a:pt x="1769044" y="351040"/>
                    <a:pt x="1766129" y="358076"/>
                    <a:pt x="1760942" y="363264"/>
                  </a:cubicBezTo>
                  <a:cubicBezTo>
                    <a:pt x="1755754" y="368452"/>
                    <a:pt x="1748718" y="371366"/>
                    <a:pt x="1741381" y="371366"/>
                  </a:cubicBezTo>
                  <a:lnTo>
                    <a:pt x="27663" y="371366"/>
                  </a:lnTo>
                  <a:cubicBezTo>
                    <a:pt x="20326" y="371366"/>
                    <a:pt x="13290" y="368452"/>
                    <a:pt x="8102" y="363264"/>
                  </a:cubicBezTo>
                  <a:cubicBezTo>
                    <a:pt x="2914" y="358076"/>
                    <a:pt x="0" y="351040"/>
                    <a:pt x="0" y="343704"/>
                  </a:cubicBezTo>
                  <a:lnTo>
                    <a:pt x="0" y="27663"/>
                  </a:lnTo>
                  <a:cubicBezTo>
                    <a:pt x="0" y="20326"/>
                    <a:pt x="2914" y="13290"/>
                    <a:pt x="8102" y="8102"/>
                  </a:cubicBezTo>
                  <a:cubicBezTo>
                    <a:pt x="13290" y="2914"/>
                    <a:pt x="20326" y="0"/>
                    <a:pt x="27663" y="0"/>
                  </a:cubicBezTo>
                  <a:close/>
                </a:path>
              </a:pathLst>
            </a:custGeom>
            <a:solidFill>
              <a:srgbClr val="5C1F2E"/>
            </a:solidFill>
          </p:spPr>
        </p:sp>
        <p:sp>
          <p:nvSpPr>
            <p:cNvPr name="TextBox 18" id="18"/>
            <p:cNvSpPr txBox="true"/>
            <p:nvPr/>
          </p:nvSpPr>
          <p:spPr>
            <a:xfrm>
              <a:off x="0" y="-57150"/>
              <a:ext cx="1769044" cy="428516"/>
            </a:xfrm>
            <a:prstGeom prst="rect">
              <a:avLst/>
            </a:prstGeom>
          </p:spPr>
          <p:txBody>
            <a:bodyPr anchor="ctr" rtlCol="false" tIns="50800" lIns="50800" bIns="50800" rIns="50800"/>
            <a:lstStyle/>
            <a:p>
              <a:pPr algn="ctr">
                <a:lnSpc>
                  <a:spcPts val="3500"/>
                </a:lnSpc>
              </a:pPr>
            </a:p>
          </p:txBody>
        </p:sp>
      </p:grpSp>
      <p:grpSp>
        <p:nvGrpSpPr>
          <p:cNvPr name="Group 19" id="19"/>
          <p:cNvGrpSpPr/>
          <p:nvPr/>
        </p:nvGrpSpPr>
        <p:grpSpPr>
          <a:xfrm rot="0">
            <a:off x="835985" y="6763081"/>
            <a:ext cx="6716838" cy="1410031"/>
            <a:chOff x="0" y="0"/>
            <a:chExt cx="1769044" cy="371366"/>
          </a:xfrm>
        </p:grpSpPr>
        <p:sp>
          <p:nvSpPr>
            <p:cNvPr name="Freeform 20" id="20"/>
            <p:cNvSpPr/>
            <p:nvPr/>
          </p:nvSpPr>
          <p:spPr>
            <a:xfrm flipH="false" flipV="false" rot="0">
              <a:off x="0" y="0"/>
              <a:ext cx="1769044" cy="371366"/>
            </a:xfrm>
            <a:custGeom>
              <a:avLst/>
              <a:gdLst/>
              <a:ahLst/>
              <a:cxnLst/>
              <a:rect r="r" b="b" t="t" l="l"/>
              <a:pathLst>
                <a:path h="371366" w="1769044">
                  <a:moveTo>
                    <a:pt x="27663" y="0"/>
                  </a:moveTo>
                  <a:lnTo>
                    <a:pt x="1741381" y="0"/>
                  </a:lnTo>
                  <a:cubicBezTo>
                    <a:pt x="1748718" y="0"/>
                    <a:pt x="1755754" y="2914"/>
                    <a:pt x="1760942" y="8102"/>
                  </a:cubicBezTo>
                  <a:cubicBezTo>
                    <a:pt x="1766129" y="13290"/>
                    <a:pt x="1769044" y="20326"/>
                    <a:pt x="1769044" y="27663"/>
                  </a:cubicBezTo>
                  <a:lnTo>
                    <a:pt x="1769044" y="343704"/>
                  </a:lnTo>
                  <a:cubicBezTo>
                    <a:pt x="1769044" y="351040"/>
                    <a:pt x="1766129" y="358076"/>
                    <a:pt x="1760942" y="363264"/>
                  </a:cubicBezTo>
                  <a:cubicBezTo>
                    <a:pt x="1755754" y="368452"/>
                    <a:pt x="1748718" y="371366"/>
                    <a:pt x="1741381" y="371366"/>
                  </a:cubicBezTo>
                  <a:lnTo>
                    <a:pt x="27663" y="371366"/>
                  </a:lnTo>
                  <a:cubicBezTo>
                    <a:pt x="20326" y="371366"/>
                    <a:pt x="13290" y="368452"/>
                    <a:pt x="8102" y="363264"/>
                  </a:cubicBezTo>
                  <a:cubicBezTo>
                    <a:pt x="2914" y="358076"/>
                    <a:pt x="0" y="351040"/>
                    <a:pt x="0" y="343704"/>
                  </a:cubicBezTo>
                  <a:lnTo>
                    <a:pt x="0" y="27663"/>
                  </a:lnTo>
                  <a:cubicBezTo>
                    <a:pt x="0" y="20326"/>
                    <a:pt x="2914" y="13290"/>
                    <a:pt x="8102" y="8102"/>
                  </a:cubicBezTo>
                  <a:cubicBezTo>
                    <a:pt x="13290" y="2914"/>
                    <a:pt x="20326" y="0"/>
                    <a:pt x="27663" y="0"/>
                  </a:cubicBezTo>
                  <a:close/>
                </a:path>
              </a:pathLst>
            </a:custGeom>
            <a:solidFill>
              <a:srgbClr val="5C1F2E"/>
            </a:solidFill>
          </p:spPr>
        </p:sp>
        <p:sp>
          <p:nvSpPr>
            <p:cNvPr name="TextBox 21" id="21"/>
            <p:cNvSpPr txBox="true"/>
            <p:nvPr/>
          </p:nvSpPr>
          <p:spPr>
            <a:xfrm>
              <a:off x="0" y="-57150"/>
              <a:ext cx="1769044" cy="428516"/>
            </a:xfrm>
            <a:prstGeom prst="rect">
              <a:avLst/>
            </a:prstGeom>
          </p:spPr>
          <p:txBody>
            <a:bodyPr anchor="ctr" rtlCol="false" tIns="50800" lIns="50800" bIns="50800" rIns="50800"/>
            <a:lstStyle/>
            <a:p>
              <a:pPr algn="ctr">
                <a:lnSpc>
                  <a:spcPts val="3500"/>
                </a:lnSpc>
              </a:pPr>
            </a:p>
          </p:txBody>
        </p:sp>
      </p:grpSp>
      <p:grpSp>
        <p:nvGrpSpPr>
          <p:cNvPr name="Group 22" id="22"/>
          <p:cNvGrpSpPr/>
          <p:nvPr/>
        </p:nvGrpSpPr>
        <p:grpSpPr>
          <a:xfrm rot="0">
            <a:off x="835985" y="8404508"/>
            <a:ext cx="6716838" cy="1410031"/>
            <a:chOff x="0" y="0"/>
            <a:chExt cx="1769044" cy="371366"/>
          </a:xfrm>
        </p:grpSpPr>
        <p:sp>
          <p:nvSpPr>
            <p:cNvPr name="Freeform 23" id="23"/>
            <p:cNvSpPr/>
            <p:nvPr/>
          </p:nvSpPr>
          <p:spPr>
            <a:xfrm flipH="false" flipV="false" rot="0">
              <a:off x="0" y="0"/>
              <a:ext cx="1769044" cy="371366"/>
            </a:xfrm>
            <a:custGeom>
              <a:avLst/>
              <a:gdLst/>
              <a:ahLst/>
              <a:cxnLst/>
              <a:rect r="r" b="b" t="t" l="l"/>
              <a:pathLst>
                <a:path h="371366" w="1769044">
                  <a:moveTo>
                    <a:pt x="27663" y="0"/>
                  </a:moveTo>
                  <a:lnTo>
                    <a:pt x="1741381" y="0"/>
                  </a:lnTo>
                  <a:cubicBezTo>
                    <a:pt x="1748718" y="0"/>
                    <a:pt x="1755754" y="2914"/>
                    <a:pt x="1760942" y="8102"/>
                  </a:cubicBezTo>
                  <a:cubicBezTo>
                    <a:pt x="1766129" y="13290"/>
                    <a:pt x="1769044" y="20326"/>
                    <a:pt x="1769044" y="27663"/>
                  </a:cubicBezTo>
                  <a:lnTo>
                    <a:pt x="1769044" y="343704"/>
                  </a:lnTo>
                  <a:cubicBezTo>
                    <a:pt x="1769044" y="351040"/>
                    <a:pt x="1766129" y="358076"/>
                    <a:pt x="1760942" y="363264"/>
                  </a:cubicBezTo>
                  <a:cubicBezTo>
                    <a:pt x="1755754" y="368452"/>
                    <a:pt x="1748718" y="371366"/>
                    <a:pt x="1741381" y="371366"/>
                  </a:cubicBezTo>
                  <a:lnTo>
                    <a:pt x="27663" y="371366"/>
                  </a:lnTo>
                  <a:cubicBezTo>
                    <a:pt x="20326" y="371366"/>
                    <a:pt x="13290" y="368452"/>
                    <a:pt x="8102" y="363264"/>
                  </a:cubicBezTo>
                  <a:cubicBezTo>
                    <a:pt x="2914" y="358076"/>
                    <a:pt x="0" y="351040"/>
                    <a:pt x="0" y="343704"/>
                  </a:cubicBezTo>
                  <a:lnTo>
                    <a:pt x="0" y="27663"/>
                  </a:lnTo>
                  <a:cubicBezTo>
                    <a:pt x="0" y="20326"/>
                    <a:pt x="2914" y="13290"/>
                    <a:pt x="8102" y="8102"/>
                  </a:cubicBezTo>
                  <a:cubicBezTo>
                    <a:pt x="13290" y="2914"/>
                    <a:pt x="20326" y="0"/>
                    <a:pt x="27663" y="0"/>
                  </a:cubicBezTo>
                  <a:close/>
                </a:path>
              </a:pathLst>
            </a:custGeom>
            <a:solidFill>
              <a:srgbClr val="5C1F2E"/>
            </a:solidFill>
          </p:spPr>
        </p:sp>
        <p:sp>
          <p:nvSpPr>
            <p:cNvPr name="TextBox 24" id="24"/>
            <p:cNvSpPr txBox="true"/>
            <p:nvPr/>
          </p:nvSpPr>
          <p:spPr>
            <a:xfrm>
              <a:off x="0" y="-57150"/>
              <a:ext cx="1769044" cy="428516"/>
            </a:xfrm>
            <a:prstGeom prst="rect">
              <a:avLst/>
            </a:prstGeom>
          </p:spPr>
          <p:txBody>
            <a:bodyPr anchor="ctr" rtlCol="false" tIns="50800" lIns="50800" bIns="50800" rIns="50800"/>
            <a:lstStyle/>
            <a:p>
              <a:pPr algn="ctr">
                <a:lnSpc>
                  <a:spcPts val="3500"/>
                </a:lnSpc>
              </a:pPr>
            </a:p>
          </p:txBody>
        </p:sp>
      </p:grpSp>
      <p:sp>
        <p:nvSpPr>
          <p:cNvPr name="TextBox 25" id="25"/>
          <p:cNvSpPr txBox="true"/>
          <p:nvPr/>
        </p:nvSpPr>
        <p:spPr>
          <a:xfrm rot="0">
            <a:off x="1148021" y="3630694"/>
            <a:ext cx="6092767" cy="1166495"/>
          </a:xfrm>
          <a:prstGeom prst="rect">
            <a:avLst/>
          </a:prstGeom>
        </p:spPr>
        <p:txBody>
          <a:bodyPr anchor="t" rtlCol="false" tIns="0" lIns="0" bIns="0" rIns="0">
            <a:spAutoFit/>
          </a:bodyPr>
          <a:lstStyle/>
          <a:p>
            <a:pPr algn="ctr">
              <a:lnSpc>
                <a:spcPts val="2379"/>
              </a:lnSpc>
            </a:pPr>
            <a:r>
              <a:rPr lang="en-US" sz="1699" b="true">
                <a:solidFill>
                  <a:srgbClr val="FFFFFF"/>
                </a:solidFill>
                <a:latin typeface="Open Sans 1 Bold"/>
                <a:ea typeface="Open Sans 1 Bold"/>
                <a:cs typeface="Open Sans 1 Bold"/>
                <a:sym typeface="Open Sans 1 Bold"/>
              </a:rPr>
              <a:t>Propuesta de valor</a:t>
            </a:r>
          </a:p>
          <a:p>
            <a:pPr algn="just">
              <a:lnSpc>
                <a:spcPts val="2379"/>
              </a:lnSpc>
            </a:pPr>
            <a:r>
              <a:rPr lang="en-US" sz="1699">
                <a:solidFill>
                  <a:srgbClr val="FFFFFF"/>
                </a:solidFill>
                <a:latin typeface="Open Sans 1"/>
                <a:ea typeface="Open Sans 1"/>
                <a:cs typeface="Open Sans 1"/>
                <a:sym typeface="Open Sans 1"/>
              </a:rPr>
              <a:t>Interpretaciones personalizadas de patrones de lectura y respuesta emocional, generadas con IA a partir de los propios datos del usuario. </a:t>
            </a:r>
          </a:p>
        </p:txBody>
      </p:sp>
      <p:sp>
        <p:nvSpPr>
          <p:cNvPr name="TextBox 26" id="26"/>
          <p:cNvSpPr txBox="true"/>
          <p:nvPr/>
        </p:nvSpPr>
        <p:spPr>
          <a:xfrm rot="0">
            <a:off x="1148021" y="5406086"/>
            <a:ext cx="6092767" cy="871220"/>
          </a:xfrm>
          <a:prstGeom prst="rect">
            <a:avLst/>
          </a:prstGeom>
        </p:spPr>
        <p:txBody>
          <a:bodyPr anchor="t" rtlCol="false" tIns="0" lIns="0" bIns="0" rIns="0">
            <a:spAutoFit/>
          </a:bodyPr>
          <a:lstStyle/>
          <a:p>
            <a:pPr algn="ctr">
              <a:lnSpc>
                <a:spcPts val="2379"/>
              </a:lnSpc>
            </a:pPr>
            <a:r>
              <a:rPr lang="en-US" sz="1699" b="true">
                <a:solidFill>
                  <a:srgbClr val="FFFFFF"/>
                </a:solidFill>
                <a:latin typeface="Open Sans 1 Bold"/>
                <a:ea typeface="Open Sans 1 Bold"/>
                <a:cs typeface="Open Sans 1 Bold"/>
                <a:sym typeface="Open Sans 1 Bold"/>
              </a:rPr>
              <a:t>Segmentos futuros</a:t>
            </a:r>
          </a:p>
          <a:p>
            <a:pPr algn="just">
              <a:lnSpc>
                <a:spcPts val="2379"/>
              </a:lnSpc>
            </a:pPr>
            <a:r>
              <a:rPr lang="en-US" sz="1699">
                <a:solidFill>
                  <a:srgbClr val="FFFFFF"/>
                </a:solidFill>
                <a:latin typeface="Open Sans 1"/>
                <a:ea typeface="Open Sans 1"/>
                <a:cs typeface="Open Sans 1"/>
                <a:sym typeface="Open Sans 1"/>
              </a:rPr>
              <a:t>L</a:t>
            </a:r>
            <a:r>
              <a:rPr lang="en-US" sz="1699">
                <a:solidFill>
                  <a:srgbClr val="FFFFFF"/>
                </a:solidFill>
                <a:latin typeface="Open Sans 1"/>
                <a:ea typeface="Open Sans 1"/>
                <a:cs typeface="Open Sans 1"/>
                <a:sym typeface="Open Sans 1"/>
              </a:rPr>
              <a:t>ectores individuales, editoriales e investigadores de recepción de obras, Comunidades y clubes de lectura.</a:t>
            </a:r>
          </a:p>
        </p:txBody>
      </p:sp>
      <p:sp>
        <p:nvSpPr>
          <p:cNvPr name="TextBox 27" id="27"/>
          <p:cNvSpPr txBox="true"/>
          <p:nvPr/>
        </p:nvSpPr>
        <p:spPr>
          <a:xfrm rot="0">
            <a:off x="1087812" y="6881485"/>
            <a:ext cx="6092767" cy="1166495"/>
          </a:xfrm>
          <a:prstGeom prst="rect">
            <a:avLst/>
          </a:prstGeom>
        </p:spPr>
        <p:txBody>
          <a:bodyPr anchor="t" rtlCol="false" tIns="0" lIns="0" bIns="0" rIns="0">
            <a:spAutoFit/>
          </a:bodyPr>
          <a:lstStyle/>
          <a:p>
            <a:pPr algn="ctr">
              <a:lnSpc>
                <a:spcPts val="2379"/>
              </a:lnSpc>
            </a:pPr>
            <a:r>
              <a:rPr lang="en-US" sz="1699" b="true">
                <a:solidFill>
                  <a:srgbClr val="FFFFFF"/>
                </a:solidFill>
                <a:latin typeface="Open Sans 1 Bold"/>
                <a:ea typeface="Open Sans 1 Bold"/>
                <a:cs typeface="Open Sans 1 Bold"/>
                <a:sym typeface="Open Sans 1 Bold"/>
              </a:rPr>
              <a:t>Ingresos potenciales (Futuro)</a:t>
            </a:r>
          </a:p>
          <a:p>
            <a:pPr algn="just">
              <a:lnSpc>
                <a:spcPts val="2379"/>
              </a:lnSpc>
            </a:pPr>
            <a:r>
              <a:rPr lang="en-US" sz="1699">
                <a:solidFill>
                  <a:srgbClr val="FFFFFF"/>
                </a:solidFill>
                <a:latin typeface="Open Sans 1"/>
                <a:ea typeface="Open Sans 1"/>
                <a:cs typeface="Open Sans 1"/>
                <a:sym typeface="Open Sans 1"/>
              </a:rPr>
              <a:t>Pla</a:t>
            </a:r>
            <a:r>
              <a:rPr lang="en-US" sz="1699">
                <a:solidFill>
                  <a:srgbClr val="FFFFFF"/>
                </a:solidFill>
                <a:latin typeface="Open Sans 1"/>
                <a:ea typeface="Open Sans 1"/>
                <a:cs typeface="Open Sans 1"/>
                <a:sym typeface="Open Sans 1"/>
              </a:rPr>
              <a:t>n freemium con analítica avanzada, licenciamiento de insights agregados y anonimizados a editoriales y alianzas de investigación.</a:t>
            </a:r>
          </a:p>
        </p:txBody>
      </p:sp>
      <p:sp>
        <p:nvSpPr>
          <p:cNvPr name="TextBox 28" id="28"/>
          <p:cNvSpPr txBox="true"/>
          <p:nvPr/>
        </p:nvSpPr>
        <p:spPr>
          <a:xfrm rot="0">
            <a:off x="1148021" y="8630313"/>
            <a:ext cx="6092767" cy="871220"/>
          </a:xfrm>
          <a:prstGeom prst="rect">
            <a:avLst/>
          </a:prstGeom>
        </p:spPr>
        <p:txBody>
          <a:bodyPr anchor="t" rtlCol="false" tIns="0" lIns="0" bIns="0" rIns="0">
            <a:spAutoFit/>
          </a:bodyPr>
          <a:lstStyle/>
          <a:p>
            <a:pPr algn="ctr">
              <a:lnSpc>
                <a:spcPts val="2379"/>
              </a:lnSpc>
            </a:pPr>
            <a:r>
              <a:rPr lang="en-US" sz="1699" b="true">
                <a:solidFill>
                  <a:srgbClr val="FFFFFF"/>
                </a:solidFill>
                <a:latin typeface="Open Sans 1 Bold"/>
                <a:ea typeface="Open Sans 1 Bold"/>
                <a:cs typeface="Open Sans 1 Bold"/>
                <a:sym typeface="Open Sans 1 Bold"/>
              </a:rPr>
              <a:t>Costos principales </a:t>
            </a:r>
          </a:p>
          <a:p>
            <a:pPr algn="just">
              <a:lnSpc>
                <a:spcPts val="2379"/>
              </a:lnSpc>
            </a:pPr>
            <a:r>
              <a:rPr lang="en-US" sz="1699">
                <a:solidFill>
                  <a:srgbClr val="FFFFFF"/>
                </a:solidFill>
                <a:latin typeface="Open Sans 1"/>
                <a:ea typeface="Open Sans 1"/>
                <a:cs typeface="Open Sans 1"/>
                <a:sym typeface="Open Sans 1"/>
              </a:rPr>
              <a:t>Hos</a:t>
            </a:r>
            <a:r>
              <a:rPr lang="en-US" sz="1699">
                <a:solidFill>
                  <a:srgbClr val="FFFFFF"/>
                </a:solidFill>
                <a:latin typeface="Open Sans 1"/>
                <a:ea typeface="Open Sans 1"/>
                <a:cs typeface="Open Sans 1"/>
                <a:sym typeface="Open Sans 1"/>
              </a:rPr>
              <a:t>ting e infraestructura, costos de uso de la API de IA,· mantenimiento y evolución del producto.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081254" y="1028700"/>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370506" y="2529848"/>
            <a:ext cx="8401111" cy="7319700"/>
            <a:chOff x="0" y="0"/>
            <a:chExt cx="2212638" cy="1927822"/>
          </a:xfrm>
        </p:grpSpPr>
        <p:sp>
          <p:nvSpPr>
            <p:cNvPr name="Freeform 11" id="11"/>
            <p:cNvSpPr/>
            <p:nvPr/>
          </p:nvSpPr>
          <p:spPr>
            <a:xfrm flipH="false" flipV="false" rot="0">
              <a:off x="0" y="0"/>
              <a:ext cx="2212638" cy="1927822"/>
            </a:xfrm>
            <a:custGeom>
              <a:avLst/>
              <a:gdLst/>
              <a:ahLst/>
              <a:cxnLst/>
              <a:rect r="r" b="b" t="t" l="l"/>
              <a:pathLst>
                <a:path h="1927822" w="2212638">
                  <a:moveTo>
                    <a:pt x="13823" y="0"/>
                  </a:moveTo>
                  <a:lnTo>
                    <a:pt x="2198815" y="0"/>
                  </a:lnTo>
                  <a:cubicBezTo>
                    <a:pt x="2206449" y="0"/>
                    <a:pt x="2212638" y="6189"/>
                    <a:pt x="2212638" y="13823"/>
                  </a:cubicBezTo>
                  <a:lnTo>
                    <a:pt x="2212638" y="1913999"/>
                  </a:lnTo>
                  <a:cubicBezTo>
                    <a:pt x="2212638" y="1917665"/>
                    <a:pt x="2211182" y="1921181"/>
                    <a:pt x="2208590" y="1923774"/>
                  </a:cubicBezTo>
                  <a:cubicBezTo>
                    <a:pt x="2205997" y="1926366"/>
                    <a:pt x="2202481" y="1927822"/>
                    <a:pt x="2198815" y="1927822"/>
                  </a:cubicBezTo>
                  <a:lnTo>
                    <a:pt x="13823" y="1927822"/>
                  </a:lnTo>
                  <a:cubicBezTo>
                    <a:pt x="6189" y="1927822"/>
                    <a:pt x="0" y="1921633"/>
                    <a:pt x="0" y="1913999"/>
                  </a:cubicBezTo>
                  <a:lnTo>
                    <a:pt x="0" y="13823"/>
                  </a:lnTo>
                  <a:cubicBezTo>
                    <a:pt x="0" y="10157"/>
                    <a:pt x="1456" y="6641"/>
                    <a:pt x="4049" y="4049"/>
                  </a:cubicBezTo>
                  <a:cubicBezTo>
                    <a:pt x="6641" y="1456"/>
                    <a:pt x="10157" y="0"/>
                    <a:pt x="13823" y="0"/>
                  </a:cubicBezTo>
                  <a:close/>
                </a:path>
              </a:pathLst>
            </a:custGeom>
            <a:solidFill>
              <a:srgbClr val="FFFFFE"/>
            </a:solidFill>
            <a:ln w="19050" cap="sq">
              <a:solidFill>
                <a:srgbClr val="8B5E3C"/>
              </a:solidFill>
              <a:prstDash val="solid"/>
              <a:miter/>
            </a:ln>
          </p:spPr>
        </p:sp>
        <p:sp>
          <p:nvSpPr>
            <p:cNvPr name="TextBox 12" id="12"/>
            <p:cNvSpPr txBox="true"/>
            <p:nvPr/>
          </p:nvSpPr>
          <p:spPr>
            <a:xfrm>
              <a:off x="0" y="-57150"/>
              <a:ext cx="2212638" cy="1984972"/>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608729" y="2777603"/>
            <a:ext cx="7953810" cy="5115940"/>
          </a:xfrm>
          <a:custGeom>
            <a:avLst/>
            <a:gdLst/>
            <a:ahLst/>
            <a:cxnLst/>
            <a:rect r="r" b="b" t="t" l="l"/>
            <a:pathLst>
              <a:path h="5115940" w="7953810">
                <a:moveTo>
                  <a:pt x="0" y="0"/>
                </a:moveTo>
                <a:lnTo>
                  <a:pt x="7953810" y="0"/>
                </a:lnTo>
                <a:lnTo>
                  <a:pt x="7953810" y="5115940"/>
                </a:lnTo>
                <a:lnTo>
                  <a:pt x="0" y="5115940"/>
                </a:lnTo>
                <a:lnTo>
                  <a:pt x="0" y="0"/>
                </a:lnTo>
                <a:close/>
              </a:path>
            </a:pathLst>
          </a:custGeom>
          <a:blipFill>
            <a:blip r:embed="rId7"/>
            <a:stretch>
              <a:fillRect l="0" t="0" r="0" b="0"/>
            </a:stretch>
          </a:blipFill>
          <a:ln w="19050" cap="sq">
            <a:solidFill>
              <a:srgbClr val="8B5E3C"/>
            </a:solidFill>
            <a:prstDash val="solid"/>
            <a:miter/>
          </a:ln>
        </p:spPr>
      </p:sp>
      <p:grpSp>
        <p:nvGrpSpPr>
          <p:cNvPr name="Group 14" id="14"/>
          <p:cNvGrpSpPr/>
          <p:nvPr/>
        </p:nvGrpSpPr>
        <p:grpSpPr>
          <a:xfrm rot="0">
            <a:off x="9144000" y="2529848"/>
            <a:ext cx="8401111" cy="7319700"/>
            <a:chOff x="0" y="0"/>
            <a:chExt cx="2212638" cy="1927822"/>
          </a:xfrm>
        </p:grpSpPr>
        <p:sp>
          <p:nvSpPr>
            <p:cNvPr name="Freeform 15" id="15"/>
            <p:cNvSpPr/>
            <p:nvPr/>
          </p:nvSpPr>
          <p:spPr>
            <a:xfrm flipH="false" flipV="false" rot="0">
              <a:off x="0" y="0"/>
              <a:ext cx="2212638" cy="1927822"/>
            </a:xfrm>
            <a:custGeom>
              <a:avLst/>
              <a:gdLst/>
              <a:ahLst/>
              <a:cxnLst/>
              <a:rect r="r" b="b" t="t" l="l"/>
              <a:pathLst>
                <a:path h="1927822" w="2212638">
                  <a:moveTo>
                    <a:pt x="13823" y="0"/>
                  </a:moveTo>
                  <a:lnTo>
                    <a:pt x="2198815" y="0"/>
                  </a:lnTo>
                  <a:cubicBezTo>
                    <a:pt x="2206449" y="0"/>
                    <a:pt x="2212638" y="6189"/>
                    <a:pt x="2212638" y="13823"/>
                  </a:cubicBezTo>
                  <a:lnTo>
                    <a:pt x="2212638" y="1913999"/>
                  </a:lnTo>
                  <a:cubicBezTo>
                    <a:pt x="2212638" y="1917665"/>
                    <a:pt x="2211182" y="1921181"/>
                    <a:pt x="2208590" y="1923774"/>
                  </a:cubicBezTo>
                  <a:cubicBezTo>
                    <a:pt x="2205997" y="1926366"/>
                    <a:pt x="2202481" y="1927822"/>
                    <a:pt x="2198815" y="1927822"/>
                  </a:cubicBezTo>
                  <a:lnTo>
                    <a:pt x="13823" y="1927822"/>
                  </a:lnTo>
                  <a:cubicBezTo>
                    <a:pt x="6189" y="1927822"/>
                    <a:pt x="0" y="1921633"/>
                    <a:pt x="0" y="1913999"/>
                  </a:cubicBezTo>
                  <a:lnTo>
                    <a:pt x="0" y="13823"/>
                  </a:lnTo>
                  <a:cubicBezTo>
                    <a:pt x="0" y="10157"/>
                    <a:pt x="1456" y="6641"/>
                    <a:pt x="4049" y="4049"/>
                  </a:cubicBezTo>
                  <a:cubicBezTo>
                    <a:pt x="6641" y="1456"/>
                    <a:pt x="10157" y="0"/>
                    <a:pt x="13823" y="0"/>
                  </a:cubicBezTo>
                  <a:close/>
                </a:path>
              </a:pathLst>
            </a:custGeom>
            <a:solidFill>
              <a:srgbClr val="FFFFFE"/>
            </a:solidFill>
            <a:ln w="19050" cap="sq">
              <a:solidFill>
                <a:srgbClr val="8B5E3C"/>
              </a:solidFill>
              <a:prstDash val="solid"/>
              <a:miter/>
            </a:ln>
          </p:spPr>
        </p:sp>
        <p:sp>
          <p:nvSpPr>
            <p:cNvPr name="TextBox 16" id="16"/>
            <p:cNvSpPr txBox="true"/>
            <p:nvPr/>
          </p:nvSpPr>
          <p:spPr>
            <a:xfrm>
              <a:off x="0" y="-57150"/>
              <a:ext cx="2212638" cy="1984972"/>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9372677" y="2777603"/>
            <a:ext cx="7959846" cy="5115940"/>
          </a:xfrm>
          <a:custGeom>
            <a:avLst/>
            <a:gdLst/>
            <a:ahLst/>
            <a:cxnLst/>
            <a:rect r="r" b="b" t="t" l="l"/>
            <a:pathLst>
              <a:path h="5115940" w="7959846">
                <a:moveTo>
                  <a:pt x="0" y="0"/>
                </a:moveTo>
                <a:lnTo>
                  <a:pt x="7959847" y="0"/>
                </a:lnTo>
                <a:lnTo>
                  <a:pt x="7959847" y="5115940"/>
                </a:lnTo>
                <a:lnTo>
                  <a:pt x="0" y="5115940"/>
                </a:lnTo>
                <a:lnTo>
                  <a:pt x="0" y="0"/>
                </a:lnTo>
                <a:close/>
              </a:path>
            </a:pathLst>
          </a:custGeom>
          <a:blipFill>
            <a:blip r:embed="rId8"/>
            <a:stretch>
              <a:fillRect l="0" t="0" r="0" b="0"/>
            </a:stretch>
          </a:blipFill>
          <a:ln w="19050" cap="sq">
            <a:solidFill>
              <a:srgbClr val="8B5E3C"/>
            </a:solidFill>
            <a:prstDash val="solid"/>
            <a:miter/>
          </a:ln>
        </p:spPr>
      </p:sp>
      <p:sp>
        <p:nvSpPr>
          <p:cNvPr name="TextBox 18" id="18"/>
          <p:cNvSpPr txBox="true"/>
          <p:nvPr/>
        </p:nvSpPr>
        <p:spPr>
          <a:xfrm rot="0">
            <a:off x="6823974" y="802070"/>
            <a:ext cx="5539978"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Mockups del MVP</a:t>
            </a:r>
          </a:p>
        </p:txBody>
      </p:sp>
      <p:sp>
        <p:nvSpPr>
          <p:cNvPr name="TextBox 19" id="19"/>
          <p:cNvSpPr txBox="true"/>
          <p:nvPr/>
        </p:nvSpPr>
        <p:spPr>
          <a:xfrm rot="0">
            <a:off x="2037645" y="7975701"/>
            <a:ext cx="5337572" cy="589915"/>
          </a:xfrm>
          <a:prstGeom prst="rect">
            <a:avLst/>
          </a:prstGeom>
        </p:spPr>
        <p:txBody>
          <a:bodyPr anchor="t" rtlCol="false" tIns="0" lIns="0" bIns="0" rIns="0">
            <a:spAutoFit/>
          </a:bodyPr>
          <a:lstStyle/>
          <a:p>
            <a:pPr algn="ctr">
              <a:lnSpc>
                <a:spcPts val="4759"/>
              </a:lnSpc>
            </a:pPr>
            <a:r>
              <a:rPr lang="en-US" b="true" sz="3399">
                <a:solidFill>
                  <a:srgbClr val="5C1F2E"/>
                </a:solidFill>
                <a:latin typeface="Cambria Bold"/>
                <a:ea typeface="Cambria Bold"/>
                <a:cs typeface="Cambria Bold"/>
                <a:sym typeface="Cambria Bold"/>
              </a:rPr>
              <a:t>Acceso e ingreso al sistema</a:t>
            </a:r>
          </a:p>
        </p:txBody>
      </p:sp>
      <p:sp>
        <p:nvSpPr>
          <p:cNvPr name="TextBox 20" id="20"/>
          <p:cNvSpPr txBox="true"/>
          <p:nvPr/>
        </p:nvSpPr>
        <p:spPr>
          <a:xfrm rot="0">
            <a:off x="707780" y="8811011"/>
            <a:ext cx="7755708" cy="575945"/>
          </a:xfrm>
          <a:prstGeom prst="rect">
            <a:avLst/>
          </a:prstGeom>
        </p:spPr>
        <p:txBody>
          <a:bodyPr anchor="t" rtlCol="false" tIns="0" lIns="0" bIns="0" rIns="0">
            <a:spAutoFit/>
          </a:bodyPr>
          <a:lstStyle/>
          <a:p>
            <a:pPr algn="ctr">
              <a:lnSpc>
                <a:spcPts val="2379"/>
              </a:lnSpc>
            </a:pPr>
            <a:r>
              <a:rPr lang="en-US" sz="1699" i="true">
                <a:solidFill>
                  <a:srgbClr val="000000"/>
                </a:solidFill>
                <a:latin typeface="Open Sans 1 Italics"/>
                <a:ea typeface="Open Sans 1 Italics"/>
                <a:cs typeface="Open Sans 1 Italics"/>
                <a:sym typeface="Open Sans 1 Italics"/>
              </a:rPr>
              <a:t>Re</a:t>
            </a:r>
            <a:r>
              <a:rPr lang="en-US" sz="1699" i="true">
                <a:solidFill>
                  <a:srgbClr val="000000"/>
                </a:solidFill>
                <a:latin typeface="Open Sans 1 Italics"/>
                <a:ea typeface="Open Sans 1 Italics"/>
                <a:cs typeface="Open Sans 1 Italics"/>
                <a:sym typeface="Open Sans 1 Italics"/>
              </a:rPr>
              <a:t>gistro e inicio de sesión con validación de credenciales; presenta la propuesta de valor de LibrIA antes de ingresar.</a:t>
            </a:r>
          </a:p>
        </p:txBody>
      </p:sp>
      <p:sp>
        <p:nvSpPr>
          <p:cNvPr name="TextBox 21" id="21"/>
          <p:cNvSpPr txBox="true"/>
          <p:nvPr/>
        </p:nvSpPr>
        <p:spPr>
          <a:xfrm rot="0">
            <a:off x="11539666" y="8095858"/>
            <a:ext cx="3851374" cy="589915"/>
          </a:xfrm>
          <a:prstGeom prst="rect">
            <a:avLst/>
          </a:prstGeom>
        </p:spPr>
        <p:txBody>
          <a:bodyPr anchor="t" rtlCol="false" tIns="0" lIns="0" bIns="0" rIns="0">
            <a:spAutoFit/>
          </a:bodyPr>
          <a:lstStyle/>
          <a:p>
            <a:pPr algn="ctr">
              <a:lnSpc>
                <a:spcPts val="4759"/>
              </a:lnSpc>
            </a:pPr>
            <a:r>
              <a:rPr lang="en-US" sz="3399" b="true">
                <a:solidFill>
                  <a:srgbClr val="5C1F2E"/>
                </a:solidFill>
                <a:latin typeface="Cambria Bold"/>
                <a:ea typeface="Cambria Bold"/>
                <a:cs typeface="Cambria Bold"/>
                <a:sym typeface="Cambria Bold"/>
              </a:rPr>
              <a:t>Biblioteca personal</a:t>
            </a:r>
          </a:p>
        </p:txBody>
      </p:sp>
      <p:sp>
        <p:nvSpPr>
          <p:cNvPr name="TextBox 22" id="22"/>
          <p:cNvSpPr txBox="true"/>
          <p:nvPr/>
        </p:nvSpPr>
        <p:spPr>
          <a:xfrm rot="0">
            <a:off x="9466701" y="8931168"/>
            <a:ext cx="7755708" cy="575945"/>
          </a:xfrm>
          <a:prstGeom prst="rect">
            <a:avLst/>
          </a:prstGeom>
        </p:spPr>
        <p:txBody>
          <a:bodyPr anchor="t" rtlCol="false" tIns="0" lIns="0" bIns="0" rIns="0">
            <a:spAutoFit/>
          </a:bodyPr>
          <a:lstStyle/>
          <a:p>
            <a:pPr algn="ctr">
              <a:lnSpc>
                <a:spcPts val="2379"/>
              </a:lnSpc>
            </a:pPr>
            <a:r>
              <a:rPr lang="en-US" sz="1699" i="true">
                <a:solidFill>
                  <a:srgbClr val="000000"/>
                </a:solidFill>
                <a:latin typeface="Open Sans 1 Italics"/>
                <a:ea typeface="Open Sans 1 Italics"/>
                <a:cs typeface="Open Sans 1 Italics"/>
                <a:sym typeface="Open Sans 1 Italics"/>
              </a:rPr>
              <a:t>V</a:t>
            </a:r>
            <a:r>
              <a:rPr lang="en-US" sz="1699" i="true">
                <a:solidFill>
                  <a:srgbClr val="000000"/>
                </a:solidFill>
                <a:latin typeface="Open Sans 1 Italics"/>
                <a:ea typeface="Open Sans 1 Italics"/>
                <a:cs typeface="Open Sans 1 Italics"/>
                <a:sym typeface="Open Sans 1 Italics"/>
              </a:rPr>
              <a:t>ista de la colección del usuario con filtros por estado de lectura: leyendo, terminado o pendiente.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grpSp>
        <p:nvGrpSpPr>
          <p:cNvPr name="Group 2" id="2"/>
          <p:cNvGrpSpPr/>
          <p:nvPr/>
        </p:nvGrpSpPr>
        <p:grpSpPr>
          <a:xfrm rot="0">
            <a:off x="6081254" y="1028700"/>
            <a:ext cx="528290" cy="590668"/>
            <a:chOff x="0" y="0"/>
            <a:chExt cx="704386" cy="787557"/>
          </a:xfrm>
        </p:grpSpPr>
        <p:grpSp>
          <p:nvGrpSpPr>
            <p:cNvPr name="Group 3" id="3"/>
            <p:cNvGrpSpPr/>
            <p:nvPr/>
          </p:nvGrpSpPr>
          <p:grpSpPr>
            <a:xfrm rot="0">
              <a:off x="0" y="0"/>
              <a:ext cx="704386" cy="787557"/>
              <a:chOff x="0" y="0"/>
              <a:chExt cx="389591" cy="435592"/>
            </a:xfrm>
          </p:grpSpPr>
          <p:sp>
            <p:nvSpPr>
              <p:cNvPr name="Freeform 4" id="4"/>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5" id="5"/>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2"/>
              <a:stretch>
                <a:fillRect l="0" t="0" r="0" b="0"/>
              </a:stretch>
            </a:blipFill>
          </p:spPr>
        </p:sp>
      </p:grpSp>
      <p:sp>
        <p:nvSpPr>
          <p:cNvPr name="Freeform 7" id="7"/>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5">
              <a:alphaModFix amt="48000"/>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370506" y="2529848"/>
            <a:ext cx="8401111" cy="7319700"/>
            <a:chOff x="0" y="0"/>
            <a:chExt cx="2212638" cy="1927822"/>
          </a:xfrm>
        </p:grpSpPr>
        <p:sp>
          <p:nvSpPr>
            <p:cNvPr name="Freeform 11" id="11"/>
            <p:cNvSpPr/>
            <p:nvPr/>
          </p:nvSpPr>
          <p:spPr>
            <a:xfrm flipH="false" flipV="false" rot="0">
              <a:off x="0" y="0"/>
              <a:ext cx="2212638" cy="1927822"/>
            </a:xfrm>
            <a:custGeom>
              <a:avLst/>
              <a:gdLst/>
              <a:ahLst/>
              <a:cxnLst/>
              <a:rect r="r" b="b" t="t" l="l"/>
              <a:pathLst>
                <a:path h="1927822" w="2212638">
                  <a:moveTo>
                    <a:pt x="13823" y="0"/>
                  </a:moveTo>
                  <a:lnTo>
                    <a:pt x="2198815" y="0"/>
                  </a:lnTo>
                  <a:cubicBezTo>
                    <a:pt x="2206449" y="0"/>
                    <a:pt x="2212638" y="6189"/>
                    <a:pt x="2212638" y="13823"/>
                  </a:cubicBezTo>
                  <a:lnTo>
                    <a:pt x="2212638" y="1913999"/>
                  </a:lnTo>
                  <a:cubicBezTo>
                    <a:pt x="2212638" y="1917665"/>
                    <a:pt x="2211182" y="1921181"/>
                    <a:pt x="2208590" y="1923774"/>
                  </a:cubicBezTo>
                  <a:cubicBezTo>
                    <a:pt x="2205997" y="1926366"/>
                    <a:pt x="2202481" y="1927822"/>
                    <a:pt x="2198815" y="1927822"/>
                  </a:cubicBezTo>
                  <a:lnTo>
                    <a:pt x="13823" y="1927822"/>
                  </a:lnTo>
                  <a:cubicBezTo>
                    <a:pt x="6189" y="1927822"/>
                    <a:pt x="0" y="1921633"/>
                    <a:pt x="0" y="1913999"/>
                  </a:cubicBezTo>
                  <a:lnTo>
                    <a:pt x="0" y="13823"/>
                  </a:lnTo>
                  <a:cubicBezTo>
                    <a:pt x="0" y="10157"/>
                    <a:pt x="1456" y="6641"/>
                    <a:pt x="4049" y="4049"/>
                  </a:cubicBezTo>
                  <a:cubicBezTo>
                    <a:pt x="6641" y="1456"/>
                    <a:pt x="10157" y="0"/>
                    <a:pt x="13823" y="0"/>
                  </a:cubicBezTo>
                  <a:close/>
                </a:path>
              </a:pathLst>
            </a:custGeom>
            <a:solidFill>
              <a:srgbClr val="FFFFFE"/>
            </a:solidFill>
            <a:ln w="19050" cap="sq">
              <a:solidFill>
                <a:srgbClr val="8B5E3C"/>
              </a:solidFill>
              <a:prstDash val="solid"/>
              <a:miter/>
            </a:ln>
          </p:spPr>
        </p:sp>
        <p:sp>
          <p:nvSpPr>
            <p:cNvPr name="TextBox 12" id="12"/>
            <p:cNvSpPr txBox="true"/>
            <p:nvPr/>
          </p:nvSpPr>
          <p:spPr>
            <a:xfrm>
              <a:off x="0" y="-57150"/>
              <a:ext cx="2212638" cy="1984972"/>
            </a:xfrm>
            <a:prstGeom prst="rect">
              <a:avLst/>
            </a:prstGeom>
          </p:spPr>
          <p:txBody>
            <a:bodyPr anchor="ctr" rtlCol="false" tIns="50800" lIns="50800" bIns="50800" rIns="50800"/>
            <a:lstStyle/>
            <a:p>
              <a:pPr algn="ctr">
                <a:lnSpc>
                  <a:spcPts val="3500"/>
                </a:lnSpc>
              </a:pPr>
            </a:p>
          </p:txBody>
        </p:sp>
      </p:grpSp>
      <p:grpSp>
        <p:nvGrpSpPr>
          <p:cNvPr name="Group 13" id="13"/>
          <p:cNvGrpSpPr/>
          <p:nvPr/>
        </p:nvGrpSpPr>
        <p:grpSpPr>
          <a:xfrm rot="0">
            <a:off x="9144000" y="2529848"/>
            <a:ext cx="8401111" cy="7319700"/>
            <a:chOff x="0" y="0"/>
            <a:chExt cx="2212638" cy="1927822"/>
          </a:xfrm>
        </p:grpSpPr>
        <p:sp>
          <p:nvSpPr>
            <p:cNvPr name="Freeform 14" id="14"/>
            <p:cNvSpPr/>
            <p:nvPr/>
          </p:nvSpPr>
          <p:spPr>
            <a:xfrm flipH="false" flipV="false" rot="0">
              <a:off x="0" y="0"/>
              <a:ext cx="2212638" cy="1927822"/>
            </a:xfrm>
            <a:custGeom>
              <a:avLst/>
              <a:gdLst/>
              <a:ahLst/>
              <a:cxnLst/>
              <a:rect r="r" b="b" t="t" l="l"/>
              <a:pathLst>
                <a:path h="1927822" w="2212638">
                  <a:moveTo>
                    <a:pt x="13823" y="0"/>
                  </a:moveTo>
                  <a:lnTo>
                    <a:pt x="2198815" y="0"/>
                  </a:lnTo>
                  <a:cubicBezTo>
                    <a:pt x="2206449" y="0"/>
                    <a:pt x="2212638" y="6189"/>
                    <a:pt x="2212638" y="13823"/>
                  </a:cubicBezTo>
                  <a:lnTo>
                    <a:pt x="2212638" y="1913999"/>
                  </a:lnTo>
                  <a:cubicBezTo>
                    <a:pt x="2212638" y="1917665"/>
                    <a:pt x="2211182" y="1921181"/>
                    <a:pt x="2208590" y="1923774"/>
                  </a:cubicBezTo>
                  <a:cubicBezTo>
                    <a:pt x="2205997" y="1926366"/>
                    <a:pt x="2202481" y="1927822"/>
                    <a:pt x="2198815" y="1927822"/>
                  </a:cubicBezTo>
                  <a:lnTo>
                    <a:pt x="13823" y="1927822"/>
                  </a:lnTo>
                  <a:cubicBezTo>
                    <a:pt x="6189" y="1927822"/>
                    <a:pt x="0" y="1921633"/>
                    <a:pt x="0" y="1913999"/>
                  </a:cubicBezTo>
                  <a:lnTo>
                    <a:pt x="0" y="13823"/>
                  </a:lnTo>
                  <a:cubicBezTo>
                    <a:pt x="0" y="10157"/>
                    <a:pt x="1456" y="6641"/>
                    <a:pt x="4049" y="4049"/>
                  </a:cubicBezTo>
                  <a:cubicBezTo>
                    <a:pt x="6641" y="1456"/>
                    <a:pt x="10157" y="0"/>
                    <a:pt x="13823" y="0"/>
                  </a:cubicBezTo>
                  <a:close/>
                </a:path>
              </a:pathLst>
            </a:custGeom>
            <a:solidFill>
              <a:srgbClr val="FFFFFE"/>
            </a:solidFill>
            <a:ln w="19050" cap="sq">
              <a:solidFill>
                <a:srgbClr val="8B5E3C"/>
              </a:solidFill>
              <a:prstDash val="solid"/>
              <a:miter/>
            </a:ln>
          </p:spPr>
        </p:sp>
        <p:sp>
          <p:nvSpPr>
            <p:cNvPr name="TextBox 15" id="15"/>
            <p:cNvSpPr txBox="true"/>
            <p:nvPr/>
          </p:nvSpPr>
          <p:spPr>
            <a:xfrm>
              <a:off x="0" y="-57150"/>
              <a:ext cx="2212638" cy="1984972"/>
            </a:xfrm>
            <a:prstGeom prst="rect">
              <a:avLst/>
            </a:prstGeom>
          </p:spPr>
          <p:txBody>
            <a:bodyPr anchor="ctr" rtlCol="false" tIns="50800" lIns="50800" bIns="50800" rIns="50800"/>
            <a:lstStyle/>
            <a:p>
              <a:pPr algn="ctr">
                <a:lnSpc>
                  <a:spcPts val="3500"/>
                </a:lnSpc>
              </a:pPr>
            </a:p>
          </p:txBody>
        </p:sp>
      </p:grpSp>
      <p:sp>
        <p:nvSpPr>
          <p:cNvPr name="Freeform 16" id="16"/>
          <p:cNvSpPr/>
          <p:nvPr/>
        </p:nvSpPr>
        <p:spPr>
          <a:xfrm flipH="false" flipV="false" rot="0">
            <a:off x="644580" y="2887064"/>
            <a:ext cx="7852962" cy="5043772"/>
          </a:xfrm>
          <a:custGeom>
            <a:avLst/>
            <a:gdLst/>
            <a:ahLst/>
            <a:cxnLst/>
            <a:rect r="r" b="b" t="t" l="l"/>
            <a:pathLst>
              <a:path h="5043772" w="7852962">
                <a:moveTo>
                  <a:pt x="0" y="0"/>
                </a:moveTo>
                <a:lnTo>
                  <a:pt x="7852962" y="0"/>
                </a:lnTo>
                <a:lnTo>
                  <a:pt x="7852962" y="5043772"/>
                </a:lnTo>
                <a:lnTo>
                  <a:pt x="0" y="5043772"/>
                </a:lnTo>
                <a:lnTo>
                  <a:pt x="0" y="0"/>
                </a:lnTo>
                <a:close/>
              </a:path>
            </a:pathLst>
          </a:custGeom>
          <a:blipFill>
            <a:blip r:embed="rId7"/>
            <a:stretch>
              <a:fillRect l="0" t="0" r="0" b="0"/>
            </a:stretch>
          </a:blipFill>
          <a:ln w="19050" cap="sq">
            <a:solidFill>
              <a:srgbClr val="8B5E3C"/>
            </a:solidFill>
            <a:prstDash val="solid"/>
            <a:miter/>
          </a:ln>
        </p:spPr>
      </p:sp>
      <p:grpSp>
        <p:nvGrpSpPr>
          <p:cNvPr name="Group 17" id="17"/>
          <p:cNvGrpSpPr/>
          <p:nvPr/>
        </p:nvGrpSpPr>
        <p:grpSpPr>
          <a:xfrm rot="0">
            <a:off x="9369447" y="2887064"/>
            <a:ext cx="7852962" cy="5043772"/>
            <a:chOff x="0" y="0"/>
            <a:chExt cx="10470616" cy="6725030"/>
          </a:xfrm>
        </p:grpSpPr>
        <p:sp>
          <p:nvSpPr>
            <p:cNvPr name="Freeform 18" id="18"/>
            <p:cNvSpPr/>
            <p:nvPr/>
          </p:nvSpPr>
          <p:spPr>
            <a:xfrm flipH="false" flipV="false" rot="0">
              <a:off x="0" y="0"/>
              <a:ext cx="10470616" cy="6725030"/>
            </a:xfrm>
            <a:custGeom>
              <a:avLst/>
              <a:gdLst/>
              <a:ahLst/>
              <a:cxnLst/>
              <a:rect r="r" b="b" t="t" l="l"/>
              <a:pathLst>
                <a:path h="6725030" w="10470616">
                  <a:moveTo>
                    <a:pt x="0" y="0"/>
                  </a:moveTo>
                  <a:lnTo>
                    <a:pt x="10470616" y="0"/>
                  </a:lnTo>
                  <a:lnTo>
                    <a:pt x="10470616" y="6725030"/>
                  </a:lnTo>
                  <a:lnTo>
                    <a:pt x="0" y="6725030"/>
                  </a:lnTo>
                  <a:lnTo>
                    <a:pt x="0" y="0"/>
                  </a:lnTo>
                  <a:close/>
                </a:path>
              </a:pathLst>
            </a:custGeom>
            <a:blipFill>
              <a:blip r:embed="rId7"/>
              <a:stretch>
                <a:fillRect l="0" t="0" r="0" b="0"/>
              </a:stretch>
            </a:blipFill>
            <a:ln w="19050" cap="sq">
              <a:solidFill>
                <a:srgbClr val="8B5E3C"/>
              </a:solidFill>
              <a:prstDash val="solid"/>
              <a:miter/>
            </a:ln>
          </p:spPr>
        </p:sp>
        <p:grpSp>
          <p:nvGrpSpPr>
            <p:cNvPr name="Group 19" id="19"/>
            <p:cNvGrpSpPr/>
            <p:nvPr/>
          </p:nvGrpSpPr>
          <p:grpSpPr>
            <a:xfrm rot="0">
              <a:off x="196950" y="1127028"/>
              <a:ext cx="10103926" cy="5418133"/>
              <a:chOff x="0" y="0"/>
              <a:chExt cx="1995837" cy="1070249"/>
            </a:xfrm>
          </p:grpSpPr>
          <p:sp>
            <p:nvSpPr>
              <p:cNvPr name="Freeform 20" id="20"/>
              <p:cNvSpPr/>
              <p:nvPr/>
            </p:nvSpPr>
            <p:spPr>
              <a:xfrm flipH="false" flipV="false" rot="0">
                <a:off x="0" y="0"/>
                <a:ext cx="1995837" cy="1070249"/>
              </a:xfrm>
              <a:custGeom>
                <a:avLst/>
                <a:gdLst/>
                <a:ahLst/>
                <a:cxnLst/>
                <a:rect r="r" b="b" t="t" l="l"/>
                <a:pathLst>
                  <a:path h="1070249" w="1995837">
                    <a:moveTo>
                      <a:pt x="52104" y="0"/>
                    </a:moveTo>
                    <a:lnTo>
                      <a:pt x="1943734" y="0"/>
                    </a:lnTo>
                    <a:cubicBezTo>
                      <a:pt x="1972510" y="0"/>
                      <a:pt x="1995837" y="23328"/>
                      <a:pt x="1995837" y="52104"/>
                    </a:cubicBezTo>
                    <a:lnTo>
                      <a:pt x="1995837" y="1018145"/>
                    </a:lnTo>
                    <a:cubicBezTo>
                      <a:pt x="1995837" y="1031964"/>
                      <a:pt x="1990348" y="1045216"/>
                      <a:pt x="1980577" y="1054988"/>
                    </a:cubicBezTo>
                    <a:cubicBezTo>
                      <a:pt x="1970805" y="1064759"/>
                      <a:pt x="1957552" y="1070249"/>
                      <a:pt x="1943734" y="1070249"/>
                    </a:cubicBezTo>
                    <a:lnTo>
                      <a:pt x="52104" y="1070249"/>
                    </a:lnTo>
                    <a:cubicBezTo>
                      <a:pt x="38285" y="1070249"/>
                      <a:pt x="25032" y="1064759"/>
                      <a:pt x="15261" y="1054988"/>
                    </a:cubicBezTo>
                    <a:cubicBezTo>
                      <a:pt x="5489" y="1045216"/>
                      <a:pt x="0" y="1031964"/>
                      <a:pt x="0" y="1018145"/>
                    </a:cubicBezTo>
                    <a:lnTo>
                      <a:pt x="0" y="52104"/>
                    </a:lnTo>
                    <a:cubicBezTo>
                      <a:pt x="0" y="23328"/>
                      <a:pt x="23328" y="0"/>
                      <a:pt x="52104" y="0"/>
                    </a:cubicBezTo>
                    <a:close/>
                  </a:path>
                </a:pathLst>
              </a:custGeom>
              <a:solidFill>
                <a:srgbClr val="F7F1E6"/>
              </a:solidFill>
            </p:spPr>
          </p:sp>
          <p:sp>
            <p:nvSpPr>
              <p:cNvPr name="TextBox 21" id="21"/>
              <p:cNvSpPr txBox="true"/>
              <p:nvPr/>
            </p:nvSpPr>
            <p:spPr>
              <a:xfrm>
                <a:off x="0" y="-57150"/>
                <a:ext cx="1995837" cy="1127399"/>
              </a:xfrm>
              <a:prstGeom prst="rect">
                <a:avLst/>
              </a:prstGeom>
            </p:spPr>
            <p:txBody>
              <a:bodyPr anchor="ctr" rtlCol="false" tIns="50800" lIns="50800" bIns="50800" rIns="50800"/>
              <a:lstStyle/>
              <a:p>
                <a:pPr algn="ctr">
                  <a:lnSpc>
                    <a:spcPts val="3500"/>
                  </a:lnSpc>
                </a:pPr>
              </a:p>
            </p:txBody>
          </p:sp>
        </p:grpSp>
      </p:grpSp>
      <p:sp>
        <p:nvSpPr>
          <p:cNvPr name="Freeform 22" id="22"/>
          <p:cNvSpPr/>
          <p:nvPr/>
        </p:nvSpPr>
        <p:spPr>
          <a:xfrm flipH="false" flipV="false" rot="0">
            <a:off x="9708699" y="3714136"/>
            <a:ext cx="7174459" cy="4135149"/>
          </a:xfrm>
          <a:custGeom>
            <a:avLst/>
            <a:gdLst/>
            <a:ahLst/>
            <a:cxnLst/>
            <a:rect r="r" b="b" t="t" l="l"/>
            <a:pathLst>
              <a:path h="4135149" w="7174459">
                <a:moveTo>
                  <a:pt x="0" y="0"/>
                </a:moveTo>
                <a:lnTo>
                  <a:pt x="7174459" y="0"/>
                </a:lnTo>
                <a:lnTo>
                  <a:pt x="7174459" y="4135150"/>
                </a:lnTo>
                <a:lnTo>
                  <a:pt x="0" y="4135150"/>
                </a:lnTo>
                <a:lnTo>
                  <a:pt x="0" y="0"/>
                </a:lnTo>
                <a:close/>
              </a:path>
            </a:pathLst>
          </a:custGeom>
          <a:blipFill>
            <a:blip r:embed="rId8"/>
            <a:stretch>
              <a:fillRect l="0" t="-395" r="0" b="-395"/>
            </a:stretch>
          </a:blipFill>
        </p:spPr>
      </p:sp>
      <p:sp>
        <p:nvSpPr>
          <p:cNvPr name="TextBox 23" id="23"/>
          <p:cNvSpPr txBox="true"/>
          <p:nvPr/>
        </p:nvSpPr>
        <p:spPr>
          <a:xfrm rot="0">
            <a:off x="6823974" y="802070"/>
            <a:ext cx="5539978"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Mockups del MVP</a:t>
            </a:r>
          </a:p>
        </p:txBody>
      </p:sp>
      <p:sp>
        <p:nvSpPr>
          <p:cNvPr name="TextBox 24" id="24"/>
          <p:cNvSpPr txBox="true"/>
          <p:nvPr/>
        </p:nvSpPr>
        <p:spPr>
          <a:xfrm rot="0">
            <a:off x="1332498" y="7975701"/>
            <a:ext cx="6747867" cy="589915"/>
          </a:xfrm>
          <a:prstGeom prst="rect">
            <a:avLst/>
          </a:prstGeom>
        </p:spPr>
        <p:txBody>
          <a:bodyPr anchor="t" rtlCol="false" tIns="0" lIns="0" bIns="0" rIns="0">
            <a:spAutoFit/>
          </a:bodyPr>
          <a:lstStyle/>
          <a:p>
            <a:pPr algn="ctr">
              <a:lnSpc>
                <a:spcPts val="4759"/>
              </a:lnSpc>
            </a:pPr>
            <a:r>
              <a:rPr lang="en-US" sz="3399" b="true">
                <a:solidFill>
                  <a:srgbClr val="5C1F2E"/>
                </a:solidFill>
                <a:latin typeface="Cambria Bold"/>
                <a:ea typeface="Cambria Bold"/>
                <a:cs typeface="Cambria Bold"/>
                <a:sym typeface="Cambria Bold"/>
              </a:rPr>
              <a:t>R</a:t>
            </a:r>
            <a:r>
              <a:rPr lang="en-US" b="true" sz="3399">
                <a:solidFill>
                  <a:srgbClr val="5C1F2E"/>
                </a:solidFill>
                <a:latin typeface="Cambria Bold"/>
                <a:ea typeface="Cambria Bold"/>
                <a:cs typeface="Cambria Bold"/>
                <a:sym typeface="Cambria Bold"/>
              </a:rPr>
              <a:t>egistro de experiencia de lectura</a:t>
            </a:r>
          </a:p>
        </p:txBody>
      </p:sp>
      <p:sp>
        <p:nvSpPr>
          <p:cNvPr name="TextBox 25" id="25"/>
          <p:cNvSpPr txBox="true"/>
          <p:nvPr/>
        </p:nvSpPr>
        <p:spPr>
          <a:xfrm rot="0">
            <a:off x="707780" y="8811011"/>
            <a:ext cx="7755708" cy="575945"/>
          </a:xfrm>
          <a:prstGeom prst="rect">
            <a:avLst/>
          </a:prstGeom>
        </p:spPr>
        <p:txBody>
          <a:bodyPr anchor="t" rtlCol="false" tIns="0" lIns="0" bIns="0" rIns="0">
            <a:spAutoFit/>
          </a:bodyPr>
          <a:lstStyle/>
          <a:p>
            <a:pPr algn="ctr">
              <a:lnSpc>
                <a:spcPts val="2379"/>
              </a:lnSpc>
            </a:pPr>
            <a:r>
              <a:rPr lang="en-US" sz="1699" i="true">
                <a:solidFill>
                  <a:srgbClr val="000000"/>
                </a:solidFill>
                <a:latin typeface="Open Sans 1 Italics"/>
                <a:ea typeface="Open Sans 1 Italics"/>
                <a:cs typeface="Open Sans 1 Italics"/>
                <a:sym typeface="Open Sans 1 Italics"/>
              </a:rPr>
              <a:t>Val</a:t>
            </a:r>
            <a:r>
              <a:rPr lang="en-US" sz="1699" i="true">
                <a:solidFill>
                  <a:srgbClr val="000000"/>
                </a:solidFill>
                <a:latin typeface="Open Sans 1 Italics"/>
                <a:ea typeface="Open Sans 1 Italics"/>
                <a:cs typeface="Open Sans 1 Italics"/>
                <a:sym typeface="Open Sans 1 Italics"/>
              </a:rPr>
              <a:t>oración con estrellas, selección de emociones asociadas a la obra y espacio para redactar una reseña.</a:t>
            </a:r>
          </a:p>
        </p:txBody>
      </p:sp>
      <p:sp>
        <p:nvSpPr>
          <p:cNvPr name="TextBox 26" id="26"/>
          <p:cNvSpPr txBox="true"/>
          <p:nvPr/>
        </p:nvSpPr>
        <p:spPr>
          <a:xfrm rot="0">
            <a:off x="10133166" y="8095858"/>
            <a:ext cx="6664375" cy="589915"/>
          </a:xfrm>
          <a:prstGeom prst="rect">
            <a:avLst/>
          </a:prstGeom>
        </p:spPr>
        <p:txBody>
          <a:bodyPr anchor="t" rtlCol="false" tIns="0" lIns="0" bIns="0" rIns="0">
            <a:spAutoFit/>
          </a:bodyPr>
          <a:lstStyle/>
          <a:p>
            <a:pPr algn="ctr">
              <a:lnSpc>
                <a:spcPts val="4759"/>
              </a:lnSpc>
            </a:pPr>
            <a:r>
              <a:rPr lang="en-US" sz="3399" b="true">
                <a:solidFill>
                  <a:srgbClr val="5C1F2E"/>
                </a:solidFill>
                <a:latin typeface="Cambria Bold"/>
                <a:ea typeface="Cambria Bold"/>
                <a:cs typeface="Cambria Bold"/>
                <a:sym typeface="Cambria Bold"/>
              </a:rPr>
              <a:t>Analítica con interpretación de IA</a:t>
            </a:r>
          </a:p>
        </p:txBody>
      </p:sp>
      <p:sp>
        <p:nvSpPr>
          <p:cNvPr name="TextBox 27" id="27"/>
          <p:cNvSpPr txBox="true"/>
          <p:nvPr/>
        </p:nvSpPr>
        <p:spPr>
          <a:xfrm rot="0">
            <a:off x="9466701" y="8931168"/>
            <a:ext cx="7755708" cy="871220"/>
          </a:xfrm>
          <a:prstGeom prst="rect">
            <a:avLst/>
          </a:prstGeom>
        </p:spPr>
        <p:txBody>
          <a:bodyPr anchor="t" rtlCol="false" tIns="0" lIns="0" bIns="0" rIns="0">
            <a:spAutoFit/>
          </a:bodyPr>
          <a:lstStyle/>
          <a:p>
            <a:pPr algn="ctr">
              <a:lnSpc>
                <a:spcPts val="2379"/>
              </a:lnSpc>
            </a:pPr>
            <a:r>
              <a:rPr lang="en-US" sz="1699" i="true">
                <a:solidFill>
                  <a:srgbClr val="000000"/>
                </a:solidFill>
                <a:latin typeface="Open Sans 1 Italics"/>
                <a:ea typeface="Open Sans 1 Italics"/>
                <a:cs typeface="Open Sans 1 Italics"/>
                <a:sym typeface="Open Sans 1 Italics"/>
              </a:rPr>
              <a:t>E</a:t>
            </a:r>
            <a:r>
              <a:rPr lang="en-US" sz="1699" i="true">
                <a:solidFill>
                  <a:srgbClr val="000000"/>
                </a:solidFill>
                <a:latin typeface="Open Sans 1 Italics"/>
                <a:ea typeface="Open Sans 1 Italics"/>
                <a:cs typeface="Open Sans 1 Italics"/>
                <a:sym typeface="Open Sans 1 Italics"/>
              </a:rPr>
              <a:t>stadísticas personales de lectura junto a una interpretación en lenguaje natural generada por IA.</a:t>
            </a:r>
          </a:p>
          <a:p>
            <a:pPr algn="ctr">
              <a:lnSpc>
                <a:spcPts val="237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EFDF"/>
        </a:solidFill>
      </p:bgPr>
    </p:bg>
    <p:spTree>
      <p:nvGrpSpPr>
        <p:cNvPr id="1" name=""/>
        <p:cNvGrpSpPr/>
        <p:nvPr/>
      </p:nvGrpSpPr>
      <p:grpSpPr>
        <a:xfrm>
          <a:off x="0" y="0"/>
          <a:ext cx="0" cy="0"/>
          <a:chOff x="0" y="0"/>
          <a:chExt cx="0" cy="0"/>
        </a:xfrm>
      </p:grpSpPr>
      <p:sp>
        <p:nvSpPr>
          <p:cNvPr name="Freeform 2" id="2"/>
          <p:cNvSpPr/>
          <p:nvPr/>
        </p:nvSpPr>
        <p:spPr>
          <a:xfrm flipH="false" flipV="false" rot="0">
            <a:off x="1022546" y="580581"/>
            <a:ext cx="375659" cy="309918"/>
          </a:xfrm>
          <a:custGeom>
            <a:avLst/>
            <a:gdLst/>
            <a:ahLst/>
            <a:cxnLst/>
            <a:rect r="r" b="b" t="t" l="l"/>
            <a:pathLst>
              <a:path h="309918" w="375659">
                <a:moveTo>
                  <a:pt x="0" y="0"/>
                </a:moveTo>
                <a:lnTo>
                  <a:pt x="375659" y="0"/>
                </a:lnTo>
                <a:lnTo>
                  <a:pt x="375659" y="309918"/>
                </a:lnTo>
                <a:lnTo>
                  <a:pt x="0" y="3099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403107" y="470221"/>
            <a:ext cx="235356" cy="420279"/>
          </a:xfrm>
          <a:custGeom>
            <a:avLst/>
            <a:gdLst/>
            <a:ahLst/>
            <a:cxnLst/>
            <a:rect r="r" b="b" t="t" l="l"/>
            <a:pathLst>
              <a:path h="420279" w="235356">
                <a:moveTo>
                  <a:pt x="235356" y="0"/>
                </a:moveTo>
                <a:lnTo>
                  <a:pt x="0" y="0"/>
                </a:lnTo>
                <a:lnTo>
                  <a:pt x="0" y="420278"/>
                </a:lnTo>
                <a:lnTo>
                  <a:pt x="235356" y="420278"/>
                </a:lnTo>
                <a:lnTo>
                  <a:pt x="235356"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332524" y="470221"/>
            <a:ext cx="235356" cy="420279"/>
          </a:xfrm>
          <a:custGeom>
            <a:avLst/>
            <a:gdLst/>
            <a:ahLst/>
            <a:cxnLst/>
            <a:rect r="r" b="b" t="t" l="l"/>
            <a:pathLst>
              <a:path h="420279" w="235356">
                <a:moveTo>
                  <a:pt x="0" y="0"/>
                </a:moveTo>
                <a:lnTo>
                  <a:pt x="235356" y="0"/>
                </a:lnTo>
                <a:lnTo>
                  <a:pt x="235356" y="420278"/>
                </a:lnTo>
                <a:lnTo>
                  <a:pt x="0" y="420278"/>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flipV="true">
            <a:off x="9163050" y="2645317"/>
            <a:ext cx="0" cy="7206380"/>
          </a:xfrm>
          <a:prstGeom prst="line">
            <a:avLst/>
          </a:prstGeom>
          <a:ln cap="flat" w="38100">
            <a:solidFill>
              <a:srgbClr val="EDE0CE"/>
            </a:solidFill>
            <a:prstDash val="solid"/>
            <a:headEnd type="none" len="sm" w="sm"/>
            <a:tailEnd type="none" len="sm" w="sm"/>
          </a:ln>
        </p:spPr>
      </p:sp>
      <p:grpSp>
        <p:nvGrpSpPr>
          <p:cNvPr name="Group 6" id="6"/>
          <p:cNvGrpSpPr/>
          <p:nvPr/>
        </p:nvGrpSpPr>
        <p:grpSpPr>
          <a:xfrm rot="0">
            <a:off x="2681780" y="1010086"/>
            <a:ext cx="528290" cy="590668"/>
            <a:chOff x="0" y="0"/>
            <a:chExt cx="704386" cy="787557"/>
          </a:xfrm>
        </p:grpSpPr>
        <p:grpSp>
          <p:nvGrpSpPr>
            <p:cNvPr name="Group 7" id="7"/>
            <p:cNvGrpSpPr/>
            <p:nvPr/>
          </p:nvGrpSpPr>
          <p:grpSpPr>
            <a:xfrm rot="0">
              <a:off x="0" y="0"/>
              <a:ext cx="704386" cy="787557"/>
              <a:chOff x="0" y="0"/>
              <a:chExt cx="389591" cy="435592"/>
            </a:xfrm>
          </p:grpSpPr>
          <p:sp>
            <p:nvSpPr>
              <p:cNvPr name="Freeform 8" id="8"/>
              <p:cNvSpPr/>
              <p:nvPr/>
            </p:nvSpPr>
            <p:spPr>
              <a:xfrm flipH="false" flipV="false" rot="0">
                <a:off x="0" y="0"/>
                <a:ext cx="389591" cy="435592"/>
              </a:xfrm>
              <a:custGeom>
                <a:avLst/>
                <a:gdLst/>
                <a:ahLst/>
                <a:cxnLst/>
                <a:rect r="r" b="b" t="t" l="l"/>
                <a:pathLst>
                  <a:path h="435592" w="389591">
                    <a:moveTo>
                      <a:pt x="194795" y="0"/>
                    </a:moveTo>
                    <a:cubicBezTo>
                      <a:pt x="87213" y="0"/>
                      <a:pt x="0" y="97511"/>
                      <a:pt x="0" y="217796"/>
                    </a:cubicBezTo>
                    <a:cubicBezTo>
                      <a:pt x="0" y="338081"/>
                      <a:pt x="87213" y="435592"/>
                      <a:pt x="194795" y="435592"/>
                    </a:cubicBezTo>
                    <a:cubicBezTo>
                      <a:pt x="302378" y="435592"/>
                      <a:pt x="389591" y="338081"/>
                      <a:pt x="389591" y="217796"/>
                    </a:cubicBezTo>
                    <a:cubicBezTo>
                      <a:pt x="389591" y="97511"/>
                      <a:pt x="302378" y="0"/>
                      <a:pt x="194795" y="0"/>
                    </a:cubicBezTo>
                    <a:close/>
                  </a:path>
                </a:pathLst>
              </a:custGeom>
              <a:solidFill>
                <a:srgbClr val="5C1F2E"/>
              </a:solidFill>
            </p:spPr>
          </p:sp>
          <p:sp>
            <p:nvSpPr>
              <p:cNvPr name="TextBox 9" id="9"/>
              <p:cNvSpPr txBox="true"/>
              <p:nvPr/>
            </p:nvSpPr>
            <p:spPr>
              <a:xfrm>
                <a:off x="36524" y="-6788"/>
                <a:ext cx="316543" cy="401543"/>
              </a:xfrm>
              <a:prstGeom prst="rect">
                <a:avLst/>
              </a:prstGeom>
            </p:spPr>
            <p:txBody>
              <a:bodyPr anchor="ctr" rtlCol="false" tIns="50800" lIns="50800" bIns="50800" rIns="50800"/>
              <a:lstStyle/>
              <a:p>
                <a:pPr algn="ctr">
                  <a:lnSpc>
                    <a:spcPts val="2800"/>
                  </a:lnSpc>
                </a:pPr>
              </a:p>
            </p:txBody>
          </p:sp>
        </p:grpSp>
        <p:sp>
          <p:nvSpPr>
            <p:cNvPr name="Freeform 10" id="10"/>
            <p:cNvSpPr/>
            <p:nvPr/>
          </p:nvSpPr>
          <p:spPr>
            <a:xfrm flipH="false" flipV="false" rot="0">
              <a:off x="114060" y="155645"/>
              <a:ext cx="476267" cy="476267"/>
            </a:xfrm>
            <a:custGeom>
              <a:avLst/>
              <a:gdLst/>
              <a:ahLst/>
              <a:cxnLst/>
              <a:rect r="r" b="b" t="t" l="l"/>
              <a:pathLst>
                <a:path h="476267" w="476267">
                  <a:moveTo>
                    <a:pt x="0" y="0"/>
                  </a:moveTo>
                  <a:lnTo>
                    <a:pt x="476267" y="0"/>
                  </a:lnTo>
                  <a:lnTo>
                    <a:pt x="476267" y="476267"/>
                  </a:lnTo>
                  <a:lnTo>
                    <a:pt x="0" y="476267"/>
                  </a:lnTo>
                  <a:lnTo>
                    <a:pt x="0" y="0"/>
                  </a:lnTo>
                  <a:close/>
                </a:path>
              </a:pathLst>
            </a:custGeom>
            <a:blipFill>
              <a:blip r:embed="rId6"/>
              <a:stretch>
                <a:fillRect l="0" t="0" r="0" b="0"/>
              </a:stretch>
            </a:blipFill>
          </p:spPr>
        </p:sp>
      </p:grpSp>
      <p:sp>
        <p:nvSpPr>
          <p:cNvPr name="TextBox 11" id="11"/>
          <p:cNvSpPr txBox="true"/>
          <p:nvPr/>
        </p:nvSpPr>
        <p:spPr>
          <a:xfrm rot="0">
            <a:off x="3422323" y="783456"/>
            <a:ext cx="12156877" cy="929627"/>
          </a:xfrm>
          <a:prstGeom prst="rect">
            <a:avLst/>
          </a:prstGeom>
        </p:spPr>
        <p:txBody>
          <a:bodyPr anchor="t" rtlCol="false" tIns="0" lIns="0" bIns="0" rIns="0">
            <a:spAutoFit/>
          </a:bodyPr>
          <a:lstStyle/>
          <a:p>
            <a:pPr algn="ctr">
              <a:lnSpc>
                <a:spcPts val="7560"/>
              </a:lnSpc>
            </a:pPr>
            <a:r>
              <a:rPr lang="en-US" sz="5400" b="true">
                <a:solidFill>
                  <a:srgbClr val="493323"/>
                </a:solidFill>
                <a:latin typeface="Cambria Bold"/>
                <a:ea typeface="Cambria Bold"/>
                <a:cs typeface="Cambria Bold"/>
                <a:sym typeface="Cambria Bold"/>
              </a:rPr>
              <a:t>Relevancia profesional y competencias</a:t>
            </a:r>
          </a:p>
        </p:txBody>
      </p:sp>
      <p:grpSp>
        <p:nvGrpSpPr>
          <p:cNvPr name="Group 12" id="12"/>
          <p:cNvGrpSpPr/>
          <p:nvPr/>
        </p:nvGrpSpPr>
        <p:grpSpPr>
          <a:xfrm rot="0">
            <a:off x="440948" y="2776942"/>
            <a:ext cx="8252593" cy="1931817"/>
            <a:chOff x="0" y="0"/>
            <a:chExt cx="2173522" cy="508791"/>
          </a:xfrm>
        </p:grpSpPr>
        <p:sp>
          <p:nvSpPr>
            <p:cNvPr name="Freeform 13" id="13"/>
            <p:cNvSpPr/>
            <p:nvPr/>
          </p:nvSpPr>
          <p:spPr>
            <a:xfrm flipH="false" flipV="false" rot="0">
              <a:off x="0" y="0"/>
              <a:ext cx="2173522" cy="508791"/>
            </a:xfrm>
            <a:custGeom>
              <a:avLst/>
              <a:gdLst/>
              <a:ahLst/>
              <a:cxnLst/>
              <a:rect r="r" b="b" t="t" l="l"/>
              <a:pathLst>
                <a:path h="508791" w="2173522">
                  <a:moveTo>
                    <a:pt x="8443" y="0"/>
                  </a:moveTo>
                  <a:lnTo>
                    <a:pt x="2165079" y="0"/>
                  </a:lnTo>
                  <a:cubicBezTo>
                    <a:pt x="2169742" y="0"/>
                    <a:pt x="2173522" y="3780"/>
                    <a:pt x="2173522" y="8443"/>
                  </a:cubicBezTo>
                  <a:lnTo>
                    <a:pt x="2173522" y="500348"/>
                  </a:lnTo>
                  <a:cubicBezTo>
                    <a:pt x="2173522" y="502587"/>
                    <a:pt x="2172633" y="504735"/>
                    <a:pt x="2171049" y="506318"/>
                  </a:cubicBezTo>
                  <a:cubicBezTo>
                    <a:pt x="2169466" y="507902"/>
                    <a:pt x="2167318" y="508791"/>
                    <a:pt x="2165079" y="508791"/>
                  </a:cubicBezTo>
                  <a:lnTo>
                    <a:pt x="8443" y="508791"/>
                  </a:lnTo>
                  <a:cubicBezTo>
                    <a:pt x="3780" y="508791"/>
                    <a:pt x="0" y="505011"/>
                    <a:pt x="0" y="500348"/>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14" id="14"/>
            <p:cNvSpPr txBox="true"/>
            <p:nvPr/>
          </p:nvSpPr>
          <p:spPr>
            <a:xfrm>
              <a:off x="0" y="-47625"/>
              <a:ext cx="2173522" cy="556416"/>
            </a:xfrm>
            <a:prstGeom prst="rect">
              <a:avLst/>
            </a:prstGeom>
          </p:spPr>
          <p:txBody>
            <a:bodyPr anchor="ctr" rtlCol="false" tIns="50800" lIns="50800" bIns="50800" rIns="50800"/>
            <a:lstStyle/>
            <a:p>
              <a:pPr algn="ctr">
                <a:lnSpc>
                  <a:spcPts val="3080"/>
                </a:lnSpc>
              </a:pPr>
            </a:p>
          </p:txBody>
        </p:sp>
      </p:grpSp>
      <p:sp>
        <p:nvSpPr>
          <p:cNvPr name="Freeform 15" id="15"/>
          <p:cNvSpPr/>
          <p:nvPr/>
        </p:nvSpPr>
        <p:spPr>
          <a:xfrm flipH="false" flipV="false" rot="0">
            <a:off x="8125569" y="2800923"/>
            <a:ext cx="307485" cy="569416"/>
          </a:xfrm>
          <a:custGeom>
            <a:avLst/>
            <a:gdLst/>
            <a:ahLst/>
            <a:cxnLst/>
            <a:rect r="r" b="b" t="t" l="l"/>
            <a:pathLst>
              <a:path h="569416" w="307485">
                <a:moveTo>
                  <a:pt x="0" y="0"/>
                </a:moveTo>
                <a:lnTo>
                  <a:pt x="307485" y="0"/>
                </a:lnTo>
                <a:lnTo>
                  <a:pt x="307485" y="569417"/>
                </a:lnTo>
                <a:lnTo>
                  <a:pt x="0" y="5694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9591675" y="2776942"/>
            <a:ext cx="8252593" cy="1186795"/>
            <a:chOff x="0" y="0"/>
            <a:chExt cx="11003457" cy="1582393"/>
          </a:xfrm>
        </p:grpSpPr>
        <p:grpSp>
          <p:nvGrpSpPr>
            <p:cNvPr name="Group 17" id="17"/>
            <p:cNvGrpSpPr/>
            <p:nvPr/>
          </p:nvGrpSpPr>
          <p:grpSpPr>
            <a:xfrm rot="0">
              <a:off x="0" y="0"/>
              <a:ext cx="11003457" cy="1582393"/>
              <a:chOff x="0" y="0"/>
              <a:chExt cx="2173522" cy="312572"/>
            </a:xfrm>
          </p:grpSpPr>
          <p:sp>
            <p:nvSpPr>
              <p:cNvPr name="Freeform 18" id="18"/>
              <p:cNvSpPr/>
              <p:nvPr/>
            </p:nvSpPr>
            <p:spPr>
              <a:xfrm flipH="false" flipV="false" rot="0">
                <a:off x="0" y="0"/>
                <a:ext cx="2173522" cy="312572"/>
              </a:xfrm>
              <a:custGeom>
                <a:avLst/>
                <a:gdLst/>
                <a:ahLst/>
                <a:cxnLst/>
                <a:rect r="r" b="b" t="t" l="l"/>
                <a:pathLst>
                  <a:path h="312572" w="2173522">
                    <a:moveTo>
                      <a:pt x="8443" y="0"/>
                    </a:moveTo>
                    <a:lnTo>
                      <a:pt x="2165079" y="0"/>
                    </a:lnTo>
                    <a:cubicBezTo>
                      <a:pt x="2169742" y="0"/>
                      <a:pt x="2173522" y="3780"/>
                      <a:pt x="2173522" y="8443"/>
                    </a:cubicBezTo>
                    <a:lnTo>
                      <a:pt x="2173522" y="304128"/>
                    </a:lnTo>
                    <a:cubicBezTo>
                      <a:pt x="2173522" y="308791"/>
                      <a:pt x="2169742" y="312572"/>
                      <a:pt x="2165079" y="312572"/>
                    </a:cubicBezTo>
                    <a:lnTo>
                      <a:pt x="8443" y="312572"/>
                    </a:lnTo>
                    <a:cubicBezTo>
                      <a:pt x="6204" y="312572"/>
                      <a:pt x="4056" y="311682"/>
                      <a:pt x="2473" y="310099"/>
                    </a:cubicBezTo>
                    <a:cubicBezTo>
                      <a:pt x="890" y="308515"/>
                      <a:pt x="0" y="306368"/>
                      <a:pt x="0" y="304128"/>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19" id="19"/>
              <p:cNvSpPr txBox="true"/>
              <p:nvPr/>
            </p:nvSpPr>
            <p:spPr>
              <a:xfrm>
                <a:off x="0" y="-47625"/>
                <a:ext cx="2173522" cy="360197"/>
              </a:xfrm>
              <a:prstGeom prst="rect">
                <a:avLst/>
              </a:prstGeom>
            </p:spPr>
            <p:txBody>
              <a:bodyPr anchor="ctr" rtlCol="false" tIns="50800" lIns="50800" bIns="50800" rIns="50800"/>
              <a:lstStyle/>
              <a:p>
                <a:pPr algn="ctr">
                  <a:lnSpc>
                    <a:spcPts val="3080"/>
                  </a:lnSpc>
                </a:pPr>
              </a:p>
            </p:txBody>
          </p:sp>
        </p:grpSp>
        <p:sp>
          <p:nvSpPr>
            <p:cNvPr name="Freeform 20" id="20"/>
            <p:cNvSpPr/>
            <p:nvPr/>
          </p:nvSpPr>
          <p:spPr>
            <a:xfrm flipH="false" flipV="false" rot="0">
              <a:off x="10246161" y="31975"/>
              <a:ext cx="409980" cy="759222"/>
            </a:xfrm>
            <a:custGeom>
              <a:avLst/>
              <a:gdLst/>
              <a:ahLst/>
              <a:cxnLst/>
              <a:rect r="r" b="b" t="t" l="l"/>
              <a:pathLst>
                <a:path h="759222" w="409980">
                  <a:moveTo>
                    <a:pt x="0" y="0"/>
                  </a:moveTo>
                  <a:lnTo>
                    <a:pt x="409980" y="0"/>
                  </a:lnTo>
                  <a:lnTo>
                    <a:pt x="409980" y="759222"/>
                  </a:lnTo>
                  <a:lnTo>
                    <a:pt x="0" y="7592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21" id="21"/>
          <p:cNvGrpSpPr/>
          <p:nvPr/>
        </p:nvGrpSpPr>
        <p:grpSpPr>
          <a:xfrm rot="0">
            <a:off x="9591675" y="4239417"/>
            <a:ext cx="8252593" cy="1186795"/>
            <a:chOff x="0" y="0"/>
            <a:chExt cx="11003457" cy="1582393"/>
          </a:xfrm>
        </p:grpSpPr>
        <p:grpSp>
          <p:nvGrpSpPr>
            <p:cNvPr name="Group 22" id="22"/>
            <p:cNvGrpSpPr/>
            <p:nvPr/>
          </p:nvGrpSpPr>
          <p:grpSpPr>
            <a:xfrm rot="0">
              <a:off x="0" y="0"/>
              <a:ext cx="11003457" cy="1582393"/>
              <a:chOff x="0" y="0"/>
              <a:chExt cx="2173522" cy="312572"/>
            </a:xfrm>
          </p:grpSpPr>
          <p:sp>
            <p:nvSpPr>
              <p:cNvPr name="Freeform 23" id="23"/>
              <p:cNvSpPr/>
              <p:nvPr/>
            </p:nvSpPr>
            <p:spPr>
              <a:xfrm flipH="false" flipV="false" rot="0">
                <a:off x="0" y="0"/>
                <a:ext cx="2173522" cy="312572"/>
              </a:xfrm>
              <a:custGeom>
                <a:avLst/>
                <a:gdLst/>
                <a:ahLst/>
                <a:cxnLst/>
                <a:rect r="r" b="b" t="t" l="l"/>
                <a:pathLst>
                  <a:path h="312572" w="2173522">
                    <a:moveTo>
                      <a:pt x="8443" y="0"/>
                    </a:moveTo>
                    <a:lnTo>
                      <a:pt x="2165079" y="0"/>
                    </a:lnTo>
                    <a:cubicBezTo>
                      <a:pt x="2169742" y="0"/>
                      <a:pt x="2173522" y="3780"/>
                      <a:pt x="2173522" y="8443"/>
                    </a:cubicBezTo>
                    <a:lnTo>
                      <a:pt x="2173522" y="304128"/>
                    </a:lnTo>
                    <a:cubicBezTo>
                      <a:pt x="2173522" y="308791"/>
                      <a:pt x="2169742" y="312572"/>
                      <a:pt x="2165079" y="312572"/>
                    </a:cubicBezTo>
                    <a:lnTo>
                      <a:pt x="8443" y="312572"/>
                    </a:lnTo>
                    <a:cubicBezTo>
                      <a:pt x="6204" y="312572"/>
                      <a:pt x="4056" y="311682"/>
                      <a:pt x="2473" y="310099"/>
                    </a:cubicBezTo>
                    <a:cubicBezTo>
                      <a:pt x="890" y="308515"/>
                      <a:pt x="0" y="306368"/>
                      <a:pt x="0" y="304128"/>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24" id="24"/>
              <p:cNvSpPr txBox="true"/>
              <p:nvPr/>
            </p:nvSpPr>
            <p:spPr>
              <a:xfrm>
                <a:off x="0" y="-47625"/>
                <a:ext cx="2173522" cy="360197"/>
              </a:xfrm>
              <a:prstGeom prst="rect">
                <a:avLst/>
              </a:prstGeom>
            </p:spPr>
            <p:txBody>
              <a:bodyPr anchor="ctr" rtlCol="false" tIns="50800" lIns="50800" bIns="50800" rIns="50800"/>
              <a:lstStyle/>
              <a:p>
                <a:pPr algn="ctr">
                  <a:lnSpc>
                    <a:spcPts val="3080"/>
                  </a:lnSpc>
                </a:pPr>
              </a:p>
            </p:txBody>
          </p:sp>
        </p:grpSp>
        <p:sp>
          <p:nvSpPr>
            <p:cNvPr name="Freeform 25" id="25"/>
            <p:cNvSpPr/>
            <p:nvPr/>
          </p:nvSpPr>
          <p:spPr>
            <a:xfrm flipH="false" flipV="false" rot="0">
              <a:off x="10246161" y="31975"/>
              <a:ext cx="409980" cy="759222"/>
            </a:xfrm>
            <a:custGeom>
              <a:avLst/>
              <a:gdLst/>
              <a:ahLst/>
              <a:cxnLst/>
              <a:rect r="r" b="b" t="t" l="l"/>
              <a:pathLst>
                <a:path h="759222" w="409980">
                  <a:moveTo>
                    <a:pt x="0" y="0"/>
                  </a:moveTo>
                  <a:lnTo>
                    <a:pt x="409980" y="0"/>
                  </a:lnTo>
                  <a:lnTo>
                    <a:pt x="409980" y="759222"/>
                  </a:lnTo>
                  <a:lnTo>
                    <a:pt x="0" y="7592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26" id="26"/>
          <p:cNvGrpSpPr/>
          <p:nvPr/>
        </p:nvGrpSpPr>
        <p:grpSpPr>
          <a:xfrm rot="0">
            <a:off x="9591675" y="5702437"/>
            <a:ext cx="8252593" cy="1186795"/>
            <a:chOff x="0" y="0"/>
            <a:chExt cx="11003457" cy="1582393"/>
          </a:xfrm>
        </p:grpSpPr>
        <p:grpSp>
          <p:nvGrpSpPr>
            <p:cNvPr name="Group 27" id="27"/>
            <p:cNvGrpSpPr/>
            <p:nvPr/>
          </p:nvGrpSpPr>
          <p:grpSpPr>
            <a:xfrm rot="0">
              <a:off x="0" y="0"/>
              <a:ext cx="11003457" cy="1582393"/>
              <a:chOff x="0" y="0"/>
              <a:chExt cx="2173522" cy="312572"/>
            </a:xfrm>
          </p:grpSpPr>
          <p:sp>
            <p:nvSpPr>
              <p:cNvPr name="Freeform 28" id="28"/>
              <p:cNvSpPr/>
              <p:nvPr/>
            </p:nvSpPr>
            <p:spPr>
              <a:xfrm flipH="false" flipV="false" rot="0">
                <a:off x="0" y="0"/>
                <a:ext cx="2173522" cy="312572"/>
              </a:xfrm>
              <a:custGeom>
                <a:avLst/>
                <a:gdLst/>
                <a:ahLst/>
                <a:cxnLst/>
                <a:rect r="r" b="b" t="t" l="l"/>
                <a:pathLst>
                  <a:path h="312572" w="2173522">
                    <a:moveTo>
                      <a:pt x="8443" y="0"/>
                    </a:moveTo>
                    <a:lnTo>
                      <a:pt x="2165079" y="0"/>
                    </a:lnTo>
                    <a:cubicBezTo>
                      <a:pt x="2169742" y="0"/>
                      <a:pt x="2173522" y="3780"/>
                      <a:pt x="2173522" y="8443"/>
                    </a:cubicBezTo>
                    <a:lnTo>
                      <a:pt x="2173522" y="304128"/>
                    </a:lnTo>
                    <a:cubicBezTo>
                      <a:pt x="2173522" y="308791"/>
                      <a:pt x="2169742" y="312572"/>
                      <a:pt x="2165079" y="312572"/>
                    </a:cubicBezTo>
                    <a:lnTo>
                      <a:pt x="8443" y="312572"/>
                    </a:lnTo>
                    <a:cubicBezTo>
                      <a:pt x="6204" y="312572"/>
                      <a:pt x="4056" y="311682"/>
                      <a:pt x="2473" y="310099"/>
                    </a:cubicBezTo>
                    <a:cubicBezTo>
                      <a:pt x="890" y="308515"/>
                      <a:pt x="0" y="306368"/>
                      <a:pt x="0" y="304128"/>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29" id="29"/>
              <p:cNvSpPr txBox="true"/>
              <p:nvPr/>
            </p:nvSpPr>
            <p:spPr>
              <a:xfrm>
                <a:off x="0" y="-47625"/>
                <a:ext cx="2173522" cy="360197"/>
              </a:xfrm>
              <a:prstGeom prst="rect">
                <a:avLst/>
              </a:prstGeom>
            </p:spPr>
            <p:txBody>
              <a:bodyPr anchor="ctr" rtlCol="false" tIns="50800" lIns="50800" bIns="50800" rIns="50800"/>
              <a:lstStyle/>
              <a:p>
                <a:pPr algn="ctr">
                  <a:lnSpc>
                    <a:spcPts val="3080"/>
                  </a:lnSpc>
                </a:pPr>
              </a:p>
            </p:txBody>
          </p:sp>
        </p:grpSp>
        <p:sp>
          <p:nvSpPr>
            <p:cNvPr name="Freeform 30" id="30"/>
            <p:cNvSpPr/>
            <p:nvPr/>
          </p:nvSpPr>
          <p:spPr>
            <a:xfrm flipH="false" flipV="false" rot="0">
              <a:off x="10246161" y="31975"/>
              <a:ext cx="409980" cy="759222"/>
            </a:xfrm>
            <a:custGeom>
              <a:avLst/>
              <a:gdLst/>
              <a:ahLst/>
              <a:cxnLst/>
              <a:rect r="r" b="b" t="t" l="l"/>
              <a:pathLst>
                <a:path h="759222" w="409980">
                  <a:moveTo>
                    <a:pt x="0" y="0"/>
                  </a:moveTo>
                  <a:lnTo>
                    <a:pt x="409980" y="0"/>
                  </a:lnTo>
                  <a:lnTo>
                    <a:pt x="409980" y="759222"/>
                  </a:lnTo>
                  <a:lnTo>
                    <a:pt x="0" y="7592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31" id="31"/>
          <p:cNvGrpSpPr/>
          <p:nvPr/>
        </p:nvGrpSpPr>
        <p:grpSpPr>
          <a:xfrm rot="0">
            <a:off x="9591675" y="7164912"/>
            <a:ext cx="8252593" cy="1186795"/>
            <a:chOff x="0" y="0"/>
            <a:chExt cx="11003457" cy="1582393"/>
          </a:xfrm>
        </p:grpSpPr>
        <p:grpSp>
          <p:nvGrpSpPr>
            <p:cNvPr name="Group 32" id="32"/>
            <p:cNvGrpSpPr/>
            <p:nvPr/>
          </p:nvGrpSpPr>
          <p:grpSpPr>
            <a:xfrm rot="0">
              <a:off x="0" y="0"/>
              <a:ext cx="11003457" cy="1582393"/>
              <a:chOff x="0" y="0"/>
              <a:chExt cx="2173522" cy="312572"/>
            </a:xfrm>
          </p:grpSpPr>
          <p:sp>
            <p:nvSpPr>
              <p:cNvPr name="Freeform 33" id="33"/>
              <p:cNvSpPr/>
              <p:nvPr/>
            </p:nvSpPr>
            <p:spPr>
              <a:xfrm flipH="false" flipV="false" rot="0">
                <a:off x="0" y="0"/>
                <a:ext cx="2173522" cy="312572"/>
              </a:xfrm>
              <a:custGeom>
                <a:avLst/>
                <a:gdLst/>
                <a:ahLst/>
                <a:cxnLst/>
                <a:rect r="r" b="b" t="t" l="l"/>
                <a:pathLst>
                  <a:path h="312572" w="2173522">
                    <a:moveTo>
                      <a:pt x="8443" y="0"/>
                    </a:moveTo>
                    <a:lnTo>
                      <a:pt x="2165079" y="0"/>
                    </a:lnTo>
                    <a:cubicBezTo>
                      <a:pt x="2169742" y="0"/>
                      <a:pt x="2173522" y="3780"/>
                      <a:pt x="2173522" y="8443"/>
                    </a:cubicBezTo>
                    <a:lnTo>
                      <a:pt x="2173522" y="304128"/>
                    </a:lnTo>
                    <a:cubicBezTo>
                      <a:pt x="2173522" y="308791"/>
                      <a:pt x="2169742" y="312572"/>
                      <a:pt x="2165079" y="312572"/>
                    </a:cubicBezTo>
                    <a:lnTo>
                      <a:pt x="8443" y="312572"/>
                    </a:lnTo>
                    <a:cubicBezTo>
                      <a:pt x="6204" y="312572"/>
                      <a:pt x="4056" y="311682"/>
                      <a:pt x="2473" y="310099"/>
                    </a:cubicBezTo>
                    <a:cubicBezTo>
                      <a:pt x="890" y="308515"/>
                      <a:pt x="0" y="306368"/>
                      <a:pt x="0" y="304128"/>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34" id="34"/>
              <p:cNvSpPr txBox="true"/>
              <p:nvPr/>
            </p:nvSpPr>
            <p:spPr>
              <a:xfrm>
                <a:off x="0" y="-47625"/>
                <a:ext cx="2173522" cy="360197"/>
              </a:xfrm>
              <a:prstGeom prst="rect">
                <a:avLst/>
              </a:prstGeom>
            </p:spPr>
            <p:txBody>
              <a:bodyPr anchor="ctr" rtlCol="false" tIns="50800" lIns="50800" bIns="50800" rIns="50800"/>
              <a:lstStyle/>
              <a:p>
                <a:pPr algn="ctr">
                  <a:lnSpc>
                    <a:spcPts val="3080"/>
                  </a:lnSpc>
                </a:pPr>
              </a:p>
            </p:txBody>
          </p:sp>
        </p:grpSp>
        <p:sp>
          <p:nvSpPr>
            <p:cNvPr name="Freeform 35" id="35"/>
            <p:cNvSpPr/>
            <p:nvPr/>
          </p:nvSpPr>
          <p:spPr>
            <a:xfrm flipH="false" flipV="false" rot="0">
              <a:off x="10246161" y="31975"/>
              <a:ext cx="409980" cy="759222"/>
            </a:xfrm>
            <a:custGeom>
              <a:avLst/>
              <a:gdLst/>
              <a:ahLst/>
              <a:cxnLst/>
              <a:rect r="r" b="b" t="t" l="l"/>
              <a:pathLst>
                <a:path h="759222" w="409980">
                  <a:moveTo>
                    <a:pt x="0" y="0"/>
                  </a:moveTo>
                  <a:lnTo>
                    <a:pt x="409980" y="0"/>
                  </a:lnTo>
                  <a:lnTo>
                    <a:pt x="409980" y="759222"/>
                  </a:lnTo>
                  <a:lnTo>
                    <a:pt x="0" y="7592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36" id="36"/>
          <p:cNvGrpSpPr/>
          <p:nvPr/>
        </p:nvGrpSpPr>
        <p:grpSpPr>
          <a:xfrm rot="0">
            <a:off x="9591675" y="8664902"/>
            <a:ext cx="8252593" cy="1186795"/>
            <a:chOff x="0" y="0"/>
            <a:chExt cx="11003457" cy="1582393"/>
          </a:xfrm>
        </p:grpSpPr>
        <p:grpSp>
          <p:nvGrpSpPr>
            <p:cNvPr name="Group 37" id="37"/>
            <p:cNvGrpSpPr/>
            <p:nvPr/>
          </p:nvGrpSpPr>
          <p:grpSpPr>
            <a:xfrm rot="0">
              <a:off x="0" y="0"/>
              <a:ext cx="11003457" cy="1582393"/>
              <a:chOff x="0" y="0"/>
              <a:chExt cx="2173522" cy="312572"/>
            </a:xfrm>
          </p:grpSpPr>
          <p:sp>
            <p:nvSpPr>
              <p:cNvPr name="Freeform 38" id="38"/>
              <p:cNvSpPr/>
              <p:nvPr/>
            </p:nvSpPr>
            <p:spPr>
              <a:xfrm flipH="false" flipV="false" rot="0">
                <a:off x="0" y="0"/>
                <a:ext cx="2173522" cy="312572"/>
              </a:xfrm>
              <a:custGeom>
                <a:avLst/>
                <a:gdLst/>
                <a:ahLst/>
                <a:cxnLst/>
                <a:rect r="r" b="b" t="t" l="l"/>
                <a:pathLst>
                  <a:path h="312572" w="2173522">
                    <a:moveTo>
                      <a:pt x="8443" y="0"/>
                    </a:moveTo>
                    <a:lnTo>
                      <a:pt x="2165079" y="0"/>
                    </a:lnTo>
                    <a:cubicBezTo>
                      <a:pt x="2169742" y="0"/>
                      <a:pt x="2173522" y="3780"/>
                      <a:pt x="2173522" y="8443"/>
                    </a:cubicBezTo>
                    <a:lnTo>
                      <a:pt x="2173522" y="304128"/>
                    </a:lnTo>
                    <a:cubicBezTo>
                      <a:pt x="2173522" y="308791"/>
                      <a:pt x="2169742" y="312572"/>
                      <a:pt x="2165079" y="312572"/>
                    </a:cubicBezTo>
                    <a:lnTo>
                      <a:pt x="8443" y="312572"/>
                    </a:lnTo>
                    <a:cubicBezTo>
                      <a:pt x="6204" y="312572"/>
                      <a:pt x="4056" y="311682"/>
                      <a:pt x="2473" y="310099"/>
                    </a:cubicBezTo>
                    <a:cubicBezTo>
                      <a:pt x="890" y="308515"/>
                      <a:pt x="0" y="306368"/>
                      <a:pt x="0" y="304128"/>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39" id="39"/>
              <p:cNvSpPr txBox="true"/>
              <p:nvPr/>
            </p:nvSpPr>
            <p:spPr>
              <a:xfrm>
                <a:off x="0" y="-47625"/>
                <a:ext cx="2173522" cy="360197"/>
              </a:xfrm>
              <a:prstGeom prst="rect">
                <a:avLst/>
              </a:prstGeom>
            </p:spPr>
            <p:txBody>
              <a:bodyPr anchor="ctr" rtlCol="false" tIns="50800" lIns="50800" bIns="50800" rIns="50800"/>
              <a:lstStyle/>
              <a:p>
                <a:pPr algn="ctr">
                  <a:lnSpc>
                    <a:spcPts val="3080"/>
                  </a:lnSpc>
                </a:pPr>
              </a:p>
            </p:txBody>
          </p:sp>
        </p:grpSp>
        <p:sp>
          <p:nvSpPr>
            <p:cNvPr name="Freeform 40" id="40"/>
            <p:cNvSpPr/>
            <p:nvPr/>
          </p:nvSpPr>
          <p:spPr>
            <a:xfrm flipH="false" flipV="false" rot="0">
              <a:off x="10246161" y="31975"/>
              <a:ext cx="409980" cy="759222"/>
            </a:xfrm>
            <a:custGeom>
              <a:avLst/>
              <a:gdLst/>
              <a:ahLst/>
              <a:cxnLst/>
              <a:rect r="r" b="b" t="t" l="l"/>
              <a:pathLst>
                <a:path h="759222" w="409980">
                  <a:moveTo>
                    <a:pt x="0" y="0"/>
                  </a:moveTo>
                  <a:lnTo>
                    <a:pt x="409980" y="0"/>
                  </a:lnTo>
                  <a:lnTo>
                    <a:pt x="409980" y="759222"/>
                  </a:lnTo>
                  <a:lnTo>
                    <a:pt x="0" y="7592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TextBox 41" id="41"/>
          <p:cNvSpPr txBox="true"/>
          <p:nvPr/>
        </p:nvSpPr>
        <p:spPr>
          <a:xfrm rot="0">
            <a:off x="9979162" y="3076334"/>
            <a:ext cx="7046788" cy="692150"/>
          </a:xfrm>
          <a:prstGeom prst="rect">
            <a:avLst/>
          </a:prstGeom>
        </p:spPr>
        <p:txBody>
          <a:bodyPr anchor="t" rtlCol="false" tIns="0" lIns="0" bIns="0" rIns="0">
            <a:spAutoFit/>
          </a:bodyPr>
          <a:lstStyle/>
          <a:p>
            <a:pPr algn="ctr">
              <a:lnSpc>
                <a:spcPts val="2799"/>
              </a:lnSpc>
            </a:pPr>
            <a:r>
              <a:rPr lang="en-US" sz="1999">
                <a:solidFill>
                  <a:srgbClr val="493323"/>
                </a:solidFill>
                <a:latin typeface="Open Sans 1"/>
                <a:ea typeface="Open Sans 1"/>
                <a:cs typeface="Open Sans 1"/>
                <a:sym typeface="Open Sans 1"/>
              </a:rPr>
              <a:t>Analizar requerimientos y diseñar soluciones informáticas acordes a una problemática real.</a:t>
            </a:r>
          </a:p>
        </p:txBody>
      </p:sp>
      <p:sp>
        <p:nvSpPr>
          <p:cNvPr name="TextBox 42" id="42"/>
          <p:cNvSpPr txBox="true"/>
          <p:nvPr/>
        </p:nvSpPr>
        <p:spPr>
          <a:xfrm rot="0">
            <a:off x="9979162" y="4467689"/>
            <a:ext cx="7046788" cy="692150"/>
          </a:xfrm>
          <a:prstGeom prst="rect">
            <a:avLst/>
          </a:prstGeom>
        </p:spPr>
        <p:txBody>
          <a:bodyPr anchor="t" rtlCol="false" tIns="0" lIns="0" bIns="0" rIns="0">
            <a:spAutoFit/>
          </a:bodyPr>
          <a:lstStyle/>
          <a:p>
            <a:pPr algn="ctr">
              <a:lnSpc>
                <a:spcPts val="2799"/>
              </a:lnSpc>
            </a:pPr>
            <a:r>
              <a:rPr lang="en-US" sz="1999">
                <a:solidFill>
                  <a:srgbClr val="493323"/>
                </a:solidFill>
                <a:latin typeface="Open Sans 1"/>
                <a:ea typeface="Open Sans 1"/>
                <a:cs typeface="Open Sans 1"/>
                <a:sym typeface="Open Sans 1"/>
              </a:rPr>
              <a:t>D</a:t>
            </a:r>
            <a:r>
              <a:rPr lang="en-US" sz="1999">
                <a:solidFill>
                  <a:srgbClr val="493323"/>
                </a:solidFill>
                <a:latin typeface="Open Sans 1"/>
                <a:ea typeface="Open Sans 1"/>
                <a:cs typeface="Open Sans 1"/>
                <a:sym typeface="Open Sans 1"/>
              </a:rPr>
              <a:t>iseñar y gestionar bases de datos para soportar procesos operacionales y analíticos.</a:t>
            </a:r>
          </a:p>
        </p:txBody>
      </p:sp>
      <p:sp>
        <p:nvSpPr>
          <p:cNvPr name="TextBox 43" id="43"/>
          <p:cNvSpPr txBox="true"/>
          <p:nvPr/>
        </p:nvSpPr>
        <p:spPr>
          <a:xfrm rot="0">
            <a:off x="9979162" y="5930437"/>
            <a:ext cx="7046788" cy="1044575"/>
          </a:xfrm>
          <a:prstGeom prst="rect">
            <a:avLst/>
          </a:prstGeom>
        </p:spPr>
        <p:txBody>
          <a:bodyPr anchor="t" rtlCol="false" tIns="0" lIns="0" bIns="0" rIns="0">
            <a:spAutoFit/>
          </a:bodyPr>
          <a:lstStyle/>
          <a:p>
            <a:pPr algn="ctr">
              <a:lnSpc>
                <a:spcPts val="2799"/>
              </a:lnSpc>
            </a:pPr>
            <a:r>
              <a:rPr lang="en-US" sz="1999">
                <a:solidFill>
                  <a:srgbClr val="493323"/>
                </a:solidFill>
                <a:latin typeface="Open Sans 1"/>
                <a:ea typeface="Open Sans 1"/>
                <a:cs typeface="Open Sans 1"/>
                <a:sym typeface="Open Sans 1"/>
              </a:rPr>
              <a:t>Des</a:t>
            </a:r>
            <a:r>
              <a:rPr lang="en-US" sz="1999">
                <a:solidFill>
                  <a:srgbClr val="493323"/>
                </a:solidFill>
                <a:latin typeface="Open Sans 1"/>
                <a:ea typeface="Open Sans 1"/>
                <a:cs typeface="Open Sans 1"/>
                <a:sym typeface="Open Sans 1"/>
              </a:rPr>
              <a:t>arrollar aplicaciones web integrando frontend, backend, APIs y persistencia de datos.</a:t>
            </a:r>
          </a:p>
          <a:p>
            <a:pPr algn="ctr">
              <a:lnSpc>
                <a:spcPts val="2799"/>
              </a:lnSpc>
            </a:pPr>
          </a:p>
        </p:txBody>
      </p:sp>
      <p:sp>
        <p:nvSpPr>
          <p:cNvPr name="TextBox 44" id="44"/>
          <p:cNvSpPr txBox="true"/>
          <p:nvPr/>
        </p:nvSpPr>
        <p:spPr>
          <a:xfrm rot="0">
            <a:off x="9979162" y="7393184"/>
            <a:ext cx="7046788" cy="1044575"/>
          </a:xfrm>
          <a:prstGeom prst="rect">
            <a:avLst/>
          </a:prstGeom>
        </p:spPr>
        <p:txBody>
          <a:bodyPr anchor="t" rtlCol="false" tIns="0" lIns="0" bIns="0" rIns="0">
            <a:spAutoFit/>
          </a:bodyPr>
          <a:lstStyle/>
          <a:p>
            <a:pPr algn="ctr">
              <a:lnSpc>
                <a:spcPts val="2799"/>
              </a:lnSpc>
            </a:pPr>
            <a:r>
              <a:rPr lang="en-US" sz="1999">
                <a:solidFill>
                  <a:srgbClr val="493323"/>
                </a:solidFill>
                <a:latin typeface="Open Sans 1"/>
                <a:ea typeface="Open Sans 1"/>
                <a:cs typeface="Open Sans 1"/>
                <a:sym typeface="Open Sans 1"/>
              </a:rPr>
              <a:t>Aplicar procesos de extracción, transformación y carga (ETL) para generar información estructurada.</a:t>
            </a:r>
          </a:p>
          <a:p>
            <a:pPr algn="ctr">
              <a:lnSpc>
                <a:spcPts val="2799"/>
              </a:lnSpc>
            </a:pPr>
          </a:p>
        </p:txBody>
      </p:sp>
      <p:sp>
        <p:nvSpPr>
          <p:cNvPr name="TextBox 45" id="45"/>
          <p:cNvSpPr txBox="true"/>
          <p:nvPr/>
        </p:nvSpPr>
        <p:spPr>
          <a:xfrm rot="0">
            <a:off x="9979162" y="8893175"/>
            <a:ext cx="7046788" cy="1044575"/>
          </a:xfrm>
          <a:prstGeom prst="rect">
            <a:avLst/>
          </a:prstGeom>
        </p:spPr>
        <p:txBody>
          <a:bodyPr anchor="t" rtlCol="false" tIns="0" lIns="0" bIns="0" rIns="0">
            <a:spAutoFit/>
          </a:bodyPr>
          <a:lstStyle/>
          <a:p>
            <a:pPr algn="ctr">
              <a:lnSpc>
                <a:spcPts val="2799"/>
              </a:lnSpc>
            </a:pPr>
            <a:r>
              <a:rPr lang="en-US" sz="1999">
                <a:solidFill>
                  <a:srgbClr val="493323"/>
                </a:solidFill>
                <a:latin typeface="Open Sans 1"/>
                <a:ea typeface="Open Sans 1"/>
                <a:cs typeface="Open Sans 1"/>
                <a:sym typeface="Open Sans 1"/>
              </a:rPr>
              <a:t>Aplicar control de versiones, pruebas, documentación, seguridad y trabajo colaborativo.</a:t>
            </a:r>
          </a:p>
          <a:p>
            <a:pPr algn="ctr">
              <a:lnSpc>
                <a:spcPts val="2799"/>
              </a:lnSpc>
            </a:pPr>
          </a:p>
        </p:txBody>
      </p:sp>
      <p:grpSp>
        <p:nvGrpSpPr>
          <p:cNvPr name="Group 46" id="46"/>
          <p:cNvGrpSpPr/>
          <p:nvPr/>
        </p:nvGrpSpPr>
        <p:grpSpPr>
          <a:xfrm rot="0">
            <a:off x="443732" y="5248215"/>
            <a:ext cx="8252593" cy="2060799"/>
            <a:chOff x="0" y="0"/>
            <a:chExt cx="2173522" cy="542762"/>
          </a:xfrm>
        </p:grpSpPr>
        <p:sp>
          <p:nvSpPr>
            <p:cNvPr name="Freeform 47" id="47"/>
            <p:cNvSpPr/>
            <p:nvPr/>
          </p:nvSpPr>
          <p:spPr>
            <a:xfrm flipH="false" flipV="false" rot="0">
              <a:off x="0" y="0"/>
              <a:ext cx="2173522" cy="542762"/>
            </a:xfrm>
            <a:custGeom>
              <a:avLst/>
              <a:gdLst/>
              <a:ahLst/>
              <a:cxnLst/>
              <a:rect r="r" b="b" t="t" l="l"/>
              <a:pathLst>
                <a:path h="542762" w="2173522">
                  <a:moveTo>
                    <a:pt x="8443" y="0"/>
                  </a:moveTo>
                  <a:lnTo>
                    <a:pt x="2165079" y="0"/>
                  </a:lnTo>
                  <a:cubicBezTo>
                    <a:pt x="2169742" y="0"/>
                    <a:pt x="2173522" y="3780"/>
                    <a:pt x="2173522" y="8443"/>
                  </a:cubicBezTo>
                  <a:lnTo>
                    <a:pt x="2173522" y="534319"/>
                  </a:lnTo>
                  <a:cubicBezTo>
                    <a:pt x="2173522" y="536558"/>
                    <a:pt x="2172633" y="538706"/>
                    <a:pt x="2171049" y="540289"/>
                  </a:cubicBezTo>
                  <a:cubicBezTo>
                    <a:pt x="2169466" y="541872"/>
                    <a:pt x="2167318" y="542762"/>
                    <a:pt x="2165079" y="542762"/>
                  </a:cubicBezTo>
                  <a:lnTo>
                    <a:pt x="8443" y="542762"/>
                  </a:lnTo>
                  <a:cubicBezTo>
                    <a:pt x="6204" y="542762"/>
                    <a:pt x="4056" y="541872"/>
                    <a:pt x="2473" y="540289"/>
                  </a:cubicBezTo>
                  <a:cubicBezTo>
                    <a:pt x="890" y="538706"/>
                    <a:pt x="0" y="536558"/>
                    <a:pt x="0" y="534319"/>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48" id="48"/>
            <p:cNvSpPr txBox="true"/>
            <p:nvPr/>
          </p:nvSpPr>
          <p:spPr>
            <a:xfrm>
              <a:off x="0" y="-47625"/>
              <a:ext cx="2173522" cy="590387"/>
            </a:xfrm>
            <a:prstGeom prst="rect">
              <a:avLst/>
            </a:prstGeom>
          </p:spPr>
          <p:txBody>
            <a:bodyPr anchor="ctr" rtlCol="false" tIns="50800" lIns="50800" bIns="50800" rIns="50800"/>
            <a:lstStyle/>
            <a:p>
              <a:pPr algn="ctr">
                <a:lnSpc>
                  <a:spcPts val="3080"/>
                </a:lnSpc>
              </a:pPr>
            </a:p>
          </p:txBody>
        </p:sp>
      </p:grpSp>
      <p:sp>
        <p:nvSpPr>
          <p:cNvPr name="Freeform 49" id="49"/>
          <p:cNvSpPr/>
          <p:nvPr/>
        </p:nvSpPr>
        <p:spPr>
          <a:xfrm flipH="false" flipV="false" rot="0">
            <a:off x="8128353" y="5272196"/>
            <a:ext cx="307485" cy="569416"/>
          </a:xfrm>
          <a:custGeom>
            <a:avLst/>
            <a:gdLst/>
            <a:ahLst/>
            <a:cxnLst/>
            <a:rect r="r" b="b" t="t" l="l"/>
            <a:pathLst>
              <a:path h="569416" w="307485">
                <a:moveTo>
                  <a:pt x="0" y="0"/>
                </a:moveTo>
                <a:lnTo>
                  <a:pt x="307485" y="0"/>
                </a:lnTo>
                <a:lnTo>
                  <a:pt x="307485" y="569416"/>
                </a:lnTo>
                <a:lnTo>
                  <a:pt x="0" y="5694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50" id="50"/>
          <p:cNvGrpSpPr/>
          <p:nvPr/>
        </p:nvGrpSpPr>
        <p:grpSpPr>
          <a:xfrm rot="0">
            <a:off x="481832" y="7848469"/>
            <a:ext cx="8252593" cy="2003228"/>
            <a:chOff x="0" y="0"/>
            <a:chExt cx="2173522" cy="527599"/>
          </a:xfrm>
        </p:grpSpPr>
        <p:sp>
          <p:nvSpPr>
            <p:cNvPr name="Freeform 51" id="51"/>
            <p:cNvSpPr/>
            <p:nvPr/>
          </p:nvSpPr>
          <p:spPr>
            <a:xfrm flipH="false" flipV="false" rot="0">
              <a:off x="0" y="0"/>
              <a:ext cx="2173522" cy="527599"/>
            </a:xfrm>
            <a:custGeom>
              <a:avLst/>
              <a:gdLst/>
              <a:ahLst/>
              <a:cxnLst/>
              <a:rect r="r" b="b" t="t" l="l"/>
              <a:pathLst>
                <a:path h="527599" w="2173522">
                  <a:moveTo>
                    <a:pt x="8443" y="0"/>
                  </a:moveTo>
                  <a:lnTo>
                    <a:pt x="2165079" y="0"/>
                  </a:lnTo>
                  <a:cubicBezTo>
                    <a:pt x="2169742" y="0"/>
                    <a:pt x="2173522" y="3780"/>
                    <a:pt x="2173522" y="8443"/>
                  </a:cubicBezTo>
                  <a:lnTo>
                    <a:pt x="2173522" y="519156"/>
                  </a:lnTo>
                  <a:cubicBezTo>
                    <a:pt x="2173522" y="521395"/>
                    <a:pt x="2172633" y="523543"/>
                    <a:pt x="2171049" y="525126"/>
                  </a:cubicBezTo>
                  <a:cubicBezTo>
                    <a:pt x="2169466" y="526710"/>
                    <a:pt x="2167318" y="527599"/>
                    <a:pt x="2165079" y="527599"/>
                  </a:cubicBezTo>
                  <a:lnTo>
                    <a:pt x="8443" y="527599"/>
                  </a:lnTo>
                  <a:cubicBezTo>
                    <a:pt x="3780" y="527599"/>
                    <a:pt x="0" y="523819"/>
                    <a:pt x="0" y="519156"/>
                  </a:cubicBezTo>
                  <a:lnTo>
                    <a:pt x="0" y="8443"/>
                  </a:lnTo>
                  <a:cubicBezTo>
                    <a:pt x="0" y="6204"/>
                    <a:pt x="890" y="4056"/>
                    <a:pt x="2473" y="2473"/>
                  </a:cubicBezTo>
                  <a:cubicBezTo>
                    <a:pt x="4056" y="890"/>
                    <a:pt x="6204" y="0"/>
                    <a:pt x="8443" y="0"/>
                  </a:cubicBezTo>
                  <a:close/>
                </a:path>
              </a:pathLst>
            </a:custGeom>
            <a:solidFill>
              <a:srgbClr val="FDFEFD"/>
            </a:solidFill>
          </p:spPr>
        </p:sp>
        <p:sp>
          <p:nvSpPr>
            <p:cNvPr name="TextBox 52" id="52"/>
            <p:cNvSpPr txBox="true"/>
            <p:nvPr/>
          </p:nvSpPr>
          <p:spPr>
            <a:xfrm>
              <a:off x="0" y="-47625"/>
              <a:ext cx="2173522" cy="575224"/>
            </a:xfrm>
            <a:prstGeom prst="rect">
              <a:avLst/>
            </a:prstGeom>
          </p:spPr>
          <p:txBody>
            <a:bodyPr anchor="ctr" rtlCol="false" tIns="50800" lIns="50800" bIns="50800" rIns="50800"/>
            <a:lstStyle/>
            <a:p>
              <a:pPr algn="ctr">
                <a:lnSpc>
                  <a:spcPts val="3080"/>
                </a:lnSpc>
              </a:pPr>
            </a:p>
          </p:txBody>
        </p:sp>
      </p:grpSp>
      <p:sp>
        <p:nvSpPr>
          <p:cNvPr name="Freeform 53" id="53"/>
          <p:cNvSpPr/>
          <p:nvPr/>
        </p:nvSpPr>
        <p:spPr>
          <a:xfrm flipH="false" flipV="false" rot="0">
            <a:off x="8166453" y="7872451"/>
            <a:ext cx="307485" cy="569416"/>
          </a:xfrm>
          <a:custGeom>
            <a:avLst/>
            <a:gdLst/>
            <a:ahLst/>
            <a:cxnLst/>
            <a:rect r="r" b="b" t="t" l="l"/>
            <a:pathLst>
              <a:path h="569416" w="307485">
                <a:moveTo>
                  <a:pt x="0" y="0"/>
                </a:moveTo>
                <a:lnTo>
                  <a:pt x="307485" y="0"/>
                </a:lnTo>
                <a:lnTo>
                  <a:pt x="307485" y="569416"/>
                </a:lnTo>
                <a:lnTo>
                  <a:pt x="0" y="5694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4" id="54"/>
          <p:cNvSpPr txBox="true"/>
          <p:nvPr/>
        </p:nvSpPr>
        <p:spPr>
          <a:xfrm rot="0">
            <a:off x="631470" y="3558523"/>
            <a:ext cx="7877118" cy="1031240"/>
          </a:xfrm>
          <a:prstGeom prst="rect">
            <a:avLst/>
          </a:prstGeom>
        </p:spPr>
        <p:txBody>
          <a:bodyPr anchor="t" rtlCol="false" tIns="0" lIns="0" bIns="0" rIns="0">
            <a:spAutoFit/>
          </a:bodyPr>
          <a:lstStyle/>
          <a:p>
            <a:pPr algn="just">
              <a:lnSpc>
                <a:spcPts val="2239"/>
              </a:lnSpc>
            </a:pPr>
            <a:r>
              <a:rPr lang="en-US" sz="1599">
                <a:solidFill>
                  <a:srgbClr val="493323"/>
                </a:solidFill>
                <a:latin typeface="Open Sans 1"/>
                <a:ea typeface="Open Sans 1"/>
                <a:cs typeface="Open Sans 1"/>
                <a:sym typeface="Open Sans 1"/>
              </a:rPr>
              <a:t>LibrI</a:t>
            </a:r>
            <a:r>
              <a:rPr lang="en-US" sz="1599">
                <a:solidFill>
                  <a:srgbClr val="493323"/>
                </a:solidFill>
                <a:latin typeface="Open Sans 1"/>
                <a:ea typeface="Open Sans 1"/>
                <a:cs typeface="Open Sans 1"/>
                <a:sym typeface="Open Sans 1"/>
              </a:rPr>
              <a:t>A integra desarrollo web, bases de datos, ingeniería de datos e IA en una sola solución, poniendo en práctica competencias que hoy demanda la industria del software: analítica de datos de usuario, arquitectura de aplicaciones e IA aplicada.</a:t>
            </a:r>
          </a:p>
          <a:p>
            <a:pPr algn="just">
              <a:lnSpc>
                <a:spcPts val="1680"/>
              </a:lnSpc>
            </a:pPr>
          </a:p>
        </p:txBody>
      </p:sp>
      <p:sp>
        <p:nvSpPr>
          <p:cNvPr name="TextBox 55" id="55"/>
          <p:cNvSpPr txBox="true"/>
          <p:nvPr/>
        </p:nvSpPr>
        <p:spPr>
          <a:xfrm rot="0">
            <a:off x="1022546" y="3019184"/>
            <a:ext cx="7046788" cy="422276"/>
          </a:xfrm>
          <a:prstGeom prst="rect">
            <a:avLst/>
          </a:prstGeom>
        </p:spPr>
        <p:txBody>
          <a:bodyPr anchor="t" rtlCol="false" tIns="0" lIns="0" bIns="0" rIns="0">
            <a:spAutoFit/>
          </a:bodyPr>
          <a:lstStyle/>
          <a:p>
            <a:pPr algn="ctr">
              <a:lnSpc>
                <a:spcPts val="3499"/>
              </a:lnSpc>
            </a:pPr>
            <a:r>
              <a:rPr lang="en-US" sz="2499" b="true">
                <a:solidFill>
                  <a:srgbClr val="493323"/>
                </a:solidFill>
                <a:latin typeface="Open Sans 1 Bold"/>
                <a:ea typeface="Open Sans 1 Bold"/>
                <a:cs typeface="Open Sans 1 Bold"/>
                <a:sym typeface="Open Sans 1 Bold"/>
              </a:rPr>
              <a:t>Relevancia para el campo laboral</a:t>
            </a:r>
          </a:p>
        </p:txBody>
      </p:sp>
      <p:sp>
        <p:nvSpPr>
          <p:cNvPr name="TextBox 56" id="56"/>
          <p:cNvSpPr txBox="true"/>
          <p:nvPr/>
        </p:nvSpPr>
        <p:spPr>
          <a:xfrm rot="0">
            <a:off x="631470" y="6216723"/>
            <a:ext cx="7877118" cy="816610"/>
          </a:xfrm>
          <a:prstGeom prst="rect">
            <a:avLst/>
          </a:prstGeom>
        </p:spPr>
        <p:txBody>
          <a:bodyPr anchor="t" rtlCol="false" tIns="0" lIns="0" bIns="0" rIns="0">
            <a:spAutoFit/>
          </a:bodyPr>
          <a:lstStyle/>
          <a:p>
            <a:pPr algn="just">
              <a:lnSpc>
                <a:spcPts val="2239"/>
              </a:lnSpc>
            </a:pPr>
            <a:r>
              <a:rPr lang="en-US" sz="1599">
                <a:solidFill>
                  <a:srgbClr val="493323"/>
                </a:solidFill>
                <a:latin typeface="Open Sans 1"/>
                <a:ea typeface="Open Sans 1"/>
                <a:cs typeface="Open Sans 1"/>
                <a:sym typeface="Open Sans 1"/>
              </a:rPr>
              <a:t>E</a:t>
            </a:r>
            <a:r>
              <a:rPr lang="en-US" sz="1599">
                <a:solidFill>
                  <a:srgbClr val="493323"/>
                </a:solidFill>
                <a:latin typeface="Open Sans 1"/>
                <a:ea typeface="Open Sans 1"/>
                <a:cs typeface="Open Sans 1"/>
                <a:sym typeface="Open Sans 1"/>
              </a:rPr>
              <a:t>l proyecto recorre el ciclo completo de una solución informática: análisis y diseño, desarrollo, integración, procesamiento de datos y validación (ver detalle de competencias más adelante).</a:t>
            </a:r>
          </a:p>
        </p:txBody>
      </p:sp>
      <p:sp>
        <p:nvSpPr>
          <p:cNvPr name="TextBox 57" id="57"/>
          <p:cNvSpPr txBox="true"/>
          <p:nvPr/>
        </p:nvSpPr>
        <p:spPr>
          <a:xfrm rot="0">
            <a:off x="1022546" y="5453037"/>
            <a:ext cx="7046788" cy="422276"/>
          </a:xfrm>
          <a:prstGeom prst="rect">
            <a:avLst/>
          </a:prstGeom>
        </p:spPr>
        <p:txBody>
          <a:bodyPr anchor="t" rtlCol="false" tIns="0" lIns="0" bIns="0" rIns="0">
            <a:spAutoFit/>
          </a:bodyPr>
          <a:lstStyle/>
          <a:p>
            <a:pPr algn="ctr">
              <a:lnSpc>
                <a:spcPts val="3499"/>
              </a:lnSpc>
            </a:pPr>
            <a:r>
              <a:rPr lang="en-US" sz="2499" b="true">
                <a:solidFill>
                  <a:srgbClr val="493323"/>
                </a:solidFill>
                <a:latin typeface="Open Sans 1 Bold"/>
                <a:ea typeface="Open Sans 1 Bold"/>
                <a:cs typeface="Open Sans 1 Bold"/>
                <a:sym typeface="Open Sans 1 Bold"/>
              </a:rPr>
              <a:t>Pertenencia con el perfil de egreso</a:t>
            </a:r>
          </a:p>
        </p:txBody>
      </p:sp>
      <p:sp>
        <p:nvSpPr>
          <p:cNvPr name="TextBox 58" id="58"/>
          <p:cNvSpPr txBox="true"/>
          <p:nvPr/>
        </p:nvSpPr>
        <p:spPr>
          <a:xfrm rot="0">
            <a:off x="669570" y="8740317"/>
            <a:ext cx="7877118" cy="1092835"/>
          </a:xfrm>
          <a:prstGeom prst="rect">
            <a:avLst/>
          </a:prstGeom>
        </p:spPr>
        <p:txBody>
          <a:bodyPr anchor="t" rtlCol="false" tIns="0" lIns="0" bIns="0" rIns="0">
            <a:spAutoFit/>
          </a:bodyPr>
          <a:lstStyle/>
          <a:p>
            <a:pPr algn="just">
              <a:lnSpc>
                <a:spcPts val="2239"/>
              </a:lnSpc>
            </a:pPr>
            <a:r>
              <a:rPr lang="en-US" sz="1599">
                <a:solidFill>
                  <a:srgbClr val="493323"/>
                </a:solidFill>
                <a:latin typeface="Open Sans 1"/>
                <a:ea typeface="Open Sans 1"/>
                <a:cs typeface="Open Sans 1"/>
                <a:sym typeface="Open Sans 1"/>
              </a:rPr>
              <a:t>El equipo busca explorar cómo u</a:t>
            </a:r>
            <a:r>
              <a:rPr lang="en-US" sz="1599">
                <a:solidFill>
                  <a:srgbClr val="493323"/>
                </a:solidFill>
                <a:latin typeface="Open Sans 1"/>
                <a:ea typeface="Open Sans 1"/>
                <a:cs typeface="Open Sans 1"/>
                <a:sym typeface="Open Sans 1"/>
              </a:rPr>
              <a:t>na aplicación evoluciona del simple almacenamiento de datos hacia la generación de conocimiento, combinando programación, arquitectura de software e inteligencia artificial aplicada.</a:t>
            </a:r>
          </a:p>
          <a:p>
            <a:pPr algn="just">
              <a:lnSpc>
                <a:spcPts val="2239"/>
              </a:lnSpc>
            </a:pPr>
          </a:p>
        </p:txBody>
      </p:sp>
      <p:sp>
        <p:nvSpPr>
          <p:cNvPr name="TextBox 59" id="59"/>
          <p:cNvSpPr txBox="true"/>
          <p:nvPr/>
        </p:nvSpPr>
        <p:spPr>
          <a:xfrm rot="0">
            <a:off x="1177285" y="8050245"/>
            <a:ext cx="7046788" cy="422276"/>
          </a:xfrm>
          <a:prstGeom prst="rect">
            <a:avLst/>
          </a:prstGeom>
        </p:spPr>
        <p:txBody>
          <a:bodyPr anchor="t" rtlCol="false" tIns="0" lIns="0" bIns="0" rIns="0">
            <a:spAutoFit/>
          </a:bodyPr>
          <a:lstStyle/>
          <a:p>
            <a:pPr algn="ctr">
              <a:lnSpc>
                <a:spcPts val="3499"/>
              </a:lnSpc>
            </a:pPr>
            <a:r>
              <a:rPr lang="en-US" sz="2499" b="true">
                <a:solidFill>
                  <a:srgbClr val="493323"/>
                </a:solidFill>
                <a:latin typeface="Open Sans 1 Bold"/>
                <a:ea typeface="Open Sans 1 Bold"/>
                <a:cs typeface="Open Sans 1 Bold"/>
                <a:sym typeface="Open Sans 1 Bold"/>
              </a:rPr>
              <a:t>Intereses profesionales del equipo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C1F2E"/>
        </a:solidFill>
      </p:bgPr>
    </p:bg>
    <p:spTree>
      <p:nvGrpSpPr>
        <p:cNvPr id="1" name=""/>
        <p:cNvGrpSpPr/>
        <p:nvPr/>
      </p:nvGrpSpPr>
      <p:grpSpPr>
        <a:xfrm>
          <a:off x="0" y="0"/>
          <a:ext cx="0" cy="0"/>
          <a:chOff x="0" y="0"/>
          <a:chExt cx="0" cy="0"/>
        </a:xfrm>
      </p:grpSpPr>
      <p:grpSp>
        <p:nvGrpSpPr>
          <p:cNvPr name="Group 2" id="2"/>
          <p:cNvGrpSpPr/>
          <p:nvPr/>
        </p:nvGrpSpPr>
        <p:grpSpPr>
          <a:xfrm rot="0">
            <a:off x="-824669" y="-622962"/>
            <a:ext cx="4040332" cy="4040332"/>
            <a:chOff x="0" y="0"/>
            <a:chExt cx="5387110" cy="5387110"/>
          </a:xfrm>
        </p:grpSpPr>
        <p:grpSp>
          <p:nvGrpSpPr>
            <p:cNvPr name="Group 3" id="3"/>
            <p:cNvGrpSpPr/>
            <p:nvPr/>
          </p:nvGrpSpPr>
          <p:grpSpPr>
            <a:xfrm rot="0">
              <a:off x="0" y="0"/>
              <a:ext cx="5387110" cy="538711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5E3C"/>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647733" y="1487401"/>
              <a:ext cx="2412307" cy="2412307"/>
            </a:xfrm>
            <a:custGeom>
              <a:avLst/>
              <a:gdLst/>
              <a:ahLst/>
              <a:cxnLst/>
              <a:rect r="r" b="b" t="t" l="l"/>
              <a:pathLst>
                <a:path h="2412307" w="2412307">
                  <a:moveTo>
                    <a:pt x="0" y="0"/>
                  </a:moveTo>
                  <a:lnTo>
                    <a:pt x="2412307" y="0"/>
                  </a:lnTo>
                  <a:lnTo>
                    <a:pt x="2412307" y="2412308"/>
                  </a:lnTo>
                  <a:lnTo>
                    <a:pt x="0" y="2412308"/>
                  </a:lnTo>
                  <a:lnTo>
                    <a:pt x="0" y="0"/>
                  </a:lnTo>
                  <a:close/>
                </a:path>
              </a:pathLst>
            </a:custGeom>
            <a:blipFill>
              <a:blip r:embed="rId2">
                <a:alphaModFix amt="13000"/>
              </a:blip>
              <a:stretch>
                <a:fillRect l="0" t="0" r="0" b="0"/>
              </a:stretch>
            </a:blipFill>
          </p:spPr>
        </p:sp>
      </p:grpSp>
      <p:sp>
        <p:nvSpPr>
          <p:cNvPr name="TextBox 7" id="7"/>
          <p:cNvSpPr txBox="true"/>
          <p:nvPr/>
        </p:nvSpPr>
        <p:spPr>
          <a:xfrm rot="0">
            <a:off x="1369767" y="4268981"/>
            <a:ext cx="15206556" cy="3714750"/>
          </a:xfrm>
          <a:prstGeom prst="rect">
            <a:avLst/>
          </a:prstGeom>
        </p:spPr>
        <p:txBody>
          <a:bodyPr anchor="t" rtlCol="false" tIns="0" lIns="0" bIns="0" rIns="0">
            <a:spAutoFit/>
          </a:bodyPr>
          <a:lstStyle/>
          <a:p>
            <a:pPr algn="just">
              <a:lnSpc>
                <a:spcPts val="4200"/>
              </a:lnSpc>
            </a:pPr>
            <a:r>
              <a:rPr lang="en-US" b="true" sz="3000" i="true">
                <a:solidFill>
                  <a:srgbClr val="EFE9D7"/>
                </a:solidFill>
                <a:latin typeface="Open Sans 1 Bold Italics"/>
                <a:ea typeface="Open Sans 1 Bold Italics"/>
                <a:cs typeface="Open Sans 1 Bold Italics"/>
                <a:sym typeface="Open Sans 1 Bold Italics"/>
              </a:rPr>
              <a:t>LibrIA propone un MVP factible y acotado que integra desarrollo web, ingeniería de datos e inteligencia artificial para transformar experiencias de lectura en interpretaciones significativas, sin diagnosticar a sus usuarios. El proyecto recorre el ciclo completo de una solución informática — desde el análisis hasta la validación— cumpliendo con las competencias del perfil de egreso y con los indicadores de calidad definidos para esta fase.</a:t>
            </a:r>
          </a:p>
          <a:p>
            <a:pPr algn="just">
              <a:lnSpc>
                <a:spcPts val="4200"/>
              </a:lnSpc>
            </a:pPr>
          </a:p>
        </p:txBody>
      </p:sp>
      <p:sp>
        <p:nvSpPr>
          <p:cNvPr name="AutoShape 8" id="8"/>
          <p:cNvSpPr/>
          <p:nvPr/>
        </p:nvSpPr>
        <p:spPr>
          <a:xfrm>
            <a:off x="2513776" y="8555231"/>
            <a:ext cx="12918538" cy="0"/>
          </a:xfrm>
          <a:prstGeom prst="line">
            <a:avLst/>
          </a:prstGeom>
          <a:ln cap="flat" w="38100">
            <a:solidFill>
              <a:srgbClr val="FFFFFF">
                <a:alpha val="21961"/>
              </a:srgbClr>
            </a:solidFill>
            <a:prstDash val="solid"/>
            <a:headEnd type="none" len="sm" w="sm"/>
            <a:tailEnd type="none" len="sm" w="sm"/>
          </a:ln>
        </p:spPr>
      </p:sp>
      <p:sp>
        <p:nvSpPr>
          <p:cNvPr name="TextBox 9" id="9"/>
          <p:cNvSpPr txBox="true"/>
          <p:nvPr/>
        </p:nvSpPr>
        <p:spPr>
          <a:xfrm rot="0">
            <a:off x="1517381" y="2471307"/>
            <a:ext cx="4883348" cy="1302374"/>
          </a:xfrm>
          <a:prstGeom prst="rect">
            <a:avLst/>
          </a:prstGeom>
        </p:spPr>
        <p:txBody>
          <a:bodyPr anchor="t" rtlCol="false" tIns="0" lIns="0" bIns="0" rIns="0">
            <a:spAutoFit/>
          </a:bodyPr>
          <a:lstStyle/>
          <a:p>
            <a:pPr algn="ctr">
              <a:lnSpc>
                <a:spcPts val="10640"/>
              </a:lnSpc>
            </a:pPr>
            <a:r>
              <a:rPr lang="en-US" sz="7600" b="true">
                <a:solidFill>
                  <a:srgbClr val="FFFFFF"/>
                </a:solidFill>
                <a:latin typeface="Cambria Bold"/>
                <a:ea typeface="Cambria Bold"/>
                <a:cs typeface="Cambria Bold"/>
                <a:sym typeface="Cambria Bold"/>
              </a:rPr>
              <a:t>Conclusión</a:t>
            </a:r>
          </a:p>
        </p:txBody>
      </p:sp>
      <p:sp>
        <p:nvSpPr>
          <p:cNvPr name="TextBox 10" id="10"/>
          <p:cNvSpPr txBox="true"/>
          <p:nvPr/>
        </p:nvSpPr>
        <p:spPr>
          <a:xfrm rot="0">
            <a:off x="3587101" y="9039058"/>
            <a:ext cx="11482834" cy="1393825"/>
          </a:xfrm>
          <a:prstGeom prst="rect">
            <a:avLst/>
          </a:prstGeom>
        </p:spPr>
        <p:txBody>
          <a:bodyPr anchor="t" rtlCol="false" tIns="0" lIns="0" bIns="0" rIns="0">
            <a:spAutoFit/>
          </a:bodyPr>
          <a:lstStyle/>
          <a:p>
            <a:pPr algn="ctr">
              <a:lnSpc>
                <a:spcPts val="5599"/>
              </a:lnSpc>
            </a:pPr>
            <a:r>
              <a:rPr lang="en-US" b="true" sz="3999" i="true">
                <a:solidFill>
                  <a:srgbClr val="FFFFFF"/>
                </a:solidFill>
                <a:latin typeface="Cambria Bold Italics"/>
                <a:ea typeface="Cambria Bold Italics"/>
                <a:cs typeface="Cambria Bold Italics"/>
                <a:sym typeface="Cambria Bold Italics"/>
              </a:rPr>
              <a:t>D</a:t>
            </a:r>
            <a:r>
              <a:rPr lang="en-US" b="true" sz="3999" i="true">
                <a:solidFill>
                  <a:srgbClr val="FFFFFF"/>
                </a:solidFill>
                <a:latin typeface="Cambria Bold Italics"/>
                <a:ea typeface="Cambria Bold Italics"/>
                <a:cs typeface="Cambria Bold Italics"/>
                <a:sym typeface="Cambria Bold Italics"/>
              </a:rPr>
              <a:t>e datos de lectura a </a:t>
            </a:r>
            <a:r>
              <a:rPr lang="en-US" b="true" sz="3999" i="true">
                <a:gradFill>
                  <a:gsLst>
                    <a:gs pos="0">
                      <a:srgbClr val="F1D796">
                        <a:alpha val="100000"/>
                      </a:srgbClr>
                    </a:gs>
                    <a:gs pos="100000">
                      <a:srgbClr val="CAA76D">
                        <a:alpha val="100000"/>
                      </a:srgbClr>
                    </a:gs>
                  </a:gsLst>
                  <a:lin ang="0"/>
                </a:gradFill>
                <a:latin typeface="Cambria Bold Italics"/>
                <a:ea typeface="Cambria Bold Italics"/>
                <a:cs typeface="Cambria Bold Italics"/>
                <a:sym typeface="Cambria Bold Italics"/>
              </a:rPr>
              <a:t>interpretaciones con sentido.</a:t>
            </a:r>
          </a:p>
          <a:p>
            <a:pPr algn="ctr">
              <a:lnSpc>
                <a:spcPts val="559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DAHTsc3OCuI</dc:identifier>
  <dcterms:modified xsi:type="dcterms:W3CDTF">2011-08-01T06:04:30Z</dcterms:modified>
  <cp:revision>1</cp:revision>
  <dc:title>LibrIA</dc:title>
</cp:coreProperties>
</file>